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13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 Yuan" userId="2d1c792c-e54e-4152-b1f1-c00c48b05f13" providerId="ADAL" clId="{B67D63E0-1594-4C53-8548-5BF2EB65B851}"/>
    <pc:docChg chg="undo custSel addSld delSld modSld">
      <pc:chgData name="Ying Yuan" userId="2d1c792c-e54e-4152-b1f1-c00c48b05f13" providerId="ADAL" clId="{B67D63E0-1594-4C53-8548-5BF2EB65B851}" dt="2026-10-05T22:01:59.609" v="273" actId="1038"/>
      <pc:docMkLst>
        <pc:docMk/>
      </pc:docMkLst>
      <pc:sldChg chg="modSp mod modNotesTx">
        <pc:chgData name="Ying Yuan" userId="2d1c792c-e54e-4152-b1f1-c00c48b05f13" providerId="ADAL" clId="{B67D63E0-1594-4C53-8548-5BF2EB65B851}" dt="2026-10-05T21:29:32.273" v="74" actId="14100"/>
        <pc:sldMkLst>
          <pc:docMk/>
          <pc:sldMk cId="0" sldId="256"/>
        </pc:sldMkLst>
        <pc:spChg chg="mod">
          <ac:chgData name="Ying Yuan" userId="2d1c792c-e54e-4152-b1f1-c00c48b05f13" providerId="ADAL" clId="{B67D63E0-1594-4C53-8548-5BF2EB65B851}" dt="2026-10-05T21:29:32.273" v="74" actId="14100"/>
          <ac:spMkLst>
            <pc:docMk/>
            <pc:sldMk cId="0" sldId="256"/>
            <ac:spMk id="9" creationId="{00000000-0000-0000-0000-000000000000}"/>
          </ac:spMkLst>
        </pc:spChg>
      </pc:sldChg>
      <pc:sldChg chg="modSp mod modNotesTx">
        <pc:chgData name="Ying Yuan" userId="2d1c792c-e54e-4152-b1f1-c00c48b05f13" providerId="ADAL" clId="{B67D63E0-1594-4C53-8548-5BF2EB65B851}" dt="2026-10-05T21:34:47.479" v="76" actId="403"/>
        <pc:sldMkLst>
          <pc:docMk/>
          <pc:sldMk cId="0" sldId="257"/>
        </pc:sldMkLst>
        <pc:spChg chg="mod">
          <ac:chgData name="Ying Yuan" userId="2d1c792c-e54e-4152-b1f1-c00c48b05f13" providerId="ADAL" clId="{B67D63E0-1594-4C53-8548-5BF2EB65B851}" dt="2026-10-04T07:05:11.955" v="0"/>
          <ac:spMkLst>
            <pc:docMk/>
            <pc:sldMk cId="0" sldId="257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34:47.479" v="76" actId="403"/>
          <ac:spMkLst>
            <pc:docMk/>
            <pc:sldMk cId="0" sldId="257"/>
            <ac:spMk id="10" creationId="{00000000-0000-0000-0000-000000000000}"/>
          </ac:spMkLst>
        </pc:spChg>
      </pc:sldChg>
      <pc:sldChg chg="del">
        <pc:chgData name="Ying Yuan" userId="2d1c792c-e54e-4152-b1f1-c00c48b05f13" providerId="ADAL" clId="{B67D63E0-1594-4C53-8548-5BF2EB65B851}" dt="2026-10-04T07:07:32.222" v="15" actId="47"/>
        <pc:sldMkLst>
          <pc:docMk/>
          <pc:sldMk cId="0" sldId="258"/>
        </pc:sldMkLst>
      </pc:sldChg>
      <pc:sldChg chg="modSp mod modNotesTx">
        <pc:chgData name="Ying Yuan" userId="2d1c792c-e54e-4152-b1f1-c00c48b05f13" providerId="ADAL" clId="{B67D63E0-1594-4C53-8548-5BF2EB65B851}" dt="2026-10-05T21:47:48.407" v="192" actId="14100"/>
        <pc:sldMkLst>
          <pc:docMk/>
          <pc:sldMk cId="0" sldId="259"/>
        </pc:sldMkLst>
        <pc:spChg chg="mod">
          <ac:chgData name="Ying Yuan" userId="2d1c792c-e54e-4152-b1f1-c00c48b05f13" providerId="ADAL" clId="{B67D63E0-1594-4C53-8548-5BF2EB65B851}" dt="2026-10-05T21:46:56.107" v="181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47:35.995" v="188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47:24.541" v="185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47:48.407" v="192" actId="14100"/>
          <ac:spMkLst>
            <pc:docMk/>
            <pc:sldMk cId="0" sldId="259"/>
            <ac:spMk id="150" creationId="{00000000-0000-0000-0000-000000000000}"/>
          </ac:spMkLst>
        </pc:spChg>
      </pc:sldChg>
      <pc:sldChg chg="modSp mod modNotesTx">
        <pc:chgData name="Ying Yuan" userId="2d1c792c-e54e-4152-b1f1-c00c48b05f13" providerId="ADAL" clId="{B67D63E0-1594-4C53-8548-5BF2EB65B851}" dt="2026-10-05T21:48:52.852" v="193"/>
        <pc:sldMkLst>
          <pc:docMk/>
          <pc:sldMk cId="0" sldId="260"/>
        </pc:sldMkLst>
        <pc:spChg chg="mod">
          <ac:chgData name="Ying Yuan" userId="2d1c792c-e54e-4152-b1f1-c00c48b05f13" providerId="ADAL" clId="{B67D63E0-1594-4C53-8548-5BF2EB65B851}" dt="2026-10-05T21:47:05.690" v="182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48:52.852" v="193"/>
          <ac:spMkLst>
            <pc:docMk/>
            <pc:sldMk cId="0" sldId="260"/>
            <ac:spMk id="76" creationId="{00000000-0000-0000-0000-000000000000}"/>
          </ac:spMkLst>
        </pc:spChg>
      </pc:sldChg>
      <pc:sldChg chg="modSp mod modNotesTx">
        <pc:chgData name="Ying Yuan" userId="2d1c792c-e54e-4152-b1f1-c00c48b05f13" providerId="ADAL" clId="{B67D63E0-1594-4C53-8548-5BF2EB65B851}" dt="2026-10-05T21:59:59.016" v="248" actId="1038"/>
        <pc:sldMkLst>
          <pc:docMk/>
          <pc:sldMk cId="0" sldId="261"/>
        </pc:sldMkLst>
        <pc:spChg chg="mod">
          <ac:chgData name="Ying Yuan" userId="2d1c792c-e54e-4152-b1f1-c00c48b05f13" providerId="ADAL" clId="{B67D63E0-1594-4C53-8548-5BF2EB65B851}" dt="2026-10-05T21:59:36.135" v="235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9:59.016" v="248" actId="1038"/>
          <ac:spMkLst>
            <pc:docMk/>
            <pc:sldMk cId="0" sldId="261"/>
            <ac:spMk id="15" creationId="{00000000-0000-0000-0000-000000000000}"/>
          </ac:spMkLst>
        </pc:spChg>
      </pc:sldChg>
      <pc:sldChg chg="modSp mod modNotesTx">
        <pc:chgData name="Ying Yuan" userId="2d1c792c-e54e-4152-b1f1-c00c48b05f13" providerId="ADAL" clId="{B67D63E0-1594-4C53-8548-5BF2EB65B851}" dt="2026-10-05T22:01:59.609" v="273" actId="1038"/>
        <pc:sldMkLst>
          <pc:docMk/>
          <pc:sldMk cId="0" sldId="262"/>
        </pc:sldMkLst>
        <pc:spChg chg="mod">
          <ac:chgData name="Ying Yuan" userId="2d1c792c-e54e-4152-b1f1-c00c48b05f13" providerId="ADAL" clId="{B67D63E0-1594-4C53-8548-5BF2EB65B851}" dt="2026-10-05T22:00:29.182" v="249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2:01:59.609" v="273" actId="1038"/>
          <ac:spMkLst>
            <pc:docMk/>
            <pc:sldMk cId="0" sldId="262"/>
            <ac:spMk id="120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2:01:59.609" v="273" actId="1038"/>
          <ac:spMkLst>
            <pc:docMk/>
            <pc:sldMk cId="0" sldId="262"/>
            <ac:spMk id="121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2:01:59.609" v="273" actId="1038"/>
          <ac:spMkLst>
            <pc:docMk/>
            <pc:sldMk cId="0" sldId="262"/>
            <ac:spMk id="122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2:01:47.742" v="256" actId="1076"/>
          <ac:spMkLst>
            <pc:docMk/>
            <pc:sldMk cId="0" sldId="262"/>
            <ac:spMk id="123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2:00:44.601" v="250"/>
          <ac:spMkLst>
            <pc:docMk/>
            <pc:sldMk cId="0" sldId="262"/>
            <ac:spMk id="124" creationId="{00000000-0000-0000-0000-000000000000}"/>
          </ac:spMkLst>
        </pc:spChg>
      </pc:sldChg>
      <pc:sldChg chg="modSp del mod modNotesTx">
        <pc:chgData name="Ying Yuan" userId="2d1c792c-e54e-4152-b1f1-c00c48b05f13" providerId="ADAL" clId="{B67D63E0-1594-4C53-8548-5BF2EB65B851}" dt="2026-10-05T21:59:05.116" v="230" actId="47"/>
        <pc:sldMkLst>
          <pc:docMk/>
          <pc:sldMk cId="0" sldId="263"/>
        </pc:sldMkLst>
        <pc:spChg chg="mod">
          <ac:chgData name="Ying Yuan" userId="2d1c792c-e54e-4152-b1f1-c00c48b05f13" providerId="ADAL" clId="{B67D63E0-1594-4C53-8548-5BF2EB65B851}" dt="2026-10-05T21:56:31.524" v="229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2:42.152" v="202" actId="20577"/>
          <ac:spMkLst>
            <pc:docMk/>
            <pc:sldMk cId="0" sldId="263"/>
            <ac:spMk id="127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2:26.215" v="201"/>
          <ac:spMkLst>
            <pc:docMk/>
            <pc:sldMk cId="0" sldId="263"/>
            <ac:spMk id="128" creationId="{00000000-0000-0000-0000-000000000000}"/>
          </ac:spMkLst>
        </pc:spChg>
      </pc:sldChg>
      <pc:sldChg chg="modSp mod modNotesTx">
        <pc:chgData name="Ying Yuan" userId="2d1c792c-e54e-4152-b1f1-c00c48b05f13" providerId="ADAL" clId="{B67D63E0-1594-4C53-8548-5BF2EB65B851}" dt="2026-10-05T21:53:20.571" v="209"/>
        <pc:sldMkLst>
          <pc:docMk/>
          <pc:sldMk cId="0" sldId="264"/>
        </pc:sldMkLst>
        <pc:spChg chg="mod">
          <ac:chgData name="Ying Yuan" userId="2d1c792c-e54e-4152-b1f1-c00c48b05f13" providerId="ADAL" clId="{B67D63E0-1594-4C53-8548-5BF2EB65B851}" dt="2026-10-05T21:53:04.918" v="206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3:20.571" v="209"/>
          <ac:spMkLst>
            <pc:docMk/>
            <pc:sldMk cId="0" sldId="264"/>
            <ac:spMk id="40" creationId="{00000000-0000-0000-0000-000000000000}"/>
          </ac:spMkLst>
        </pc:spChg>
      </pc:sldChg>
      <pc:sldChg chg="modSp mod modNotesTx">
        <pc:chgData name="Ying Yuan" userId="2d1c792c-e54e-4152-b1f1-c00c48b05f13" providerId="ADAL" clId="{B67D63E0-1594-4C53-8548-5BF2EB65B851}" dt="2026-10-05T21:56:22.201" v="228"/>
        <pc:sldMkLst>
          <pc:docMk/>
          <pc:sldMk cId="0" sldId="265"/>
        </pc:sldMkLst>
        <pc:spChg chg="mod">
          <ac:chgData name="Ying Yuan" userId="2d1c792c-e54e-4152-b1f1-c00c48b05f13" providerId="ADAL" clId="{B67D63E0-1594-4C53-8548-5BF2EB65B851}" dt="2026-10-05T21:56:13.169" v="225"/>
          <ac:spMkLst>
            <pc:docMk/>
            <pc:sldMk cId="0" sldId="265"/>
            <ac:spMk id="7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6:22.201" v="228"/>
          <ac:spMkLst>
            <pc:docMk/>
            <pc:sldMk cId="0" sldId="265"/>
            <ac:spMk id="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4:29.836" v="219"/>
          <ac:spMkLst>
            <pc:docMk/>
            <pc:sldMk cId="0" sldId="265"/>
            <ac:spMk id="19" creationId="{00000000-0000-0000-0000-000000000000}"/>
          </ac:spMkLst>
        </pc:spChg>
        <pc:spChg chg="mod">
          <ac:chgData name="Ying Yuan" userId="2d1c792c-e54e-4152-b1f1-c00c48b05f13" providerId="ADAL" clId="{B67D63E0-1594-4C53-8548-5BF2EB65B851}" dt="2026-10-05T21:54:42.229" v="222"/>
          <ac:spMkLst>
            <pc:docMk/>
            <pc:sldMk cId="0" sldId="265"/>
            <ac:spMk id="23" creationId="{00000000-0000-0000-0000-000000000000}"/>
          </ac:spMkLst>
        </pc:spChg>
      </pc:sldChg>
      <pc:sldChg chg="modNotesTx">
        <pc:chgData name="Ying Yuan" userId="2d1c792c-e54e-4152-b1f1-c00c48b05f13" providerId="ADAL" clId="{B67D63E0-1594-4C53-8548-5BF2EB65B851}" dt="2026-10-04T07:14:55.401" v="64" actId="20577"/>
        <pc:sldMkLst>
          <pc:docMk/>
          <pc:sldMk cId="0" sldId="266"/>
        </pc:sldMkLst>
      </pc:sldChg>
      <pc:sldChg chg="add del setBg">
        <pc:chgData name="Ying Yuan" userId="2d1c792c-e54e-4152-b1f1-c00c48b05f13" providerId="ADAL" clId="{B67D63E0-1594-4C53-8548-5BF2EB65B851}" dt="2026-10-04T07:07:28.544" v="14" actId="47"/>
        <pc:sldMkLst>
          <pc:docMk/>
          <pc:sldMk cId="0" sldId="267"/>
        </pc:sldMkLst>
      </pc:sldChg>
      <pc:sldChg chg="addSp delSp modSp add del mod setBg">
        <pc:chgData name="Ying Yuan" userId="2d1c792c-e54e-4152-b1f1-c00c48b05f13" providerId="ADAL" clId="{B67D63E0-1594-4C53-8548-5BF2EB65B851}" dt="2026-10-04T07:13:37.772" v="60" actId="47"/>
        <pc:sldMkLst>
          <pc:docMk/>
          <pc:sldMk cId="3411924603" sldId="268"/>
        </pc:sldMkLst>
        <pc:spChg chg="mod">
          <ac:chgData name="Ying Yuan" userId="2d1c792c-e54e-4152-b1f1-c00c48b05f13" providerId="ADAL" clId="{B67D63E0-1594-4C53-8548-5BF2EB65B851}" dt="2026-10-04T07:06:56.851" v="11" actId="1076"/>
          <ac:spMkLst>
            <pc:docMk/>
            <pc:sldMk cId="3411924603" sldId="268"/>
            <ac:spMk id="9" creationId="{4DB2D7EB-179B-EE8A-1194-571C7A066546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14" creationId="{72E3BB54-B5FB-EE4D-8959-1226BD5A9A46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17" creationId="{83349269-948F-E064-CB0E-87F9D99511FA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21" creationId="{24E69A83-633D-72D0-2C25-6D8CBC2F3AD5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25" creationId="{D4563E9E-A15D-86D5-05A6-8BD473C88F30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26" creationId="{F7B62E78-D0C1-9EF2-3F2E-AFB4D527A893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31" creationId="{44990DDE-4CAD-DA15-D8F3-E7D106430A30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42" creationId="{73E13B89-3B70-B65C-1A12-877A5135F60F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46" creationId="{5AB510AA-CE08-75B1-CE87-58119FAD2C40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50" creationId="{A797ED0E-5785-1EE4-E1C6-CED046FD0593}"/>
          </ac:spMkLst>
        </pc:spChg>
        <pc:spChg chg="del">
          <ac:chgData name="Ying Yuan" userId="2d1c792c-e54e-4152-b1f1-c00c48b05f13" providerId="ADAL" clId="{B67D63E0-1594-4C53-8548-5BF2EB65B851}" dt="2026-10-04T07:06:12.616" v="3" actId="478"/>
          <ac:spMkLst>
            <pc:docMk/>
            <pc:sldMk cId="3411924603" sldId="268"/>
            <ac:spMk id="52" creationId="{AFCE13E5-E85C-EAA5-668E-772C731D988D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70" creationId="{C418805C-6FCD-5B44-7C4A-F85A141FC891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96" creationId="{29A4D9D0-5249-B54E-4B8C-0B05AF0E618C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98" creationId="{8D8769EA-6EB6-29DF-1E2E-B16B6A98738A}"/>
          </ac:spMkLst>
        </pc:spChg>
        <pc:spChg chg="add mod">
          <ac:chgData name="Ying Yuan" userId="2d1c792c-e54e-4152-b1f1-c00c48b05f13" providerId="ADAL" clId="{B67D63E0-1594-4C53-8548-5BF2EB65B851}" dt="2026-10-04T07:06:38.544" v="7" actId="14100"/>
          <ac:spMkLst>
            <pc:docMk/>
            <pc:sldMk cId="3411924603" sldId="268"/>
            <ac:spMk id="100" creationId="{03B9EC68-A534-230A-8054-B1795D3CF400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102" creationId="{FFF11D96-A069-3B02-BD96-2662BCFBB4D5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106" creationId="{858FAB40-25D0-4E81-6CC7-2A05714CE1C9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108" creationId="{D5E0F09C-3CFA-CA9D-53C5-DA1F4F49C367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110" creationId="{C0A67421-EE98-10D8-DD19-B3880A7A7E08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112" creationId="{B4C08B95-E156-43A9-6205-DCA4136F7DDA}"/>
          </ac:spMkLst>
        </pc:spChg>
        <pc:spChg chg="add mod">
          <ac:chgData name="Ying Yuan" userId="2d1c792c-e54e-4152-b1f1-c00c48b05f13" providerId="ADAL" clId="{B67D63E0-1594-4C53-8548-5BF2EB65B851}" dt="2026-10-04T07:06:31.141" v="6" actId="403"/>
          <ac:spMkLst>
            <pc:docMk/>
            <pc:sldMk cId="3411924603" sldId="268"/>
            <ac:spMk id="114" creationId="{EF72A67F-8B82-E0A4-C7CF-B8B557F4A616}"/>
          </ac:spMkLst>
        </pc:spChg>
        <pc:spChg chg="add mod">
          <ac:chgData name="Ying Yuan" userId="2d1c792c-e54e-4152-b1f1-c00c48b05f13" providerId="ADAL" clId="{B67D63E0-1594-4C53-8548-5BF2EB65B851}" dt="2026-10-04T07:11:41.425" v="45" actId="108"/>
          <ac:spMkLst>
            <pc:docMk/>
            <pc:sldMk cId="3411924603" sldId="268"/>
            <ac:spMk id="116" creationId="{A394938F-A873-2603-BFCD-D3EC637E7397}"/>
          </ac:spMkLst>
        </pc:spChg>
      </pc:sldChg>
      <pc:sldChg chg="addSp delSp modSp add mod modNotesTx">
        <pc:chgData name="Ying Yuan" userId="2d1c792c-e54e-4152-b1f1-c00c48b05f13" providerId="ADAL" clId="{B67D63E0-1594-4C53-8548-5BF2EB65B851}" dt="2026-10-05T21:46:47.083" v="180" actId="14100"/>
        <pc:sldMkLst>
          <pc:docMk/>
          <pc:sldMk cId="260473905" sldId="269"/>
        </pc:sldMkLst>
        <pc:spChg chg="del">
          <ac:chgData name="Ying Yuan" userId="2d1c792c-e54e-4152-b1f1-c00c48b05f13" providerId="ADAL" clId="{B67D63E0-1594-4C53-8548-5BF2EB65B851}" dt="2026-10-04T07:12:44.685" v="55" actId="478"/>
          <ac:spMkLst>
            <pc:docMk/>
            <pc:sldMk cId="260473905" sldId="269"/>
            <ac:spMk id="7" creationId="{96FF6F85-D0B9-5844-F4AD-31D84B7809E4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20" creationId="{A0431ED5-549A-5DCD-5362-565BD76280E9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33" creationId="{374ED812-5958-0387-48DD-76FAEA0C0612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49" creationId="{9E1869C4-CFB9-D108-A87C-750726A03E63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63" creationId="{86C19323-179D-F0F2-F453-E3D5C2242DDB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76" creationId="{A17A3CA5-75E5-505E-5175-31DFBB0FC5FB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83" creationId="{0B3F2B78-5391-EE2A-F59C-98E08C4597B3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84" creationId="{A5006D5A-9ECC-9685-76FE-44E96AEAABEB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90" creationId="{27D62503-BA3B-6E76-8A41-0907B045C099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93" creationId="{BFF84D6A-207E-578C-89D1-E2EB87D933FF}"/>
          </ac:spMkLst>
        </pc:spChg>
        <pc:spChg chg="del">
          <ac:chgData name="Ying Yuan" userId="2d1c792c-e54e-4152-b1f1-c00c48b05f13" providerId="ADAL" clId="{B67D63E0-1594-4C53-8548-5BF2EB65B851}" dt="2026-10-04T07:12:29.375" v="53" actId="478"/>
          <ac:spMkLst>
            <pc:docMk/>
            <pc:sldMk cId="260473905" sldId="269"/>
            <ac:spMk id="99" creationId="{DB7CF28F-0960-FFFB-5D3A-12CAA0BE652C}"/>
          </ac:spMkLst>
        </pc:spChg>
        <pc:spChg chg="add mod">
          <ac:chgData name="Ying Yuan" userId="2d1c792c-e54e-4152-b1f1-c00c48b05f13" providerId="ADAL" clId="{B67D63E0-1594-4C53-8548-5BF2EB65B851}" dt="2026-10-05T21:44:33.065" v="172" actId="1076"/>
          <ac:spMkLst>
            <pc:docMk/>
            <pc:sldMk cId="260473905" sldId="269"/>
            <ac:spMk id="140" creationId="{71FC0FB6-F4D3-E591-3B49-4BC1A6CF265B}"/>
          </ac:spMkLst>
        </pc:spChg>
        <pc:spChg chg="add">
          <ac:chgData name="Ying Yuan" userId="2d1c792c-e54e-4152-b1f1-c00c48b05f13" providerId="ADAL" clId="{B67D63E0-1594-4C53-8548-5BF2EB65B851}" dt="2026-10-04T07:12:30.821" v="54" actId="22"/>
          <ac:spMkLst>
            <pc:docMk/>
            <pc:sldMk cId="260473905" sldId="269"/>
            <ac:spMk id="142" creationId="{6D74B2A5-D8D1-AB4A-AB44-137B50126E74}"/>
          </ac:spMkLst>
        </pc:spChg>
        <pc:spChg chg="add mod">
          <ac:chgData name="Ying Yuan" userId="2d1c792c-e54e-4152-b1f1-c00c48b05f13" providerId="ADAL" clId="{B67D63E0-1594-4C53-8548-5BF2EB65B851}" dt="2026-10-05T21:42:34.820" v="118" actId="403"/>
          <ac:spMkLst>
            <pc:docMk/>
            <pc:sldMk cId="260473905" sldId="269"/>
            <ac:spMk id="146" creationId="{1788801E-C718-926B-7314-A9FD909F3554}"/>
          </ac:spMkLst>
        </pc:spChg>
        <pc:spChg chg="add mod">
          <ac:chgData name="Ying Yuan" userId="2d1c792c-e54e-4152-b1f1-c00c48b05f13" providerId="ADAL" clId="{B67D63E0-1594-4C53-8548-5BF2EB65B851}" dt="2026-10-05T21:43:43.200" v="148" actId="12789"/>
          <ac:spMkLst>
            <pc:docMk/>
            <pc:sldMk cId="260473905" sldId="269"/>
            <ac:spMk id="168" creationId="{53B350FE-F6D4-2D96-317F-3122EC240BF7}"/>
          </ac:spMkLst>
        </pc:spChg>
        <pc:spChg chg="mod">
          <ac:chgData name="Ying Yuan" userId="2d1c792c-e54e-4152-b1f1-c00c48b05f13" providerId="ADAL" clId="{B67D63E0-1594-4C53-8548-5BF2EB65B851}" dt="2026-10-05T21:43:54.424" v="162" actId="1036"/>
          <ac:spMkLst>
            <pc:docMk/>
            <pc:sldMk cId="260473905" sldId="269"/>
            <ac:spMk id="170" creationId="{71992194-B342-E3D7-BCE9-FC7DBA7BE32B}"/>
          </ac:spMkLst>
        </pc:spChg>
        <pc:spChg chg="mod">
          <ac:chgData name="Ying Yuan" userId="2d1c792c-e54e-4152-b1f1-c00c48b05f13" providerId="ADAL" clId="{B67D63E0-1594-4C53-8548-5BF2EB65B851}" dt="2026-10-05T21:42:34.820" v="118" actId="403"/>
          <ac:spMkLst>
            <pc:docMk/>
            <pc:sldMk cId="260473905" sldId="269"/>
            <ac:spMk id="172" creationId="{04A8E46A-C74E-F8BC-044F-32755C87A503}"/>
          </ac:spMkLst>
        </pc:spChg>
        <pc:spChg chg="mod">
          <ac:chgData name="Ying Yuan" userId="2d1c792c-e54e-4152-b1f1-c00c48b05f13" providerId="ADAL" clId="{B67D63E0-1594-4C53-8548-5BF2EB65B851}" dt="2026-10-05T21:43:43.200" v="148" actId="12789"/>
          <ac:spMkLst>
            <pc:docMk/>
            <pc:sldMk cId="260473905" sldId="269"/>
            <ac:spMk id="174" creationId="{EAC4A5F2-96E3-204A-962A-E402EF6D0432}"/>
          </ac:spMkLst>
        </pc:spChg>
        <pc:spChg chg="add mod">
          <ac:chgData name="Ying Yuan" userId="2d1c792c-e54e-4152-b1f1-c00c48b05f13" providerId="ADAL" clId="{B67D63E0-1594-4C53-8548-5BF2EB65B851}" dt="2026-10-05T21:43:54.424" v="162" actId="1036"/>
          <ac:spMkLst>
            <pc:docMk/>
            <pc:sldMk cId="260473905" sldId="269"/>
            <ac:spMk id="176" creationId="{6DDBE264-C518-7D91-78F6-F3216FE01742}"/>
          </ac:spMkLst>
        </pc:spChg>
        <pc:spChg chg="add">
          <ac:chgData name="Ying Yuan" userId="2d1c792c-e54e-4152-b1f1-c00c48b05f13" providerId="ADAL" clId="{B67D63E0-1594-4C53-8548-5BF2EB65B851}" dt="2026-10-04T07:12:30.821" v="54" actId="22"/>
          <ac:spMkLst>
            <pc:docMk/>
            <pc:sldMk cId="260473905" sldId="269"/>
            <ac:spMk id="178" creationId="{BC996E88-D5F6-CD5E-71D3-DA700C65E52A}"/>
          </ac:spMkLst>
        </pc:spChg>
        <pc:spChg chg="add mod">
          <ac:chgData name="Ying Yuan" userId="2d1c792c-e54e-4152-b1f1-c00c48b05f13" providerId="ADAL" clId="{B67D63E0-1594-4C53-8548-5BF2EB65B851}" dt="2026-10-05T21:43:43.200" v="148" actId="12789"/>
          <ac:spMkLst>
            <pc:docMk/>
            <pc:sldMk cId="260473905" sldId="269"/>
            <ac:spMk id="180" creationId="{9B1352E1-2327-DCBA-EC41-F6E08A9B56E7}"/>
          </ac:spMkLst>
        </pc:spChg>
        <pc:spChg chg="mod">
          <ac:chgData name="Ying Yuan" userId="2d1c792c-e54e-4152-b1f1-c00c48b05f13" providerId="ADAL" clId="{B67D63E0-1594-4C53-8548-5BF2EB65B851}" dt="2026-10-05T21:43:54.424" v="162" actId="1036"/>
          <ac:spMkLst>
            <pc:docMk/>
            <pc:sldMk cId="260473905" sldId="269"/>
            <ac:spMk id="182" creationId="{A92E3765-93F2-D910-DD46-07CFA2502E2F}"/>
          </ac:spMkLst>
        </pc:spChg>
        <pc:spChg chg="add mod">
          <ac:chgData name="Ying Yuan" userId="2d1c792c-e54e-4152-b1f1-c00c48b05f13" providerId="ADAL" clId="{B67D63E0-1594-4C53-8548-5BF2EB65B851}" dt="2026-10-05T21:42:55.833" v="132" actId="1038"/>
          <ac:spMkLst>
            <pc:docMk/>
            <pc:sldMk cId="260473905" sldId="269"/>
            <ac:spMk id="184" creationId="{F54D472D-B070-35DB-8652-2F05C70389D6}"/>
          </ac:spMkLst>
        </pc:spChg>
        <pc:spChg chg="add mod">
          <ac:chgData name="Ying Yuan" userId="2d1c792c-e54e-4152-b1f1-c00c48b05f13" providerId="ADAL" clId="{B67D63E0-1594-4C53-8548-5BF2EB65B851}" dt="2026-10-05T21:42:55.833" v="132" actId="1038"/>
          <ac:spMkLst>
            <pc:docMk/>
            <pc:sldMk cId="260473905" sldId="269"/>
            <ac:spMk id="186" creationId="{0F8C4451-0092-0A5A-5144-59C019FE556C}"/>
          </ac:spMkLst>
        </pc:spChg>
        <pc:spChg chg="add mod">
          <ac:chgData name="Ying Yuan" userId="2d1c792c-e54e-4152-b1f1-c00c48b05f13" providerId="ADAL" clId="{B67D63E0-1594-4C53-8548-5BF2EB65B851}" dt="2026-10-05T21:42:55.833" v="132" actId="1038"/>
          <ac:spMkLst>
            <pc:docMk/>
            <pc:sldMk cId="260473905" sldId="269"/>
            <ac:spMk id="188" creationId="{ACA7672B-DEEC-AA89-B922-BB52D8C52C3B}"/>
          </ac:spMkLst>
        </pc:spChg>
        <pc:spChg chg="add">
          <ac:chgData name="Ying Yuan" userId="2d1c792c-e54e-4152-b1f1-c00c48b05f13" providerId="ADAL" clId="{B67D63E0-1594-4C53-8548-5BF2EB65B851}" dt="2026-10-04T07:12:45.257" v="56" actId="22"/>
          <ac:spMkLst>
            <pc:docMk/>
            <pc:sldMk cId="260473905" sldId="269"/>
            <ac:spMk id="190" creationId="{CA77C37D-8497-5144-7CED-6FB3CF99F779}"/>
          </ac:spMkLst>
        </pc:spChg>
        <pc:spChg chg="add mod">
          <ac:chgData name="Ying Yuan" userId="2d1c792c-e54e-4152-b1f1-c00c48b05f13" providerId="ADAL" clId="{B67D63E0-1594-4C53-8548-5BF2EB65B851}" dt="2026-10-05T21:46:47.083" v="180" actId="14100"/>
          <ac:spMkLst>
            <pc:docMk/>
            <pc:sldMk cId="260473905" sldId="269"/>
            <ac:spMk id="192" creationId="{27221DB2-9FD7-6EEF-60F7-997216CDA05F}"/>
          </ac:spMkLst>
        </pc:spChg>
        <pc:picChg chg="mod">
          <ac:chgData name="Ying Yuan" userId="2d1c792c-e54e-4152-b1f1-c00c48b05f13" providerId="ADAL" clId="{B67D63E0-1594-4C53-8548-5BF2EB65B851}" dt="2026-10-05T21:42:55.833" v="132" actId="1038"/>
          <ac:picMkLst>
            <pc:docMk/>
            <pc:sldMk cId="260473905" sldId="269"/>
            <ac:picMk id="152" creationId="{5A08FB77-E33B-E103-C2EE-2EC5F852C77F}"/>
          </ac:picMkLst>
        </pc:picChg>
        <pc:picChg chg="mod">
          <ac:chgData name="Ying Yuan" userId="2d1c792c-e54e-4152-b1f1-c00c48b05f13" providerId="ADAL" clId="{B67D63E0-1594-4C53-8548-5BF2EB65B851}" dt="2026-10-05T21:42:55.833" v="132" actId="1038"/>
          <ac:picMkLst>
            <pc:docMk/>
            <pc:sldMk cId="260473905" sldId="269"/>
            <ac:picMk id="156" creationId="{3418569A-9AD4-D42B-A245-D091FDEF2FF9}"/>
          </ac:picMkLst>
        </pc:picChg>
        <pc:picChg chg="mod">
          <ac:chgData name="Ying Yuan" userId="2d1c792c-e54e-4152-b1f1-c00c48b05f13" providerId="ADAL" clId="{B67D63E0-1594-4C53-8548-5BF2EB65B851}" dt="2026-10-05T21:42:55.833" v="132" actId="1038"/>
          <ac:picMkLst>
            <pc:docMk/>
            <pc:sldMk cId="260473905" sldId="269"/>
            <ac:picMk id="160" creationId="{DA55C26B-180A-1F32-8314-6E0CD4BE75C1}"/>
          </ac:picMkLst>
        </pc:picChg>
        <pc:picChg chg="mod">
          <ac:chgData name="Ying Yuan" userId="2d1c792c-e54e-4152-b1f1-c00c48b05f13" providerId="ADAL" clId="{B67D63E0-1594-4C53-8548-5BF2EB65B851}" dt="2026-10-05T21:42:55.833" v="132" actId="1038"/>
          <ac:picMkLst>
            <pc:docMk/>
            <pc:sldMk cId="260473905" sldId="269"/>
            <ac:picMk id="162" creationId="{41E13B8F-791E-C782-08E3-7CB6D058BAE3}"/>
          </ac:picMkLst>
        </pc:picChg>
        <pc:picChg chg="mod">
          <ac:chgData name="Ying Yuan" userId="2d1c792c-e54e-4152-b1f1-c00c48b05f13" providerId="ADAL" clId="{B67D63E0-1594-4C53-8548-5BF2EB65B851}" dt="2026-10-05T21:42:55.833" v="132" actId="1038"/>
          <ac:picMkLst>
            <pc:docMk/>
            <pc:sldMk cId="260473905" sldId="269"/>
            <ac:picMk id="164" creationId="{B8659DF5-BCF2-8E34-B61A-9934545A2AC5}"/>
          </ac:picMkLst>
        </pc:picChg>
        <pc:picChg chg="mod">
          <ac:chgData name="Ying Yuan" userId="2d1c792c-e54e-4152-b1f1-c00c48b05f13" providerId="ADAL" clId="{B67D63E0-1594-4C53-8548-5BF2EB65B851}" dt="2026-10-05T21:42:55.833" v="132" actId="1038"/>
          <ac:picMkLst>
            <pc:docMk/>
            <pc:sldMk cId="260473905" sldId="269"/>
            <ac:picMk id="166" creationId="{563A47BB-9F70-E405-9D76-9A4D02AD73E7}"/>
          </ac:picMkLst>
        </pc:picChg>
      </pc:sldChg>
      <pc:sldChg chg="add del setBg">
        <pc:chgData name="Ying Yuan" userId="2d1c792c-e54e-4152-b1f1-c00c48b05f13" providerId="ADAL" clId="{B67D63E0-1594-4C53-8548-5BF2EB65B851}" dt="2026-10-04T07:11:56.970" v="47"/>
        <pc:sldMkLst>
          <pc:docMk/>
          <pc:sldMk cId="3056854759" sldId="269"/>
        </pc:sldMkLst>
      </pc:sldChg>
      <pc:sldChg chg="new del">
        <pc:chgData name="Ying Yuan" userId="2d1c792c-e54e-4152-b1f1-c00c48b05f13" providerId="ADAL" clId="{B67D63E0-1594-4C53-8548-5BF2EB65B851}" dt="2026-10-04T07:12:06.497" v="49" actId="47"/>
        <pc:sldMkLst>
          <pc:docMk/>
          <pc:sldMk cId="3164325273" sldId="269"/>
        </pc:sldMkLst>
      </pc:sldChg>
      <pc:sldChg chg="add del setBg">
        <pc:chgData name="Ying Yuan" userId="2d1c792c-e54e-4152-b1f1-c00c48b05f13" providerId="ADAL" clId="{B67D63E0-1594-4C53-8548-5BF2EB65B851}" dt="2026-10-04T07:12:11.905" v="51"/>
        <pc:sldMkLst>
          <pc:docMk/>
          <pc:sldMk cId="352032210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78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7A9B-6515-A76A-763D-228BD00A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5247B-9EBD-5CA5-DD4E-4154C3792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D17BE-7B83-6F5E-540A-48D91C704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929AC-05E6-5D3E-B7B8-2B745C98E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4478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DDEFA0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B0C5B6"/>
                </a:solidFill>
                <a:latin typeface="Inter"/>
              </a:rPr>
              <a:t>PROJECT CONCEPT / OCTOBER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315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spc="45">
                <a:solidFill>
                  <a:srgbClr val="B0C5B6"/>
                </a:solidFill>
                <a:latin typeface="Inter"/>
              </a:rPr>
              <a:t>ILLUSTRATIVE LANDSCAPE • NOT ENVIRONMENTAL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B0C5B6"/>
                </a:solidFill>
                <a:latin typeface="Inter"/>
              </a:rPr>
              <a:t>01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913" y="2193006"/>
            <a:ext cx="6064611" cy="1843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6000" b="1" dirty="0">
                <a:solidFill>
                  <a:srgbClr val="F4F8F5"/>
                </a:solidFill>
              </a:rPr>
              <a:t>Carbon Places Kit</a:t>
            </a:r>
            <a:endParaRPr lang="en-US" sz="6000" b="1" dirty="0">
              <a:solidFill>
                <a:srgbClr val="FFFFFF"/>
              </a:solidFill>
              <a:latin typeface="Inter Display"/>
            </a:endParaRPr>
          </a:p>
          <a:p>
            <a:r>
              <a:rPr sz="2900" b="1" dirty="0">
                <a:solidFill>
                  <a:srgbClr val="F4F8F5"/>
                </a:solidFill>
              </a:rPr>
              <a:t>Reusable infrastructure for place-based carbon and ecosystem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91456"/>
            <a:ext cx="59893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>
                <a:solidFill>
                  <a:srgbClr val="B0C5B6"/>
                </a:solidFill>
              </a:rPr>
              <a:t>Turning complex carbon-relevant geodata into understandable, reusable and traceable local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6309360"/>
            <a:ext cx="2743200" cy="265176"/>
          </a:xfrm>
          <a:prstGeom prst="roundRect">
            <a:avLst>
              <a:gd name="adj" fmla="val 14000"/>
            </a:avLst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274320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113B32"/>
                </a:solidFill>
              </a:rPr>
              <a:t>OPEN-SOURCE • CARBON-RELEVANT • AREA-FIRST</a:t>
            </a:r>
          </a:p>
        </p:txBody>
      </p:sp>
      <p:sp>
        <p:nvSpPr>
          <p:cNvPr id="13" name="Freeform 12"/>
          <p:cNvSpPr/>
          <p:nvPr/>
        </p:nvSpPr>
        <p:spPr>
          <a:xfrm>
            <a:off x="7799832" y="2212848"/>
            <a:ext cx="5724144" cy="3913632"/>
          </a:xfrm>
          <a:custGeom>
            <a:avLst/>
            <a:gdLst/>
            <a:ahLst/>
            <a:cxnLst/>
            <a:rect l="l" t="t" r="r" b="b"/>
            <a:pathLst>
              <a:path w="626" h="428">
                <a:moveTo>
                  <a:pt x="13" y="279"/>
                </a:moveTo>
                <a:lnTo>
                  <a:pt x="13" y="282"/>
                </a:lnTo>
                <a:lnTo>
                  <a:pt x="15" y="284"/>
                </a:lnTo>
                <a:lnTo>
                  <a:pt x="113" y="404"/>
                </a:lnTo>
                <a:lnTo>
                  <a:pt x="116" y="406"/>
                </a:lnTo>
                <a:lnTo>
                  <a:pt x="119" y="408"/>
                </a:lnTo>
                <a:lnTo>
                  <a:pt x="124" y="410"/>
                </a:lnTo>
                <a:lnTo>
                  <a:pt x="128" y="410"/>
                </a:lnTo>
                <a:lnTo>
                  <a:pt x="435" y="428"/>
                </a:lnTo>
                <a:lnTo>
                  <a:pt x="441" y="428"/>
                </a:lnTo>
                <a:lnTo>
                  <a:pt x="446" y="427"/>
                </a:lnTo>
                <a:lnTo>
                  <a:pt x="451" y="424"/>
                </a:lnTo>
                <a:lnTo>
                  <a:pt x="620" y="314"/>
                </a:lnTo>
                <a:lnTo>
                  <a:pt x="624" y="311"/>
                </a:lnTo>
                <a:lnTo>
                  <a:pt x="626" y="308"/>
                </a:lnTo>
                <a:lnTo>
                  <a:pt x="626" y="304"/>
                </a:lnTo>
                <a:lnTo>
                  <a:pt x="620" y="132"/>
                </a:lnTo>
                <a:lnTo>
                  <a:pt x="619" y="128"/>
                </a:lnTo>
                <a:lnTo>
                  <a:pt x="617" y="125"/>
                </a:lnTo>
                <a:lnTo>
                  <a:pt x="614" y="123"/>
                </a:lnTo>
                <a:lnTo>
                  <a:pt x="464" y="21"/>
                </a:lnTo>
                <a:lnTo>
                  <a:pt x="461" y="19"/>
                </a:lnTo>
                <a:lnTo>
                  <a:pt x="457" y="18"/>
                </a:lnTo>
                <a:lnTo>
                  <a:pt x="452" y="17"/>
                </a:lnTo>
                <a:lnTo>
                  <a:pt x="217" y="0"/>
                </a:lnTo>
                <a:lnTo>
                  <a:pt x="212" y="0"/>
                </a:lnTo>
                <a:lnTo>
                  <a:pt x="207" y="1"/>
                </a:lnTo>
                <a:lnTo>
                  <a:pt x="202" y="3"/>
                </a:lnTo>
                <a:lnTo>
                  <a:pt x="6" y="118"/>
                </a:lnTo>
                <a:lnTo>
                  <a:pt x="2" y="121"/>
                </a:lnTo>
                <a:lnTo>
                  <a:pt x="0" y="124"/>
                </a:lnTo>
                <a:lnTo>
                  <a:pt x="0" y="128"/>
                </a:lnTo>
                <a:lnTo>
                  <a:pt x="13" y="279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7616952" y="2084832"/>
            <a:ext cx="6089904" cy="4160520"/>
          </a:xfrm>
          <a:custGeom>
            <a:avLst/>
            <a:gdLst/>
            <a:ahLst/>
            <a:cxnLst/>
            <a:rect l="l" t="t" r="r" b="b"/>
            <a:pathLst>
              <a:path w="666" h="455">
                <a:moveTo>
                  <a:pt x="13" y="293"/>
                </a:moveTo>
                <a:lnTo>
                  <a:pt x="15" y="299"/>
                </a:lnTo>
                <a:lnTo>
                  <a:pt x="18" y="305"/>
                </a:lnTo>
                <a:lnTo>
                  <a:pt x="116" y="424"/>
                </a:lnTo>
                <a:lnTo>
                  <a:pt x="122" y="429"/>
                </a:lnTo>
                <a:lnTo>
                  <a:pt x="129" y="433"/>
                </a:lnTo>
                <a:lnTo>
                  <a:pt x="137" y="436"/>
                </a:lnTo>
                <a:lnTo>
                  <a:pt x="147" y="438"/>
                </a:lnTo>
                <a:lnTo>
                  <a:pt x="454" y="455"/>
                </a:lnTo>
                <a:lnTo>
                  <a:pt x="465" y="455"/>
                </a:lnTo>
                <a:lnTo>
                  <a:pt x="475" y="452"/>
                </a:lnTo>
                <a:lnTo>
                  <a:pt x="484" y="448"/>
                </a:lnTo>
                <a:lnTo>
                  <a:pt x="654" y="338"/>
                </a:lnTo>
                <a:lnTo>
                  <a:pt x="661" y="332"/>
                </a:lnTo>
                <a:lnTo>
                  <a:pt x="665" y="325"/>
                </a:lnTo>
                <a:lnTo>
                  <a:pt x="666" y="318"/>
                </a:lnTo>
                <a:lnTo>
                  <a:pt x="659" y="145"/>
                </a:lnTo>
                <a:lnTo>
                  <a:pt x="658" y="139"/>
                </a:lnTo>
                <a:lnTo>
                  <a:pt x="654" y="133"/>
                </a:lnTo>
                <a:lnTo>
                  <a:pt x="648" y="127"/>
                </a:lnTo>
                <a:lnTo>
                  <a:pt x="498" y="26"/>
                </a:lnTo>
                <a:lnTo>
                  <a:pt x="491" y="22"/>
                </a:lnTo>
                <a:lnTo>
                  <a:pt x="483" y="19"/>
                </a:lnTo>
                <a:lnTo>
                  <a:pt x="474" y="18"/>
                </a:lnTo>
                <a:lnTo>
                  <a:pt x="239" y="0"/>
                </a:lnTo>
                <a:lnTo>
                  <a:pt x="229" y="1"/>
                </a:lnTo>
                <a:lnTo>
                  <a:pt x="218" y="3"/>
                </a:lnTo>
                <a:lnTo>
                  <a:pt x="209" y="7"/>
                </a:lnTo>
                <a:lnTo>
                  <a:pt x="13" y="122"/>
                </a:lnTo>
                <a:lnTo>
                  <a:pt x="6" y="128"/>
                </a:lnTo>
                <a:lnTo>
                  <a:pt x="1" y="135"/>
                </a:lnTo>
                <a:lnTo>
                  <a:pt x="0" y="143"/>
                </a:lnTo>
                <a:lnTo>
                  <a:pt x="13" y="293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7434072" y="1965960"/>
            <a:ext cx="6455664" cy="4407408"/>
          </a:xfrm>
          <a:custGeom>
            <a:avLst/>
            <a:gdLst/>
            <a:ahLst/>
            <a:cxnLst/>
            <a:rect l="l" t="t" r="r" b="b"/>
            <a:pathLst>
              <a:path w="706" h="482">
                <a:moveTo>
                  <a:pt x="14" y="307"/>
                </a:moveTo>
                <a:lnTo>
                  <a:pt x="16" y="316"/>
                </a:lnTo>
                <a:lnTo>
                  <a:pt x="21" y="324"/>
                </a:lnTo>
                <a:lnTo>
                  <a:pt x="119" y="444"/>
                </a:lnTo>
                <a:lnTo>
                  <a:pt x="127" y="451"/>
                </a:lnTo>
                <a:lnTo>
                  <a:pt x="138" y="458"/>
                </a:lnTo>
                <a:lnTo>
                  <a:pt x="151" y="462"/>
                </a:lnTo>
                <a:lnTo>
                  <a:pt x="165" y="464"/>
                </a:lnTo>
                <a:lnTo>
                  <a:pt x="472" y="482"/>
                </a:lnTo>
                <a:lnTo>
                  <a:pt x="489" y="481"/>
                </a:lnTo>
                <a:lnTo>
                  <a:pt x="504" y="477"/>
                </a:lnTo>
                <a:lnTo>
                  <a:pt x="518" y="471"/>
                </a:lnTo>
                <a:lnTo>
                  <a:pt x="688" y="360"/>
                </a:lnTo>
                <a:lnTo>
                  <a:pt x="698" y="351"/>
                </a:lnTo>
                <a:lnTo>
                  <a:pt x="704" y="341"/>
                </a:lnTo>
                <a:lnTo>
                  <a:pt x="706" y="330"/>
                </a:lnTo>
                <a:lnTo>
                  <a:pt x="699" y="158"/>
                </a:lnTo>
                <a:lnTo>
                  <a:pt x="697" y="148"/>
                </a:lnTo>
                <a:lnTo>
                  <a:pt x="691" y="139"/>
                </a:lnTo>
                <a:lnTo>
                  <a:pt x="682" y="131"/>
                </a:lnTo>
                <a:lnTo>
                  <a:pt x="532" y="29"/>
                </a:lnTo>
                <a:lnTo>
                  <a:pt x="521" y="24"/>
                </a:lnTo>
                <a:lnTo>
                  <a:pt x="509" y="20"/>
                </a:lnTo>
                <a:lnTo>
                  <a:pt x="497" y="18"/>
                </a:lnTo>
                <a:lnTo>
                  <a:pt x="262" y="0"/>
                </a:lnTo>
                <a:lnTo>
                  <a:pt x="245" y="0"/>
                </a:lnTo>
                <a:lnTo>
                  <a:pt x="230" y="4"/>
                </a:lnTo>
                <a:lnTo>
                  <a:pt x="217" y="10"/>
                </a:lnTo>
                <a:lnTo>
                  <a:pt x="21" y="125"/>
                </a:lnTo>
                <a:lnTo>
                  <a:pt x="9" y="134"/>
                </a:lnTo>
                <a:lnTo>
                  <a:pt x="2" y="145"/>
                </a:lnTo>
                <a:lnTo>
                  <a:pt x="0" y="157"/>
                </a:lnTo>
                <a:lnTo>
                  <a:pt x="14" y="307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7260336" y="1847088"/>
            <a:ext cx="6803136" cy="4645152"/>
          </a:xfrm>
          <a:custGeom>
            <a:avLst/>
            <a:gdLst/>
            <a:ahLst/>
            <a:cxnLst/>
            <a:rect l="l" t="t" r="r" b="b"/>
            <a:pathLst>
              <a:path w="744" h="508">
                <a:moveTo>
                  <a:pt x="13" y="321"/>
                </a:moveTo>
                <a:lnTo>
                  <a:pt x="16" y="333"/>
                </a:lnTo>
                <a:lnTo>
                  <a:pt x="23" y="344"/>
                </a:lnTo>
                <a:lnTo>
                  <a:pt x="121" y="463"/>
                </a:lnTo>
                <a:lnTo>
                  <a:pt x="132" y="473"/>
                </a:lnTo>
                <a:lnTo>
                  <a:pt x="147" y="482"/>
                </a:lnTo>
                <a:lnTo>
                  <a:pt x="164" y="487"/>
                </a:lnTo>
                <a:lnTo>
                  <a:pt x="182" y="490"/>
                </a:lnTo>
                <a:lnTo>
                  <a:pt x="489" y="508"/>
                </a:lnTo>
                <a:lnTo>
                  <a:pt x="512" y="507"/>
                </a:lnTo>
                <a:lnTo>
                  <a:pt x="532" y="502"/>
                </a:lnTo>
                <a:lnTo>
                  <a:pt x="550" y="493"/>
                </a:lnTo>
                <a:lnTo>
                  <a:pt x="720" y="383"/>
                </a:lnTo>
                <a:lnTo>
                  <a:pt x="734" y="371"/>
                </a:lnTo>
                <a:lnTo>
                  <a:pt x="742" y="358"/>
                </a:lnTo>
                <a:lnTo>
                  <a:pt x="744" y="343"/>
                </a:lnTo>
                <a:lnTo>
                  <a:pt x="738" y="171"/>
                </a:lnTo>
                <a:lnTo>
                  <a:pt x="735" y="157"/>
                </a:lnTo>
                <a:lnTo>
                  <a:pt x="727" y="145"/>
                </a:lnTo>
                <a:lnTo>
                  <a:pt x="715" y="135"/>
                </a:lnTo>
                <a:lnTo>
                  <a:pt x="565" y="33"/>
                </a:lnTo>
                <a:lnTo>
                  <a:pt x="551" y="25"/>
                </a:lnTo>
                <a:lnTo>
                  <a:pt x="535" y="20"/>
                </a:lnTo>
                <a:lnTo>
                  <a:pt x="518" y="18"/>
                </a:lnTo>
                <a:lnTo>
                  <a:pt x="283" y="0"/>
                </a:lnTo>
                <a:lnTo>
                  <a:pt x="261" y="0"/>
                </a:lnTo>
                <a:lnTo>
                  <a:pt x="241" y="5"/>
                </a:lnTo>
                <a:lnTo>
                  <a:pt x="223" y="13"/>
                </a:lnTo>
                <a:lnTo>
                  <a:pt x="27" y="128"/>
                </a:lnTo>
                <a:lnTo>
                  <a:pt x="11" y="140"/>
                </a:lnTo>
                <a:lnTo>
                  <a:pt x="2" y="155"/>
                </a:lnTo>
                <a:lnTo>
                  <a:pt x="0" y="171"/>
                </a:lnTo>
                <a:lnTo>
                  <a:pt x="13" y="321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7077456" y="1728216"/>
            <a:ext cx="7168896" cy="4882896"/>
          </a:xfrm>
          <a:custGeom>
            <a:avLst/>
            <a:gdLst/>
            <a:ahLst/>
            <a:cxnLst/>
            <a:rect l="l" t="t" r="r" b="b"/>
            <a:pathLst>
              <a:path w="784" h="534">
                <a:moveTo>
                  <a:pt x="13" y="335"/>
                </a:moveTo>
                <a:lnTo>
                  <a:pt x="17" y="349"/>
                </a:lnTo>
                <a:lnTo>
                  <a:pt x="26" y="363"/>
                </a:lnTo>
                <a:lnTo>
                  <a:pt x="124" y="482"/>
                </a:lnTo>
                <a:lnTo>
                  <a:pt x="138" y="495"/>
                </a:lnTo>
                <a:lnTo>
                  <a:pt x="156" y="506"/>
                </a:lnTo>
                <a:lnTo>
                  <a:pt x="177" y="513"/>
                </a:lnTo>
                <a:lnTo>
                  <a:pt x="201" y="516"/>
                </a:lnTo>
                <a:lnTo>
                  <a:pt x="508" y="534"/>
                </a:lnTo>
                <a:lnTo>
                  <a:pt x="535" y="533"/>
                </a:lnTo>
                <a:lnTo>
                  <a:pt x="561" y="527"/>
                </a:lnTo>
                <a:lnTo>
                  <a:pt x="584" y="516"/>
                </a:lnTo>
                <a:lnTo>
                  <a:pt x="754" y="405"/>
                </a:lnTo>
                <a:lnTo>
                  <a:pt x="770" y="391"/>
                </a:lnTo>
                <a:lnTo>
                  <a:pt x="781" y="374"/>
                </a:lnTo>
                <a:lnTo>
                  <a:pt x="784" y="356"/>
                </a:lnTo>
                <a:lnTo>
                  <a:pt x="777" y="183"/>
                </a:lnTo>
                <a:lnTo>
                  <a:pt x="773" y="167"/>
                </a:lnTo>
                <a:lnTo>
                  <a:pt x="764" y="151"/>
                </a:lnTo>
                <a:lnTo>
                  <a:pt x="749" y="138"/>
                </a:lnTo>
                <a:lnTo>
                  <a:pt x="598" y="36"/>
                </a:lnTo>
                <a:lnTo>
                  <a:pt x="581" y="27"/>
                </a:lnTo>
                <a:lnTo>
                  <a:pt x="561" y="21"/>
                </a:lnTo>
                <a:lnTo>
                  <a:pt x="540" y="17"/>
                </a:lnTo>
                <a:lnTo>
                  <a:pt x="305" y="0"/>
                </a:lnTo>
                <a:lnTo>
                  <a:pt x="278" y="0"/>
                </a:lnTo>
                <a:lnTo>
                  <a:pt x="252" y="6"/>
                </a:lnTo>
                <a:lnTo>
                  <a:pt x="230" y="16"/>
                </a:lnTo>
                <a:lnTo>
                  <a:pt x="34" y="130"/>
                </a:lnTo>
                <a:lnTo>
                  <a:pt x="15" y="146"/>
                </a:lnTo>
                <a:lnTo>
                  <a:pt x="3" y="164"/>
                </a:lnTo>
                <a:lnTo>
                  <a:pt x="0" y="184"/>
                </a:lnTo>
                <a:lnTo>
                  <a:pt x="13" y="335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6903720" y="1609344"/>
            <a:ext cx="7516368" cy="5120640"/>
          </a:xfrm>
          <a:custGeom>
            <a:avLst/>
            <a:gdLst/>
            <a:ahLst/>
            <a:cxnLst/>
            <a:rect l="l" t="t" r="r" b="b"/>
            <a:pathLst>
              <a:path w="822" h="560">
                <a:moveTo>
                  <a:pt x="13" y="349"/>
                </a:moveTo>
                <a:lnTo>
                  <a:pt x="17" y="366"/>
                </a:lnTo>
                <a:lnTo>
                  <a:pt x="27" y="383"/>
                </a:lnTo>
                <a:lnTo>
                  <a:pt x="125" y="502"/>
                </a:lnTo>
                <a:lnTo>
                  <a:pt x="142" y="518"/>
                </a:lnTo>
                <a:lnTo>
                  <a:pt x="164" y="530"/>
                </a:lnTo>
                <a:lnTo>
                  <a:pt x="190" y="538"/>
                </a:lnTo>
                <a:lnTo>
                  <a:pt x="218" y="542"/>
                </a:lnTo>
                <a:lnTo>
                  <a:pt x="525" y="560"/>
                </a:lnTo>
                <a:lnTo>
                  <a:pt x="558" y="559"/>
                </a:lnTo>
                <a:lnTo>
                  <a:pt x="590" y="551"/>
                </a:lnTo>
                <a:lnTo>
                  <a:pt x="617" y="538"/>
                </a:lnTo>
                <a:lnTo>
                  <a:pt x="786" y="428"/>
                </a:lnTo>
                <a:lnTo>
                  <a:pt x="806" y="410"/>
                </a:lnTo>
                <a:lnTo>
                  <a:pt x="819" y="390"/>
                </a:lnTo>
                <a:lnTo>
                  <a:pt x="822" y="368"/>
                </a:lnTo>
                <a:lnTo>
                  <a:pt x="816" y="196"/>
                </a:lnTo>
                <a:lnTo>
                  <a:pt x="811" y="176"/>
                </a:lnTo>
                <a:lnTo>
                  <a:pt x="800" y="158"/>
                </a:lnTo>
                <a:lnTo>
                  <a:pt x="781" y="142"/>
                </a:lnTo>
                <a:lnTo>
                  <a:pt x="631" y="40"/>
                </a:lnTo>
                <a:lnTo>
                  <a:pt x="611" y="29"/>
                </a:lnTo>
                <a:lnTo>
                  <a:pt x="587" y="21"/>
                </a:lnTo>
                <a:lnTo>
                  <a:pt x="561" y="17"/>
                </a:lnTo>
                <a:lnTo>
                  <a:pt x="326" y="0"/>
                </a:lnTo>
                <a:lnTo>
                  <a:pt x="294" y="0"/>
                </a:lnTo>
                <a:lnTo>
                  <a:pt x="263" y="7"/>
                </a:lnTo>
                <a:lnTo>
                  <a:pt x="236" y="19"/>
                </a:lnTo>
                <a:lnTo>
                  <a:pt x="40" y="133"/>
                </a:lnTo>
                <a:lnTo>
                  <a:pt x="17" y="152"/>
                </a:lnTo>
                <a:lnTo>
                  <a:pt x="3" y="174"/>
                </a:lnTo>
                <a:lnTo>
                  <a:pt x="0" y="198"/>
                </a:lnTo>
                <a:lnTo>
                  <a:pt x="13" y="349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6720840" y="1481328"/>
            <a:ext cx="7882128" cy="5367528"/>
          </a:xfrm>
          <a:custGeom>
            <a:avLst/>
            <a:gdLst/>
            <a:ahLst/>
            <a:cxnLst/>
            <a:rect l="l" t="t" r="r" b="b"/>
            <a:pathLst>
              <a:path w="862" h="587">
                <a:moveTo>
                  <a:pt x="13" y="363"/>
                </a:moveTo>
                <a:lnTo>
                  <a:pt x="19" y="384"/>
                </a:lnTo>
                <a:lnTo>
                  <a:pt x="30" y="403"/>
                </a:lnTo>
                <a:lnTo>
                  <a:pt x="128" y="522"/>
                </a:lnTo>
                <a:lnTo>
                  <a:pt x="148" y="541"/>
                </a:lnTo>
                <a:lnTo>
                  <a:pt x="174" y="555"/>
                </a:lnTo>
                <a:lnTo>
                  <a:pt x="204" y="565"/>
                </a:lnTo>
                <a:lnTo>
                  <a:pt x="237" y="570"/>
                </a:lnTo>
                <a:lnTo>
                  <a:pt x="543" y="587"/>
                </a:lnTo>
                <a:lnTo>
                  <a:pt x="582" y="586"/>
                </a:lnTo>
                <a:lnTo>
                  <a:pt x="619" y="577"/>
                </a:lnTo>
                <a:lnTo>
                  <a:pt x="650" y="562"/>
                </a:lnTo>
                <a:lnTo>
                  <a:pt x="820" y="451"/>
                </a:lnTo>
                <a:lnTo>
                  <a:pt x="843" y="431"/>
                </a:lnTo>
                <a:lnTo>
                  <a:pt x="858" y="407"/>
                </a:lnTo>
                <a:lnTo>
                  <a:pt x="862" y="382"/>
                </a:lnTo>
                <a:lnTo>
                  <a:pt x="855" y="210"/>
                </a:lnTo>
                <a:lnTo>
                  <a:pt x="850" y="186"/>
                </a:lnTo>
                <a:lnTo>
                  <a:pt x="836" y="165"/>
                </a:lnTo>
                <a:lnTo>
                  <a:pt x="815" y="146"/>
                </a:lnTo>
                <a:lnTo>
                  <a:pt x="665" y="45"/>
                </a:lnTo>
                <a:lnTo>
                  <a:pt x="641" y="32"/>
                </a:lnTo>
                <a:lnTo>
                  <a:pt x="613" y="23"/>
                </a:lnTo>
                <a:lnTo>
                  <a:pt x="583" y="18"/>
                </a:lnTo>
                <a:lnTo>
                  <a:pt x="348" y="0"/>
                </a:lnTo>
                <a:lnTo>
                  <a:pt x="311" y="1"/>
                </a:lnTo>
                <a:lnTo>
                  <a:pt x="275" y="9"/>
                </a:lnTo>
                <a:lnTo>
                  <a:pt x="243" y="23"/>
                </a:lnTo>
                <a:lnTo>
                  <a:pt x="47" y="137"/>
                </a:lnTo>
                <a:lnTo>
                  <a:pt x="20" y="159"/>
                </a:lnTo>
                <a:lnTo>
                  <a:pt x="4" y="185"/>
                </a:lnTo>
                <a:lnTo>
                  <a:pt x="0" y="213"/>
                </a:lnTo>
                <a:lnTo>
                  <a:pt x="13" y="363"/>
                </a:lnTo>
                <a:close/>
              </a:path>
            </a:pathLst>
          </a:custGeom>
          <a:noFill/>
          <a:ln w="7315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7973568" y="2624328"/>
            <a:ext cx="5376672" cy="3675888"/>
          </a:xfrm>
          <a:custGeom>
            <a:avLst/>
            <a:gdLst/>
            <a:ahLst/>
            <a:cxnLst/>
            <a:rect l="l" t="t" r="r" b="b"/>
            <a:pathLst>
              <a:path w="588" h="402">
                <a:moveTo>
                  <a:pt x="13" y="265"/>
                </a:moveTo>
                <a:lnTo>
                  <a:pt x="111" y="384"/>
                </a:lnTo>
                <a:lnTo>
                  <a:pt x="418" y="402"/>
                </a:lnTo>
                <a:lnTo>
                  <a:pt x="588" y="291"/>
                </a:lnTo>
                <a:lnTo>
                  <a:pt x="581" y="119"/>
                </a:lnTo>
                <a:lnTo>
                  <a:pt x="431" y="17"/>
                </a:lnTo>
                <a:lnTo>
                  <a:pt x="196" y="0"/>
                </a:lnTo>
                <a:lnTo>
                  <a:pt x="0" y="115"/>
                </a:lnTo>
                <a:lnTo>
                  <a:pt x="13" y="265"/>
                </a:lnTo>
                <a:close/>
              </a:path>
            </a:pathLst>
          </a:custGeom>
          <a:solidFill>
            <a:srgbClr val="0B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7973568" y="2569464"/>
            <a:ext cx="5376672" cy="3675888"/>
          </a:xfrm>
          <a:custGeom>
            <a:avLst/>
            <a:gdLst/>
            <a:ahLst/>
            <a:cxnLst/>
            <a:rect l="l" t="t" r="r" b="b"/>
            <a:pathLst>
              <a:path w="588" h="402">
                <a:moveTo>
                  <a:pt x="13" y="265"/>
                </a:moveTo>
                <a:lnTo>
                  <a:pt x="111" y="384"/>
                </a:lnTo>
                <a:lnTo>
                  <a:pt x="418" y="402"/>
                </a:lnTo>
                <a:lnTo>
                  <a:pt x="588" y="291"/>
                </a:lnTo>
                <a:lnTo>
                  <a:pt x="581" y="119"/>
                </a:lnTo>
                <a:lnTo>
                  <a:pt x="431" y="17"/>
                </a:lnTo>
                <a:lnTo>
                  <a:pt x="196" y="0"/>
                </a:lnTo>
                <a:lnTo>
                  <a:pt x="0" y="115"/>
                </a:lnTo>
                <a:lnTo>
                  <a:pt x="13" y="265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7973568" y="2331720"/>
            <a:ext cx="5376672" cy="3675888"/>
          </a:xfrm>
          <a:custGeom>
            <a:avLst/>
            <a:gdLst/>
            <a:ahLst/>
            <a:cxnLst/>
            <a:rect l="l" t="t" r="r" b="b"/>
            <a:pathLst>
              <a:path w="588" h="402">
                <a:moveTo>
                  <a:pt x="13" y="265"/>
                </a:moveTo>
                <a:lnTo>
                  <a:pt x="111" y="384"/>
                </a:lnTo>
                <a:lnTo>
                  <a:pt x="418" y="402"/>
                </a:lnTo>
                <a:lnTo>
                  <a:pt x="588" y="291"/>
                </a:lnTo>
                <a:lnTo>
                  <a:pt x="581" y="119"/>
                </a:lnTo>
                <a:lnTo>
                  <a:pt x="431" y="17"/>
                </a:lnTo>
                <a:lnTo>
                  <a:pt x="196" y="0"/>
                </a:lnTo>
                <a:lnTo>
                  <a:pt x="0" y="115"/>
                </a:lnTo>
                <a:lnTo>
                  <a:pt x="13" y="265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7973568" y="2331720"/>
            <a:ext cx="3822192" cy="2340864"/>
          </a:xfrm>
          <a:custGeom>
            <a:avLst/>
            <a:gdLst/>
            <a:ahLst/>
            <a:cxnLst/>
            <a:rect l="l" t="t" r="r" b="b"/>
            <a:pathLst>
              <a:path w="418" h="256">
                <a:moveTo>
                  <a:pt x="144" y="256"/>
                </a:moveTo>
                <a:lnTo>
                  <a:pt x="281" y="194"/>
                </a:lnTo>
                <a:lnTo>
                  <a:pt x="379" y="110"/>
                </a:lnTo>
                <a:lnTo>
                  <a:pt x="418" y="16"/>
                </a:lnTo>
                <a:lnTo>
                  <a:pt x="196" y="0"/>
                </a:lnTo>
                <a:lnTo>
                  <a:pt x="0" y="115"/>
                </a:lnTo>
                <a:lnTo>
                  <a:pt x="12" y="252"/>
                </a:lnTo>
                <a:lnTo>
                  <a:pt x="144" y="256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8074152" y="4270248"/>
            <a:ext cx="2167128" cy="1636776"/>
          </a:xfrm>
          <a:custGeom>
            <a:avLst/>
            <a:gdLst/>
            <a:ahLst/>
            <a:cxnLst/>
            <a:rect l="l" t="t" r="r" b="b"/>
            <a:pathLst>
              <a:path w="237" h="179">
                <a:moveTo>
                  <a:pt x="237" y="75"/>
                </a:moveTo>
                <a:lnTo>
                  <a:pt x="159" y="0"/>
                </a:lnTo>
                <a:lnTo>
                  <a:pt x="0" y="24"/>
                </a:lnTo>
                <a:lnTo>
                  <a:pt x="2" y="53"/>
                </a:lnTo>
                <a:lnTo>
                  <a:pt x="100" y="172"/>
                </a:lnTo>
                <a:lnTo>
                  <a:pt x="226" y="179"/>
                </a:lnTo>
                <a:lnTo>
                  <a:pt x="237" y="75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11137392" y="3703320"/>
            <a:ext cx="2203704" cy="2221992"/>
          </a:xfrm>
          <a:custGeom>
            <a:avLst/>
            <a:gdLst/>
            <a:ahLst/>
            <a:cxnLst/>
            <a:rect l="l" t="t" r="r" b="b"/>
            <a:pathLst>
              <a:path w="241" h="243">
                <a:moveTo>
                  <a:pt x="235" y="0"/>
                </a:moveTo>
                <a:lnTo>
                  <a:pt x="39" y="44"/>
                </a:lnTo>
                <a:lnTo>
                  <a:pt x="0" y="150"/>
                </a:lnTo>
                <a:lnTo>
                  <a:pt x="66" y="243"/>
                </a:lnTo>
                <a:lnTo>
                  <a:pt x="118" y="222"/>
                </a:lnTo>
                <a:lnTo>
                  <a:pt x="241" y="142"/>
                </a:lnTo>
                <a:lnTo>
                  <a:pt x="235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9738360" y="2395728"/>
            <a:ext cx="2139696" cy="3575304"/>
          </a:xfrm>
          <a:custGeom>
            <a:avLst/>
            <a:gdLst/>
            <a:ahLst/>
            <a:cxnLst/>
            <a:rect l="l" t="t" r="r" b="b"/>
            <a:pathLst>
              <a:path w="234" h="391">
                <a:moveTo>
                  <a:pt x="45" y="93"/>
                </a:moveTo>
                <a:lnTo>
                  <a:pt x="42" y="98"/>
                </a:lnTo>
                <a:lnTo>
                  <a:pt x="40" y="103"/>
                </a:lnTo>
                <a:lnTo>
                  <a:pt x="39" y="107"/>
                </a:lnTo>
                <a:lnTo>
                  <a:pt x="39" y="112"/>
                </a:lnTo>
                <a:lnTo>
                  <a:pt x="39" y="117"/>
                </a:lnTo>
                <a:lnTo>
                  <a:pt x="41" y="122"/>
                </a:lnTo>
                <a:lnTo>
                  <a:pt x="42" y="127"/>
                </a:lnTo>
                <a:lnTo>
                  <a:pt x="65" y="173"/>
                </a:lnTo>
                <a:lnTo>
                  <a:pt x="10" y="234"/>
                </a:lnTo>
                <a:lnTo>
                  <a:pt x="7" y="237"/>
                </a:lnTo>
                <a:lnTo>
                  <a:pt x="4" y="241"/>
                </a:lnTo>
                <a:lnTo>
                  <a:pt x="2" y="246"/>
                </a:lnTo>
                <a:lnTo>
                  <a:pt x="1" y="250"/>
                </a:lnTo>
                <a:lnTo>
                  <a:pt x="0" y="254"/>
                </a:lnTo>
                <a:lnTo>
                  <a:pt x="0" y="258"/>
                </a:lnTo>
                <a:lnTo>
                  <a:pt x="0" y="263"/>
                </a:lnTo>
                <a:lnTo>
                  <a:pt x="1" y="267"/>
                </a:lnTo>
                <a:lnTo>
                  <a:pt x="24" y="345"/>
                </a:lnTo>
                <a:lnTo>
                  <a:pt x="10" y="383"/>
                </a:lnTo>
                <a:lnTo>
                  <a:pt x="149" y="391"/>
                </a:lnTo>
                <a:lnTo>
                  <a:pt x="161" y="358"/>
                </a:lnTo>
                <a:lnTo>
                  <a:pt x="162" y="354"/>
                </a:lnTo>
                <a:lnTo>
                  <a:pt x="163" y="349"/>
                </a:lnTo>
                <a:lnTo>
                  <a:pt x="163" y="345"/>
                </a:lnTo>
                <a:lnTo>
                  <a:pt x="163" y="341"/>
                </a:lnTo>
                <a:lnTo>
                  <a:pt x="162" y="337"/>
                </a:lnTo>
                <a:lnTo>
                  <a:pt x="141" y="267"/>
                </a:lnTo>
                <a:lnTo>
                  <a:pt x="199" y="203"/>
                </a:lnTo>
                <a:lnTo>
                  <a:pt x="202" y="199"/>
                </a:lnTo>
                <a:lnTo>
                  <a:pt x="204" y="194"/>
                </a:lnTo>
                <a:lnTo>
                  <a:pt x="206" y="190"/>
                </a:lnTo>
                <a:lnTo>
                  <a:pt x="208" y="186"/>
                </a:lnTo>
                <a:lnTo>
                  <a:pt x="209" y="181"/>
                </a:lnTo>
                <a:lnTo>
                  <a:pt x="209" y="177"/>
                </a:lnTo>
                <a:lnTo>
                  <a:pt x="208" y="172"/>
                </a:lnTo>
                <a:lnTo>
                  <a:pt x="207" y="168"/>
                </a:lnTo>
                <a:lnTo>
                  <a:pt x="205" y="164"/>
                </a:lnTo>
                <a:lnTo>
                  <a:pt x="181" y="114"/>
                </a:lnTo>
                <a:lnTo>
                  <a:pt x="216" y="60"/>
                </a:lnTo>
                <a:lnTo>
                  <a:pt x="218" y="56"/>
                </a:lnTo>
                <a:lnTo>
                  <a:pt x="220" y="52"/>
                </a:lnTo>
                <a:lnTo>
                  <a:pt x="234" y="10"/>
                </a:lnTo>
                <a:lnTo>
                  <a:pt x="97" y="0"/>
                </a:lnTo>
                <a:lnTo>
                  <a:pt x="88" y="27"/>
                </a:lnTo>
                <a:lnTo>
                  <a:pt x="45" y="93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10213848" y="2432304"/>
            <a:ext cx="1188720" cy="3502152"/>
          </a:xfrm>
          <a:custGeom>
            <a:avLst/>
            <a:gdLst/>
            <a:ahLst/>
            <a:cxnLst/>
            <a:rect l="l" t="t" r="r" b="b"/>
            <a:pathLst>
              <a:path w="130" h="383">
                <a:moveTo>
                  <a:pt x="41" y="104"/>
                </a:moveTo>
                <a:lnTo>
                  <a:pt x="40" y="105"/>
                </a:lnTo>
                <a:lnTo>
                  <a:pt x="40" y="106"/>
                </a:lnTo>
                <a:lnTo>
                  <a:pt x="39" y="107"/>
                </a:lnTo>
                <a:lnTo>
                  <a:pt x="39" y="108"/>
                </a:lnTo>
                <a:lnTo>
                  <a:pt x="39" y="109"/>
                </a:lnTo>
                <a:lnTo>
                  <a:pt x="40" y="110"/>
                </a:lnTo>
                <a:lnTo>
                  <a:pt x="40" y="112"/>
                </a:lnTo>
                <a:lnTo>
                  <a:pt x="70" y="173"/>
                </a:lnTo>
                <a:lnTo>
                  <a:pt x="2" y="248"/>
                </a:lnTo>
                <a:lnTo>
                  <a:pt x="2" y="249"/>
                </a:lnTo>
                <a:lnTo>
                  <a:pt x="1" y="250"/>
                </a:lnTo>
                <a:lnTo>
                  <a:pt x="1" y="251"/>
                </a:lnTo>
                <a:lnTo>
                  <a:pt x="0" y="252"/>
                </a:lnTo>
                <a:lnTo>
                  <a:pt x="0" y="253"/>
                </a:lnTo>
                <a:lnTo>
                  <a:pt x="0" y="254"/>
                </a:lnTo>
                <a:lnTo>
                  <a:pt x="0" y="255"/>
                </a:lnTo>
                <a:lnTo>
                  <a:pt x="0" y="256"/>
                </a:lnTo>
                <a:lnTo>
                  <a:pt x="26" y="342"/>
                </a:lnTo>
                <a:lnTo>
                  <a:pt x="11" y="382"/>
                </a:lnTo>
                <a:lnTo>
                  <a:pt x="44" y="383"/>
                </a:lnTo>
                <a:lnTo>
                  <a:pt x="58" y="345"/>
                </a:lnTo>
                <a:lnTo>
                  <a:pt x="59" y="344"/>
                </a:lnTo>
                <a:lnTo>
                  <a:pt x="59" y="343"/>
                </a:lnTo>
                <a:lnTo>
                  <a:pt x="59" y="342"/>
                </a:lnTo>
                <a:lnTo>
                  <a:pt x="59" y="341"/>
                </a:lnTo>
                <a:lnTo>
                  <a:pt x="58" y="340"/>
                </a:lnTo>
                <a:lnTo>
                  <a:pt x="34" y="256"/>
                </a:lnTo>
                <a:lnTo>
                  <a:pt x="102" y="180"/>
                </a:lnTo>
                <a:lnTo>
                  <a:pt x="103" y="179"/>
                </a:lnTo>
                <a:lnTo>
                  <a:pt x="103" y="178"/>
                </a:lnTo>
                <a:lnTo>
                  <a:pt x="104" y="177"/>
                </a:lnTo>
                <a:lnTo>
                  <a:pt x="104" y="176"/>
                </a:lnTo>
                <a:lnTo>
                  <a:pt x="104" y="175"/>
                </a:lnTo>
                <a:lnTo>
                  <a:pt x="104" y="174"/>
                </a:lnTo>
                <a:lnTo>
                  <a:pt x="104" y="173"/>
                </a:lnTo>
                <a:lnTo>
                  <a:pt x="104" y="172"/>
                </a:lnTo>
                <a:lnTo>
                  <a:pt x="104" y="171"/>
                </a:lnTo>
                <a:lnTo>
                  <a:pt x="73" y="109"/>
                </a:lnTo>
                <a:lnTo>
                  <a:pt x="116" y="42"/>
                </a:lnTo>
                <a:lnTo>
                  <a:pt x="117" y="41"/>
                </a:lnTo>
                <a:lnTo>
                  <a:pt x="117" y="40"/>
                </a:lnTo>
                <a:lnTo>
                  <a:pt x="130" y="2"/>
                </a:lnTo>
                <a:lnTo>
                  <a:pt x="97" y="0"/>
                </a:lnTo>
                <a:lnTo>
                  <a:pt x="86" y="34"/>
                </a:lnTo>
                <a:lnTo>
                  <a:pt x="41" y="104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8019288" y="3785616"/>
            <a:ext cx="5312664" cy="1042416"/>
          </a:xfrm>
          <a:custGeom>
            <a:avLst/>
            <a:gdLst/>
            <a:ahLst/>
            <a:cxnLst/>
            <a:rect l="l" t="t" r="r" b="b"/>
            <a:pathLst>
              <a:path w="581" h="114">
                <a:moveTo>
                  <a:pt x="208" y="43"/>
                </a:moveTo>
                <a:lnTo>
                  <a:pt x="318" y="96"/>
                </a:lnTo>
                <a:lnTo>
                  <a:pt x="319" y="96"/>
                </a:lnTo>
                <a:lnTo>
                  <a:pt x="319" y="96"/>
                </a:lnTo>
                <a:lnTo>
                  <a:pt x="320" y="96"/>
                </a:lnTo>
                <a:lnTo>
                  <a:pt x="320" y="96"/>
                </a:lnTo>
                <a:lnTo>
                  <a:pt x="321" y="97"/>
                </a:lnTo>
                <a:lnTo>
                  <a:pt x="471" y="114"/>
                </a:lnTo>
                <a:lnTo>
                  <a:pt x="471" y="114"/>
                </a:lnTo>
                <a:lnTo>
                  <a:pt x="472" y="114"/>
                </a:lnTo>
                <a:lnTo>
                  <a:pt x="473" y="114"/>
                </a:lnTo>
                <a:lnTo>
                  <a:pt x="473" y="114"/>
                </a:lnTo>
                <a:lnTo>
                  <a:pt x="581" y="94"/>
                </a:lnTo>
                <a:lnTo>
                  <a:pt x="581" y="86"/>
                </a:lnTo>
                <a:lnTo>
                  <a:pt x="472" y="106"/>
                </a:lnTo>
                <a:lnTo>
                  <a:pt x="324" y="89"/>
                </a:lnTo>
                <a:lnTo>
                  <a:pt x="214" y="36"/>
                </a:lnTo>
                <a:lnTo>
                  <a:pt x="214" y="36"/>
                </a:lnTo>
                <a:lnTo>
                  <a:pt x="213" y="36"/>
                </a:lnTo>
                <a:lnTo>
                  <a:pt x="102" y="1"/>
                </a:lnTo>
                <a:lnTo>
                  <a:pt x="102" y="0"/>
                </a:lnTo>
                <a:lnTo>
                  <a:pt x="101" y="0"/>
                </a:lnTo>
                <a:lnTo>
                  <a:pt x="100" y="0"/>
                </a:lnTo>
                <a:lnTo>
                  <a:pt x="100" y="0"/>
                </a:lnTo>
                <a:lnTo>
                  <a:pt x="99" y="0"/>
                </a:lnTo>
                <a:lnTo>
                  <a:pt x="98" y="0"/>
                </a:lnTo>
                <a:lnTo>
                  <a:pt x="0" y="14"/>
                </a:lnTo>
                <a:lnTo>
                  <a:pt x="1" y="22"/>
                </a:lnTo>
                <a:lnTo>
                  <a:pt x="99" y="8"/>
                </a:lnTo>
                <a:lnTo>
                  <a:pt x="208" y="43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reeform 28"/>
          <p:cNvSpPr/>
          <p:nvPr/>
        </p:nvSpPr>
        <p:spPr>
          <a:xfrm>
            <a:off x="8211312" y="4892040"/>
            <a:ext cx="1975104" cy="548640"/>
          </a:xfrm>
          <a:custGeom>
            <a:avLst/>
            <a:gdLst/>
            <a:ahLst/>
            <a:cxnLst/>
            <a:rect l="l" t="t" r="r" b="b"/>
            <a:pathLst>
              <a:path w="216" h="60">
                <a:moveTo>
                  <a:pt x="0" y="0"/>
                </a:moveTo>
                <a:lnTo>
                  <a:pt x="216" y="60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8357616" y="5074920"/>
            <a:ext cx="1819656" cy="502920"/>
          </a:xfrm>
          <a:custGeom>
            <a:avLst/>
            <a:gdLst/>
            <a:ahLst/>
            <a:cxnLst/>
            <a:rect l="l" t="t" r="r" b="b"/>
            <a:pathLst>
              <a:path w="199" h="55">
                <a:moveTo>
                  <a:pt x="0" y="0"/>
                </a:moveTo>
                <a:lnTo>
                  <a:pt x="199" y="55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8503920" y="5257800"/>
            <a:ext cx="1655064" cy="457200"/>
          </a:xfrm>
          <a:custGeom>
            <a:avLst/>
            <a:gdLst/>
            <a:ahLst/>
            <a:cxnLst/>
            <a:rect l="l" t="t" r="r" b="b"/>
            <a:pathLst>
              <a:path w="181" h="50">
                <a:moveTo>
                  <a:pt x="0" y="0"/>
                </a:moveTo>
                <a:lnTo>
                  <a:pt x="181" y="50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8659368" y="5440680"/>
            <a:ext cx="1490472" cy="411480"/>
          </a:xfrm>
          <a:custGeom>
            <a:avLst/>
            <a:gdLst/>
            <a:ahLst/>
            <a:cxnLst/>
            <a:rect l="l" t="t" r="r" b="b"/>
            <a:pathLst>
              <a:path w="163" h="45">
                <a:moveTo>
                  <a:pt x="0" y="0"/>
                </a:moveTo>
                <a:lnTo>
                  <a:pt x="163" y="45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8805672" y="5623560"/>
            <a:ext cx="950976" cy="265176"/>
          </a:xfrm>
          <a:custGeom>
            <a:avLst/>
            <a:gdLst/>
            <a:ahLst/>
            <a:cxnLst/>
            <a:rect l="l" t="t" r="r" b="b"/>
            <a:pathLst>
              <a:path w="104" h="29">
                <a:moveTo>
                  <a:pt x="0" y="0"/>
                </a:moveTo>
                <a:lnTo>
                  <a:pt x="104" y="29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8961120" y="5806440"/>
            <a:ext cx="155448" cy="45720"/>
          </a:xfrm>
          <a:custGeom>
            <a:avLst/>
            <a:gdLst/>
            <a:ahLst/>
            <a:cxnLst/>
            <a:rect l="l" t="t" r="r" b="b"/>
            <a:pathLst>
              <a:path w="17" h="5">
                <a:moveTo>
                  <a:pt x="0" y="0"/>
                </a:moveTo>
                <a:lnTo>
                  <a:pt x="17" y="5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17268" y="2844129"/>
            <a:ext cx="214315" cy="130558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965489" y="2858635"/>
            <a:ext cx="75010" cy="4351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37133" y="4252955"/>
            <a:ext cx="226453" cy="13795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88085" y="4268284"/>
            <a:ext cx="79258" cy="4598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339291" y="3392217"/>
            <a:ext cx="237944" cy="144953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92829" y="3408322"/>
            <a:ext cx="83280" cy="4831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888345" y="2503763"/>
            <a:ext cx="230741" cy="140565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940262" y="2519382"/>
            <a:ext cx="80759" cy="4685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371940" y="4342690"/>
            <a:ext cx="272214" cy="165830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433188" y="4361116"/>
            <a:ext cx="95275" cy="5527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414350" y="2481753"/>
            <a:ext cx="254928" cy="155299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471709" y="2499009"/>
            <a:ext cx="89224" cy="5176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768343" y="2927170"/>
            <a:ext cx="197514" cy="120323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12784" y="2940540"/>
            <a:ext cx="69130" cy="4010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823875" y="2481109"/>
            <a:ext cx="245804" cy="149741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879181" y="2497747"/>
            <a:ext cx="86031" cy="4991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418381" y="4307463"/>
            <a:ext cx="245851" cy="149769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473697" y="4324104"/>
            <a:ext cx="86047" cy="4992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004134" y="2355212"/>
            <a:ext cx="262383" cy="159840"/>
          </a:xfrm>
          <a:prstGeom prst="ellipse">
            <a:avLst/>
          </a:prstGeom>
          <a:solidFill>
            <a:srgbClr val="3E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063170" y="2372972"/>
            <a:ext cx="91834" cy="5328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799376" y="3400700"/>
            <a:ext cx="285303" cy="17380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863569" y="3420012"/>
            <a:ext cx="99856" cy="5793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278642" y="3639667"/>
            <a:ext cx="189985" cy="115736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21389" y="3652527"/>
            <a:ext cx="66494" cy="3857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95539" y="2651763"/>
            <a:ext cx="271562" cy="165432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256640" y="2670144"/>
            <a:ext cx="95046" cy="5514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96481" y="2319160"/>
            <a:ext cx="218021" cy="132815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645536" y="2333917"/>
            <a:ext cx="76307" cy="4427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682945" y="3301806"/>
            <a:ext cx="257697" cy="156986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740926" y="3319249"/>
            <a:ext cx="90194" cy="5232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037717" y="2855839"/>
            <a:ext cx="284167" cy="173111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101654" y="2875073"/>
            <a:ext cx="99458" cy="5770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864267" y="3935236"/>
            <a:ext cx="190617" cy="116122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907156" y="3948138"/>
            <a:ext cx="66716" cy="3870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036628" y="3624951"/>
            <a:ext cx="226865" cy="138204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087673" y="3640307"/>
            <a:ext cx="79403" cy="4606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542444" y="2745769"/>
            <a:ext cx="258544" cy="157502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600616" y="2763269"/>
            <a:ext cx="90490" cy="5250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305182" y="4433084"/>
            <a:ext cx="202888" cy="123597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350831" y="4446817"/>
            <a:ext cx="71010" cy="4119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5" name="Connector 74"/>
          <p:cNvCxnSpPr/>
          <p:nvPr/>
        </p:nvCxnSpPr>
        <p:spPr>
          <a:xfrm flipV="1">
            <a:off x="11557284" y="4378049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1453014" y="4343292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1557284" y="4308536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 flipV="1">
            <a:off x="12046909" y="4378049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11942638" y="4343292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2046909" y="4308536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1" name="Connector 80"/>
          <p:cNvCxnSpPr/>
          <p:nvPr/>
        </p:nvCxnSpPr>
        <p:spPr>
          <a:xfrm flipV="1">
            <a:off x="12536533" y="4378049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2432263" y="4343292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2536533" y="4308536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 flipV="1">
            <a:off x="11557284" y="4757964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11453014" y="4723207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557284" y="4688451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7" name="Connector 86"/>
          <p:cNvCxnSpPr/>
          <p:nvPr/>
        </p:nvCxnSpPr>
        <p:spPr>
          <a:xfrm flipV="1">
            <a:off x="12046909" y="4757964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11942638" y="4723207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2046909" y="4688451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" name="Connector 89"/>
          <p:cNvCxnSpPr/>
          <p:nvPr/>
        </p:nvCxnSpPr>
        <p:spPr>
          <a:xfrm flipV="1">
            <a:off x="12536533" y="4757964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2432263" y="4723207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2536533" y="4688451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 flipV="1">
            <a:off x="11557284" y="5137879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1453014" y="5103122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1557284" y="5068365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6" name="Connector 95"/>
          <p:cNvCxnSpPr/>
          <p:nvPr/>
        </p:nvCxnSpPr>
        <p:spPr>
          <a:xfrm flipV="1">
            <a:off x="12046909" y="5137879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1942638" y="5103122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2046909" y="5068365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 flipV="1">
            <a:off x="12536533" y="5137879"/>
            <a:ext cx="0" cy="133234"/>
          </a:xfrm>
          <a:prstGeom prst="line">
            <a:avLst/>
          </a:prstGeom>
          <a:ln w="11585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12432263" y="5103122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2536533" y="5068365"/>
            <a:ext cx="104270" cy="5792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 flipH="1" flipV="1">
            <a:off x="10257436" y="3166510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303367" y="3166510"/>
            <a:ext cx="0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40112" y="3166510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11212801" y="3489842"/>
            <a:ext cx="9187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1258732" y="3489842"/>
            <a:ext cx="0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295477" y="3489842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10018595" y="4540671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064526" y="4540671"/>
            <a:ext cx="0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101271" y="4540671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10735119" y="5146918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781050" y="5146918"/>
            <a:ext cx="0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817795" y="5146918"/>
            <a:ext cx="9186" cy="91862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 113"/>
          <p:cNvSpPr/>
          <p:nvPr/>
        </p:nvSpPr>
        <p:spPr>
          <a:xfrm>
            <a:off x="7973568" y="2331720"/>
            <a:ext cx="5376672" cy="3675888"/>
          </a:xfrm>
          <a:custGeom>
            <a:avLst/>
            <a:gdLst/>
            <a:ahLst/>
            <a:cxnLst/>
            <a:rect l="l" t="t" r="r" b="b"/>
            <a:pathLst>
              <a:path w="588" h="402">
                <a:moveTo>
                  <a:pt x="13" y="265"/>
                </a:moveTo>
                <a:lnTo>
                  <a:pt x="111" y="384"/>
                </a:lnTo>
                <a:lnTo>
                  <a:pt x="418" y="402"/>
                </a:lnTo>
                <a:lnTo>
                  <a:pt x="588" y="291"/>
                </a:lnTo>
                <a:lnTo>
                  <a:pt x="581" y="119"/>
                </a:lnTo>
                <a:lnTo>
                  <a:pt x="431" y="17"/>
                </a:lnTo>
                <a:lnTo>
                  <a:pt x="196" y="0"/>
                </a:lnTo>
                <a:lnTo>
                  <a:pt x="0" y="115"/>
                </a:lnTo>
                <a:lnTo>
                  <a:pt x="13" y="265"/>
                </a:lnTo>
                <a:close/>
              </a:path>
            </a:pathLst>
          </a:custGeom>
          <a:noFill/>
          <a:ln w="19202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Freeform 114"/>
          <p:cNvSpPr/>
          <p:nvPr/>
        </p:nvSpPr>
        <p:spPr>
          <a:xfrm>
            <a:off x="9354312" y="3456432"/>
            <a:ext cx="100584" cy="82296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0" y="0"/>
                </a:moveTo>
                <a:lnTo>
                  <a:pt x="6" y="9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326874" y="3328168"/>
            <a:ext cx="161677" cy="161677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9382726" y="3384020"/>
            <a:ext cx="49972" cy="49972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eeform 117"/>
          <p:cNvSpPr/>
          <p:nvPr/>
        </p:nvSpPr>
        <p:spPr>
          <a:xfrm>
            <a:off x="11987784" y="4828032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0" y="0"/>
                </a:moveTo>
                <a:lnTo>
                  <a:pt x="5" y="10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1954128" y="4702328"/>
            <a:ext cx="161677" cy="161677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2009980" y="4758180"/>
            <a:ext cx="49972" cy="49972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Freeform 120"/>
          <p:cNvSpPr/>
          <p:nvPr/>
        </p:nvSpPr>
        <p:spPr>
          <a:xfrm>
            <a:off x="10076688" y="4992624"/>
            <a:ext cx="100584" cy="82296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0" y="0"/>
                </a:moveTo>
                <a:lnTo>
                  <a:pt x="5" y="9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0043398" y="4863994"/>
            <a:ext cx="161677" cy="161677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0099250" y="4919846"/>
            <a:ext cx="49972" cy="49972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4" name="Connector 123"/>
          <p:cNvCxnSpPr/>
          <p:nvPr/>
        </p:nvCxnSpPr>
        <p:spPr>
          <a:xfrm flipV="1">
            <a:off x="11576304" y="1801368"/>
            <a:ext cx="758952" cy="1014984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11521440" y="2761488"/>
            <a:ext cx="109728" cy="109728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2106656" y="1399032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DEFA0"/>
                </a:solidFill>
              </a:rPr>
              <a:t>REAL PLACE</a:t>
            </a:r>
          </a:p>
        </p:txBody>
      </p:sp>
      <p:cxnSp>
        <p:nvCxnSpPr>
          <p:cNvPr id="127" name="Connector 126"/>
          <p:cNvCxnSpPr/>
          <p:nvPr/>
        </p:nvCxnSpPr>
        <p:spPr>
          <a:xfrm flipH="1">
            <a:off x="8348472" y="5495544"/>
            <a:ext cx="1014984" cy="1179576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9308592" y="5440680"/>
            <a:ext cx="109728" cy="109728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854696" y="6876288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DEFA0"/>
                </a:solidFill>
              </a:rPr>
              <a:t>TRACEABLE 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386951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63756B"/>
                </a:solidFill>
              </a:rPr>
              <a:t>MOTIVATION / CARBON MEETS PLACE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63756B"/>
                </a:solidFill>
              </a:rPr>
              <a:t>ILLUSTRATIVE USER SCENARIO • TO BE VALIDATED WITH LOCAL ORGANISATIONS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63756B"/>
                </a:solidFill>
                <a:latin typeface="Inter"/>
              </a:rPr>
              <a:t>02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2801600" cy="659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113B32"/>
                </a:solidFill>
              </a:rPr>
              <a:t>Carbon is discussed in numbers. Places ask concrete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47672"/>
            <a:ext cx="9144000" cy="30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63756B"/>
                </a:solidFill>
              </a:rPr>
              <a:t>Forests, wetlands and restoration sites turn carbon data into local questions.</a:t>
            </a:r>
            <a:endParaRPr sz="2000" b="0" dirty="0">
              <a:solidFill>
                <a:srgbClr val="63756B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12264" y="5495544"/>
            <a:ext cx="2029968" cy="429768"/>
          </a:xfrm>
          <a:prstGeom prst="ellipse">
            <a:avLst/>
          </a:prstGeom>
          <a:solidFill>
            <a:srgbClr val="D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34715" y="4483303"/>
            <a:ext cx="235037" cy="235037"/>
          </a:xfrm>
          <a:prstGeom prst="ellipse">
            <a:avLst/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9427" y="4783628"/>
            <a:ext cx="365613" cy="443959"/>
          </a:xfrm>
          <a:prstGeom prst="roundRect">
            <a:avLst>
              <a:gd name="adj" fmla="val 22000"/>
            </a:avLst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H="1">
            <a:off x="2634715" y="5175357"/>
            <a:ext cx="39173" cy="287268"/>
          </a:xfrm>
          <a:prstGeom prst="line">
            <a:avLst/>
          </a:prstGeom>
          <a:ln w="65288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0580" y="5175357"/>
            <a:ext cx="39172" cy="287268"/>
          </a:xfrm>
          <a:prstGeom prst="line">
            <a:avLst/>
          </a:prstGeom>
          <a:ln w="65288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93084" y="4343400"/>
            <a:ext cx="279806" cy="279806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5360" y="4700930"/>
            <a:ext cx="435254" cy="528523"/>
          </a:xfrm>
          <a:prstGeom prst="roundRect">
            <a:avLst>
              <a:gd name="adj" fmla="val 22000"/>
            </a:avLst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H="1">
            <a:off x="3193084" y="5167274"/>
            <a:ext cx="46635" cy="341986"/>
          </a:xfrm>
          <a:prstGeom prst="line">
            <a:avLst/>
          </a:prstGeom>
          <a:ln w="77724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6256" y="5167274"/>
            <a:ext cx="46635" cy="341986"/>
          </a:xfrm>
          <a:prstGeom prst="line">
            <a:avLst/>
          </a:prstGeom>
          <a:ln w="77724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750210" y="4529937"/>
            <a:ext cx="229441" cy="229441"/>
          </a:xfrm>
          <a:prstGeom prst="ellipse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86476" y="4823112"/>
            <a:ext cx="356908" cy="433389"/>
          </a:xfrm>
          <a:prstGeom prst="roundRect">
            <a:avLst>
              <a:gd name="adj" fmla="val 22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3750210" y="5205514"/>
            <a:ext cx="38240" cy="280428"/>
          </a:xfrm>
          <a:prstGeom prst="line">
            <a:avLst/>
          </a:prstGeom>
          <a:ln w="63733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41411" y="5205514"/>
            <a:ext cx="38240" cy="280428"/>
          </a:xfrm>
          <a:prstGeom prst="line">
            <a:avLst/>
          </a:prstGeom>
          <a:ln w="63733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5084064" y="3310128"/>
            <a:ext cx="4480560" cy="3081528"/>
          </a:xfrm>
          <a:custGeom>
            <a:avLst/>
            <a:gdLst/>
            <a:ahLst/>
            <a:cxnLst/>
            <a:rect l="l" t="t" r="r" b="b"/>
            <a:pathLst>
              <a:path w="490" h="337">
                <a:moveTo>
                  <a:pt x="11" y="222"/>
                </a:moveTo>
                <a:lnTo>
                  <a:pt x="92" y="323"/>
                </a:lnTo>
                <a:lnTo>
                  <a:pt x="349" y="337"/>
                </a:lnTo>
                <a:lnTo>
                  <a:pt x="490" y="245"/>
                </a:lnTo>
                <a:lnTo>
                  <a:pt x="485" y="100"/>
                </a:lnTo>
                <a:lnTo>
                  <a:pt x="360" y="15"/>
                </a:lnTo>
                <a:lnTo>
                  <a:pt x="163" y="0"/>
                </a:lnTo>
                <a:lnTo>
                  <a:pt x="0" y="96"/>
                </a:lnTo>
                <a:lnTo>
                  <a:pt x="11" y="222"/>
                </a:lnTo>
                <a:close/>
              </a:path>
            </a:pathLst>
          </a:custGeom>
          <a:solidFill>
            <a:srgbClr val="D6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5084064" y="3255264"/>
            <a:ext cx="4480560" cy="3081528"/>
          </a:xfrm>
          <a:custGeom>
            <a:avLst/>
            <a:gdLst/>
            <a:ahLst/>
            <a:cxnLst/>
            <a:rect l="l" t="t" r="r" b="b"/>
            <a:pathLst>
              <a:path w="490" h="337">
                <a:moveTo>
                  <a:pt x="11" y="222"/>
                </a:moveTo>
                <a:lnTo>
                  <a:pt x="92" y="323"/>
                </a:lnTo>
                <a:lnTo>
                  <a:pt x="349" y="337"/>
                </a:lnTo>
                <a:lnTo>
                  <a:pt x="490" y="245"/>
                </a:lnTo>
                <a:lnTo>
                  <a:pt x="485" y="100"/>
                </a:lnTo>
                <a:lnTo>
                  <a:pt x="360" y="15"/>
                </a:lnTo>
                <a:lnTo>
                  <a:pt x="163" y="0"/>
                </a:lnTo>
                <a:lnTo>
                  <a:pt x="0" y="96"/>
                </a:lnTo>
                <a:lnTo>
                  <a:pt x="11" y="222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5084064" y="3090672"/>
            <a:ext cx="4480560" cy="3081528"/>
          </a:xfrm>
          <a:custGeom>
            <a:avLst/>
            <a:gdLst/>
            <a:ahLst/>
            <a:cxnLst/>
            <a:rect l="l" t="t" r="r" b="b"/>
            <a:pathLst>
              <a:path w="490" h="337">
                <a:moveTo>
                  <a:pt x="11" y="222"/>
                </a:moveTo>
                <a:lnTo>
                  <a:pt x="92" y="323"/>
                </a:lnTo>
                <a:lnTo>
                  <a:pt x="349" y="337"/>
                </a:lnTo>
                <a:lnTo>
                  <a:pt x="490" y="245"/>
                </a:lnTo>
                <a:lnTo>
                  <a:pt x="485" y="100"/>
                </a:lnTo>
                <a:lnTo>
                  <a:pt x="360" y="15"/>
                </a:lnTo>
                <a:lnTo>
                  <a:pt x="163" y="0"/>
                </a:lnTo>
                <a:lnTo>
                  <a:pt x="0" y="96"/>
                </a:lnTo>
                <a:lnTo>
                  <a:pt x="11" y="222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5084064" y="3090672"/>
            <a:ext cx="3191256" cy="1965960"/>
          </a:xfrm>
          <a:custGeom>
            <a:avLst/>
            <a:gdLst/>
            <a:ahLst/>
            <a:cxnLst/>
            <a:rect l="l" t="t" r="r" b="b"/>
            <a:pathLst>
              <a:path w="349" h="215">
                <a:moveTo>
                  <a:pt x="120" y="215"/>
                </a:moveTo>
                <a:lnTo>
                  <a:pt x="234" y="163"/>
                </a:lnTo>
                <a:lnTo>
                  <a:pt x="316" y="93"/>
                </a:lnTo>
                <a:lnTo>
                  <a:pt x="349" y="14"/>
                </a:lnTo>
                <a:lnTo>
                  <a:pt x="163" y="0"/>
                </a:lnTo>
                <a:lnTo>
                  <a:pt x="0" y="96"/>
                </a:lnTo>
                <a:lnTo>
                  <a:pt x="10" y="212"/>
                </a:lnTo>
                <a:lnTo>
                  <a:pt x="120" y="215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5166360" y="4718304"/>
            <a:ext cx="1810512" cy="1380744"/>
          </a:xfrm>
          <a:custGeom>
            <a:avLst/>
            <a:gdLst/>
            <a:ahLst/>
            <a:cxnLst/>
            <a:rect l="l" t="t" r="r" b="b"/>
            <a:pathLst>
              <a:path w="198" h="151">
                <a:moveTo>
                  <a:pt x="198" y="63"/>
                </a:moveTo>
                <a:lnTo>
                  <a:pt x="133" y="0"/>
                </a:lnTo>
                <a:lnTo>
                  <a:pt x="0" y="20"/>
                </a:lnTo>
                <a:lnTo>
                  <a:pt x="2" y="44"/>
                </a:lnTo>
                <a:lnTo>
                  <a:pt x="83" y="145"/>
                </a:lnTo>
                <a:lnTo>
                  <a:pt x="188" y="151"/>
                </a:lnTo>
                <a:lnTo>
                  <a:pt x="198" y="63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reeform 28"/>
          <p:cNvSpPr/>
          <p:nvPr/>
        </p:nvSpPr>
        <p:spPr>
          <a:xfrm>
            <a:off x="7726680" y="4242816"/>
            <a:ext cx="1828800" cy="1865376"/>
          </a:xfrm>
          <a:custGeom>
            <a:avLst/>
            <a:gdLst/>
            <a:ahLst/>
            <a:cxnLst/>
            <a:rect l="l" t="t" r="r" b="b"/>
            <a:pathLst>
              <a:path w="200" h="204">
                <a:moveTo>
                  <a:pt x="196" y="0"/>
                </a:moveTo>
                <a:lnTo>
                  <a:pt x="32" y="37"/>
                </a:lnTo>
                <a:lnTo>
                  <a:pt x="0" y="126"/>
                </a:lnTo>
                <a:lnTo>
                  <a:pt x="54" y="204"/>
                </a:lnTo>
                <a:lnTo>
                  <a:pt x="98" y="186"/>
                </a:lnTo>
                <a:lnTo>
                  <a:pt x="200" y="119"/>
                </a:lnTo>
                <a:lnTo>
                  <a:pt x="196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6556248" y="3145536"/>
            <a:ext cx="1783080" cy="2999232"/>
          </a:xfrm>
          <a:custGeom>
            <a:avLst/>
            <a:gdLst/>
            <a:ahLst/>
            <a:cxnLst/>
            <a:rect l="l" t="t" r="r" b="b"/>
            <a:pathLst>
              <a:path w="195" h="328">
                <a:moveTo>
                  <a:pt x="37" y="78"/>
                </a:moveTo>
                <a:lnTo>
                  <a:pt x="35" y="82"/>
                </a:lnTo>
                <a:lnTo>
                  <a:pt x="33" y="86"/>
                </a:lnTo>
                <a:lnTo>
                  <a:pt x="33" y="90"/>
                </a:lnTo>
                <a:lnTo>
                  <a:pt x="32" y="94"/>
                </a:lnTo>
                <a:lnTo>
                  <a:pt x="33" y="98"/>
                </a:lnTo>
                <a:lnTo>
                  <a:pt x="34" y="102"/>
                </a:lnTo>
                <a:lnTo>
                  <a:pt x="35" y="106"/>
                </a:lnTo>
                <a:lnTo>
                  <a:pt x="54" y="145"/>
                </a:lnTo>
                <a:lnTo>
                  <a:pt x="8" y="196"/>
                </a:lnTo>
                <a:lnTo>
                  <a:pt x="5" y="199"/>
                </a:lnTo>
                <a:lnTo>
                  <a:pt x="3" y="203"/>
                </a:lnTo>
                <a:lnTo>
                  <a:pt x="2" y="206"/>
                </a:lnTo>
                <a:lnTo>
                  <a:pt x="0" y="210"/>
                </a:lnTo>
                <a:lnTo>
                  <a:pt x="0" y="213"/>
                </a:lnTo>
                <a:lnTo>
                  <a:pt x="0" y="217"/>
                </a:lnTo>
                <a:lnTo>
                  <a:pt x="0" y="220"/>
                </a:lnTo>
                <a:lnTo>
                  <a:pt x="1" y="224"/>
                </a:lnTo>
                <a:lnTo>
                  <a:pt x="20" y="290"/>
                </a:lnTo>
                <a:lnTo>
                  <a:pt x="8" y="321"/>
                </a:lnTo>
                <a:lnTo>
                  <a:pt x="124" y="328"/>
                </a:lnTo>
                <a:lnTo>
                  <a:pt x="134" y="300"/>
                </a:lnTo>
                <a:lnTo>
                  <a:pt x="135" y="297"/>
                </a:lnTo>
                <a:lnTo>
                  <a:pt x="136" y="293"/>
                </a:lnTo>
                <a:lnTo>
                  <a:pt x="136" y="290"/>
                </a:lnTo>
                <a:lnTo>
                  <a:pt x="135" y="286"/>
                </a:lnTo>
                <a:lnTo>
                  <a:pt x="135" y="283"/>
                </a:lnTo>
                <a:lnTo>
                  <a:pt x="117" y="224"/>
                </a:lnTo>
                <a:lnTo>
                  <a:pt x="166" y="170"/>
                </a:lnTo>
                <a:lnTo>
                  <a:pt x="168" y="167"/>
                </a:lnTo>
                <a:lnTo>
                  <a:pt x="170" y="163"/>
                </a:lnTo>
                <a:lnTo>
                  <a:pt x="172" y="160"/>
                </a:lnTo>
                <a:lnTo>
                  <a:pt x="173" y="156"/>
                </a:lnTo>
                <a:lnTo>
                  <a:pt x="174" y="152"/>
                </a:lnTo>
                <a:lnTo>
                  <a:pt x="174" y="148"/>
                </a:lnTo>
                <a:lnTo>
                  <a:pt x="174" y="145"/>
                </a:lnTo>
                <a:lnTo>
                  <a:pt x="173" y="141"/>
                </a:lnTo>
                <a:lnTo>
                  <a:pt x="171" y="137"/>
                </a:lnTo>
                <a:lnTo>
                  <a:pt x="151" y="96"/>
                </a:lnTo>
                <a:lnTo>
                  <a:pt x="180" y="50"/>
                </a:lnTo>
                <a:lnTo>
                  <a:pt x="182" y="47"/>
                </a:lnTo>
                <a:lnTo>
                  <a:pt x="183" y="43"/>
                </a:lnTo>
                <a:lnTo>
                  <a:pt x="195" y="8"/>
                </a:lnTo>
                <a:lnTo>
                  <a:pt x="81" y="0"/>
                </a:lnTo>
                <a:lnTo>
                  <a:pt x="73" y="22"/>
                </a:lnTo>
                <a:lnTo>
                  <a:pt x="37" y="78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6949440" y="3172968"/>
            <a:ext cx="996696" cy="2944368"/>
          </a:xfrm>
          <a:custGeom>
            <a:avLst/>
            <a:gdLst/>
            <a:ahLst/>
            <a:cxnLst/>
            <a:rect l="l" t="t" r="r" b="b"/>
            <a:pathLst>
              <a:path w="109" h="322">
                <a:moveTo>
                  <a:pt x="34" y="87"/>
                </a:moveTo>
                <a:lnTo>
                  <a:pt x="34" y="88"/>
                </a:lnTo>
                <a:lnTo>
                  <a:pt x="33" y="89"/>
                </a:lnTo>
                <a:lnTo>
                  <a:pt x="33" y="90"/>
                </a:lnTo>
                <a:lnTo>
                  <a:pt x="33" y="91"/>
                </a:lnTo>
                <a:lnTo>
                  <a:pt x="33" y="92"/>
                </a:lnTo>
                <a:lnTo>
                  <a:pt x="33" y="93"/>
                </a:lnTo>
                <a:lnTo>
                  <a:pt x="34" y="94"/>
                </a:lnTo>
                <a:lnTo>
                  <a:pt x="59" y="146"/>
                </a:lnTo>
                <a:lnTo>
                  <a:pt x="2" y="209"/>
                </a:lnTo>
                <a:lnTo>
                  <a:pt x="2" y="209"/>
                </a:lnTo>
                <a:lnTo>
                  <a:pt x="1" y="210"/>
                </a:lnTo>
                <a:lnTo>
                  <a:pt x="1" y="211"/>
                </a:lnTo>
                <a:lnTo>
                  <a:pt x="0" y="212"/>
                </a:lnTo>
                <a:lnTo>
                  <a:pt x="0" y="213"/>
                </a:lnTo>
                <a:lnTo>
                  <a:pt x="0" y="214"/>
                </a:lnTo>
                <a:lnTo>
                  <a:pt x="0" y="214"/>
                </a:lnTo>
                <a:lnTo>
                  <a:pt x="0" y="215"/>
                </a:lnTo>
                <a:lnTo>
                  <a:pt x="22" y="287"/>
                </a:lnTo>
                <a:lnTo>
                  <a:pt x="9" y="321"/>
                </a:lnTo>
                <a:lnTo>
                  <a:pt x="37" y="322"/>
                </a:lnTo>
                <a:lnTo>
                  <a:pt x="49" y="290"/>
                </a:lnTo>
                <a:lnTo>
                  <a:pt x="49" y="289"/>
                </a:lnTo>
                <a:lnTo>
                  <a:pt x="49" y="288"/>
                </a:lnTo>
                <a:lnTo>
                  <a:pt x="49" y="287"/>
                </a:lnTo>
                <a:lnTo>
                  <a:pt x="49" y="287"/>
                </a:lnTo>
                <a:lnTo>
                  <a:pt x="49" y="286"/>
                </a:lnTo>
                <a:lnTo>
                  <a:pt x="28" y="215"/>
                </a:lnTo>
                <a:lnTo>
                  <a:pt x="85" y="151"/>
                </a:lnTo>
                <a:lnTo>
                  <a:pt x="86" y="151"/>
                </a:lnTo>
                <a:lnTo>
                  <a:pt x="87" y="150"/>
                </a:lnTo>
                <a:lnTo>
                  <a:pt x="87" y="149"/>
                </a:lnTo>
                <a:lnTo>
                  <a:pt x="87" y="148"/>
                </a:lnTo>
                <a:lnTo>
                  <a:pt x="87" y="147"/>
                </a:lnTo>
                <a:lnTo>
                  <a:pt x="87" y="146"/>
                </a:lnTo>
                <a:lnTo>
                  <a:pt x="87" y="145"/>
                </a:lnTo>
                <a:lnTo>
                  <a:pt x="87" y="145"/>
                </a:lnTo>
                <a:lnTo>
                  <a:pt x="87" y="144"/>
                </a:lnTo>
                <a:lnTo>
                  <a:pt x="61" y="91"/>
                </a:lnTo>
                <a:lnTo>
                  <a:pt x="97" y="35"/>
                </a:lnTo>
                <a:lnTo>
                  <a:pt x="98" y="35"/>
                </a:lnTo>
                <a:lnTo>
                  <a:pt x="98" y="34"/>
                </a:lnTo>
                <a:lnTo>
                  <a:pt x="109" y="2"/>
                </a:lnTo>
                <a:lnTo>
                  <a:pt x="81" y="0"/>
                </a:lnTo>
                <a:lnTo>
                  <a:pt x="72" y="29"/>
                </a:lnTo>
                <a:lnTo>
                  <a:pt x="34" y="87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5120640" y="4315968"/>
            <a:ext cx="4434840" cy="868680"/>
          </a:xfrm>
          <a:custGeom>
            <a:avLst/>
            <a:gdLst/>
            <a:ahLst/>
            <a:cxnLst/>
            <a:rect l="l" t="t" r="r" b="b"/>
            <a:pathLst>
              <a:path w="485" h="95">
                <a:moveTo>
                  <a:pt x="173" y="36"/>
                </a:moveTo>
                <a:lnTo>
                  <a:pt x="265" y="80"/>
                </a:lnTo>
                <a:lnTo>
                  <a:pt x="266" y="80"/>
                </a:lnTo>
                <a:lnTo>
                  <a:pt x="266" y="80"/>
                </a:lnTo>
                <a:lnTo>
                  <a:pt x="267" y="80"/>
                </a:lnTo>
                <a:lnTo>
                  <a:pt x="267" y="81"/>
                </a:lnTo>
                <a:lnTo>
                  <a:pt x="267" y="81"/>
                </a:lnTo>
                <a:lnTo>
                  <a:pt x="393" y="95"/>
                </a:lnTo>
                <a:lnTo>
                  <a:pt x="393" y="95"/>
                </a:lnTo>
                <a:lnTo>
                  <a:pt x="394" y="95"/>
                </a:lnTo>
                <a:lnTo>
                  <a:pt x="394" y="95"/>
                </a:lnTo>
                <a:lnTo>
                  <a:pt x="395" y="95"/>
                </a:lnTo>
                <a:lnTo>
                  <a:pt x="485" y="79"/>
                </a:lnTo>
                <a:lnTo>
                  <a:pt x="485" y="72"/>
                </a:lnTo>
                <a:lnTo>
                  <a:pt x="393" y="89"/>
                </a:lnTo>
                <a:lnTo>
                  <a:pt x="270" y="74"/>
                </a:lnTo>
                <a:lnTo>
                  <a:pt x="178" y="30"/>
                </a:lnTo>
                <a:lnTo>
                  <a:pt x="178" y="30"/>
                </a:lnTo>
                <a:lnTo>
                  <a:pt x="178" y="30"/>
                </a:lnTo>
                <a:lnTo>
                  <a:pt x="85" y="0"/>
                </a:lnTo>
                <a:lnTo>
                  <a:pt x="85" y="0"/>
                </a:lnTo>
                <a:lnTo>
                  <a:pt x="84" y="0"/>
                </a:lnTo>
                <a:lnTo>
                  <a:pt x="84" y="0"/>
                </a:lnTo>
                <a:lnTo>
                  <a:pt x="83" y="0"/>
                </a:lnTo>
                <a:lnTo>
                  <a:pt x="83" y="0"/>
                </a:lnTo>
                <a:lnTo>
                  <a:pt x="82" y="0"/>
                </a:lnTo>
                <a:lnTo>
                  <a:pt x="0" y="11"/>
                </a:lnTo>
                <a:lnTo>
                  <a:pt x="1" y="18"/>
                </a:lnTo>
                <a:lnTo>
                  <a:pt x="82" y="7"/>
                </a:lnTo>
                <a:lnTo>
                  <a:pt x="173" y="36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5276088" y="5239512"/>
            <a:ext cx="1655064" cy="466344"/>
          </a:xfrm>
          <a:custGeom>
            <a:avLst/>
            <a:gdLst/>
            <a:ahLst/>
            <a:cxnLst/>
            <a:rect l="l" t="t" r="r" b="b"/>
            <a:pathLst>
              <a:path w="181" h="51">
                <a:moveTo>
                  <a:pt x="0" y="0"/>
                </a:moveTo>
                <a:lnTo>
                  <a:pt x="181" y="51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5404104" y="5394960"/>
            <a:ext cx="1517904" cy="420624"/>
          </a:xfrm>
          <a:custGeom>
            <a:avLst/>
            <a:gdLst/>
            <a:ahLst/>
            <a:cxnLst/>
            <a:rect l="l" t="t" r="r" b="b"/>
            <a:pathLst>
              <a:path w="166" h="46">
                <a:moveTo>
                  <a:pt x="0" y="0"/>
                </a:moveTo>
                <a:lnTo>
                  <a:pt x="166" y="46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5522976" y="5550408"/>
            <a:ext cx="1380744" cy="384048"/>
          </a:xfrm>
          <a:custGeom>
            <a:avLst/>
            <a:gdLst/>
            <a:ahLst/>
            <a:cxnLst/>
            <a:rect l="l" t="t" r="r" b="b"/>
            <a:pathLst>
              <a:path w="151" h="42">
                <a:moveTo>
                  <a:pt x="0" y="0"/>
                </a:moveTo>
                <a:lnTo>
                  <a:pt x="151" y="42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5650992" y="5705856"/>
            <a:ext cx="1243584" cy="347472"/>
          </a:xfrm>
          <a:custGeom>
            <a:avLst/>
            <a:gdLst/>
            <a:ahLst/>
            <a:cxnLst/>
            <a:rect l="l" t="t" r="r" b="b"/>
            <a:pathLst>
              <a:path w="136" h="38">
                <a:moveTo>
                  <a:pt x="0" y="0"/>
                </a:moveTo>
                <a:lnTo>
                  <a:pt x="136" y="38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5779008" y="5852160"/>
            <a:ext cx="795528" cy="228600"/>
          </a:xfrm>
          <a:custGeom>
            <a:avLst/>
            <a:gdLst/>
            <a:ahLst/>
            <a:cxnLst/>
            <a:rect l="l" t="t" r="r" b="b"/>
            <a:pathLst>
              <a:path w="87" h="25">
                <a:moveTo>
                  <a:pt x="0" y="0"/>
                </a:moveTo>
                <a:lnTo>
                  <a:pt x="87" y="25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5907024" y="6007608"/>
            <a:ext cx="128016" cy="36576"/>
          </a:xfrm>
          <a:custGeom>
            <a:avLst/>
            <a:gdLst/>
            <a:ahLst/>
            <a:cxnLst/>
            <a:rect l="l" t="t" r="r" b="b"/>
            <a:pathLst>
              <a:path w="14" h="4">
                <a:moveTo>
                  <a:pt x="0" y="0"/>
                </a:moveTo>
                <a:lnTo>
                  <a:pt x="14" y="4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868940" y="3521764"/>
            <a:ext cx="178870" cy="109586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09186" y="3533940"/>
            <a:ext cx="62604" cy="3652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69746" y="4704286"/>
            <a:ext cx="189000" cy="11579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12271" y="4717152"/>
            <a:ext cx="66150" cy="3859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386555" y="3981810"/>
            <a:ext cx="198591" cy="121668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431238" y="3995329"/>
            <a:ext cx="69506" cy="4055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679411" y="3236072"/>
            <a:ext cx="192579" cy="117985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722741" y="3249182"/>
            <a:ext cx="67402" cy="3932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248414" y="4779606"/>
            <a:ext cx="227193" cy="139192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299532" y="4795072"/>
            <a:ext cx="79517" cy="4639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283810" y="3217598"/>
            <a:ext cx="212765" cy="13035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331682" y="3232082"/>
            <a:ext cx="74467" cy="4345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579256" y="3591466"/>
            <a:ext cx="164847" cy="100995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616346" y="3602688"/>
            <a:ext cx="57696" cy="3366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625603" y="3217057"/>
            <a:ext cx="205150" cy="125687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671762" y="3231022"/>
            <a:ext cx="71802" cy="4189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452564" y="4750037"/>
            <a:ext cx="205189" cy="125711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498732" y="4764005"/>
            <a:ext cx="71816" cy="4190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776049" y="3111383"/>
            <a:ext cx="218987" cy="134165"/>
          </a:xfrm>
          <a:prstGeom prst="ellipse">
            <a:avLst/>
          </a:prstGeom>
          <a:solidFill>
            <a:srgbClr val="3E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825321" y="3126290"/>
            <a:ext cx="76645" cy="4472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605156" y="3988931"/>
            <a:ext cx="238117" cy="145885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658732" y="4005141"/>
            <a:ext cx="83341" cy="4862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335937" y="4189512"/>
            <a:ext cx="158563" cy="97145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371614" y="4200306"/>
            <a:ext cx="55497" cy="3238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101188" y="3360298"/>
            <a:ext cx="226648" cy="138858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152184" y="3375727"/>
            <a:ext cx="79326" cy="4628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435818" y="3081122"/>
            <a:ext cx="181962" cy="111481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476760" y="3093509"/>
            <a:ext cx="63686" cy="3716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507981" y="3905923"/>
            <a:ext cx="215076" cy="131768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556373" y="3920564"/>
            <a:ext cx="75276" cy="4392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969468" y="3531592"/>
            <a:ext cx="237168" cy="145303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6022831" y="3547737"/>
            <a:ext cx="83009" cy="4843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659314" y="4437602"/>
            <a:ext cx="159091" cy="97469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695110" y="4448432"/>
            <a:ext cx="55682" cy="3248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968560" y="4177160"/>
            <a:ext cx="189344" cy="116003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011162" y="4190049"/>
            <a:ext cx="66270" cy="3866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90718" y="3439203"/>
            <a:ext cx="215783" cy="132202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439269" y="3453893"/>
            <a:ext cx="75524" cy="4406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192697" y="4855479"/>
            <a:ext cx="169332" cy="103743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230796" y="4867006"/>
            <a:ext cx="59266" cy="3458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 flipV="1">
            <a:off x="8072323" y="4809919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7985298" y="4780911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072323" y="4751902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 flipV="1">
            <a:off x="8480968" y="4809919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8393943" y="4780911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8480968" y="4751902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5" name="Connector 84"/>
          <p:cNvCxnSpPr/>
          <p:nvPr/>
        </p:nvCxnSpPr>
        <p:spPr>
          <a:xfrm flipV="1">
            <a:off x="8889613" y="4809919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8802588" y="4780911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889613" y="4751902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 flipV="1">
            <a:off x="8072323" y="5128807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985298" y="5099798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072323" y="5070790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1" name="Connector 90"/>
          <p:cNvCxnSpPr/>
          <p:nvPr/>
        </p:nvCxnSpPr>
        <p:spPr>
          <a:xfrm flipV="1">
            <a:off x="8480968" y="5128807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8393943" y="5099798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480968" y="5070790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/>
          <p:cNvCxnSpPr/>
          <p:nvPr/>
        </p:nvCxnSpPr>
        <p:spPr>
          <a:xfrm flipV="1">
            <a:off x="8889613" y="5128807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8802588" y="5099798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889613" y="5070790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 flipV="1">
            <a:off x="8072323" y="5447695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7985298" y="5418686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072323" y="5389678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 flipV="1">
            <a:off x="8480968" y="5447695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8393943" y="5418686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480968" y="5389678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889613" y="5447695"/>
            <a:ext cx="0" cy="111198"/>
          </a:xfrm>
          <a:prstGeom prst="line">
            <a:avLst/>
          </a:prstGeom>
          <a:ln w="9669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8802588" y="5418686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8889613" y="5389678"/>
            <a:ext cx="87024" cy="48347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Connector 105"/>
          <p:cNvCxnSpPr/>
          <p:nvPr/>
        </p:nvCxnSpPr>
        <p:spPr>
          <a:xfrm flipH="1" flipV="1">
            <a:off x="6987457" y="3792797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025792" y="3792797"/>
            <a:ext cx="0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56459" y="3792797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7784814" y="4064191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823149" y="4064191"/>
            <a:ext cx="0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853816" y="4064191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6788118" y="4946221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826453" y="4946221"/>
            <a:ext cx="0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857120" y="4946221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7386136" y="5455085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424470" y="5455085"/>
            <a:ext cx="0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455138" y="5455085"/>
            <a:ext cx="7667" cy="76669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reeform 117"/>
          <p:cNvSpPr/>
          <p:nvPr/>
        </p:nvSpPr>
        <p:spPr>
          <a:xfrm>
            <a:off x="5084064" y="3090672"/>
            <a:ext cx="4480560" cy="3081528"/>
          </a:xfrm>
          <a:custGeom>
            <a:avLst/>
            <a:gdLst/>
            <a:ahLst/>
            <a:cxnLst/>
            <a:rect l="l" t="t" r="r" b="b"/>
            <a:pathLst>
              <a:path w="490" h="337">
                <a:moveTo>
                  <a:pt x="11" y="222"/>
                </a:moveTo>
                <a:lnTo>
                  <a:pt x="92" y="323"/>
                </a:lnTo>
                <a:lnTo>
                  <a:pt x="349" y="337"/>
                </a:lnTo>
                <a:lnTo>
                  <a:pt x="490" y="245"/>
                </a:lnTo>
                <a:lnTo>
                  <a:pt x="485" y="100"/>
                </a:lnTo>
                <a:lnTo>
                  <a:pt x="360" y="15"/>
                </a:lnTo>
                <a:lnTo>
                  <a:pt x="163" y="0"/>
                </a:lnTo>
                <a:lnTo>
                  <a:pt x="0" y="96"/>
                </a:lnTo>
                <a:lnTo>
                  <a:pt x="11" y="222"/>
                </a:lnTo>
                <a:close/>
              </a:path>
            </a:pathLst>
          </a:custGeom>
          <a:noFill/>
          <a:ln w="19202">
            <a:solidFill>
              <a:srgbClr val="113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eeform 118"/>
          <p:cNvSpPr/>
          <p:nvPr/>
        </p:nvSpPr>
        <p:spPr>
          <a:xfrm>
            <a:off x="6236208" y="4032504"/>
            <a:ext cx="82296" cy="73152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0" y="0"/>
                </a:moveTo>
                <a:lnTo>
                  <a:pt x="5" y="8"/>
                </a:lnTo>
                <a:lnTo>
                  <a:pt x="9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6210801" y="3929064"/>
            <a:ext cx="134937" cy="134937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6257416" y="3975678"/>
            <a:ext cx="41707" cy="41707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Freeform 121"/>
          <p:cNvSpPr/>
          <p:nvPr/>
        </p:nvSpPr>
        <p:spPr>
          <a:xfrm>
            <a:off x="8430768" y="5184648"/>
            <a:ext cx="82296" cy="73152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0" y="0"/>
                </a:moveTo>
                <a:lnTo>
                  <a:pt x="4" y="8"/>
                </a:lnTo>
                <a:lnTo>
                  <a:pt x="9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403532" y="5082488"/>
            <a:ext cx="134937" cy="134937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8450147" y="5129103"/>
            <a:ext cx="41707" cy="41707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Freeform 124"/>
          <p:cNvSpPr/>
          <p:nvPr/>
        </p:nvSpPr>
        <p:spPr>
          <a:xfrm>
            <a:off x="6830568" y="5321808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5" y="8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6808819" y="5218185"/>
            <a:ext cx="134937" cy="134937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6855434" y="5264800"/>
            <a:ext cx="41707" cy="41707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Freeform 127"/>
          <p:cNvSpPr/>
          <p:nvPr/>
        </p:nvSpPr>
        <p:spPr>
          <a:xfrm>
            <a:off x="3831336" y="4443984"/>
            <a:ext cx="1426464" cy="493776"/>
          </a:xfrm>
          <a:custGeom>
            <a:avLst/>
            <a:gdLst/>
            <a:ahLst/>
            <a:cxnLst/>
            <a:rect l="l" t="t" r="r" b="b"/>
            <a:pathLst>
              <a:path w="156" h="54">
                <a:moveTo>
                  <a:pt x="0" y="54"/>
                </a:moveTo>
                <a:lnTo>
                  <a:pt x="5" y="53"/>
                </a:lnTo>
                <a:lnTo>
                  <a:pt x="11" y="52"/>
                </a:lnTo>
                <a:lnTo>
                  <a:pt x="15" y="50"/>
                </a:lnTo>
                <a:lnTo>
                  <a:pt x="20" y="49"/>
                </a:lnTo>
                <a:lnTo>
                  <a:pt x="24" y="48"/>
                </a:lnTo>
                <a:lnTo>
                  <a:pt x="29" y="47"/>
                </a:lnTo>
                <a:lnTo>
                  <a:pt x="33" y="45"/>
                </a:lnTo>
                <a:lnTo>
                  <a:pt x="36" y="44"/>
                </a:lnTo>
                <a:lnTo>
                  <a:pt x="40" y="43"/>
                </a:lnTo>
                <a:lnTo>
                  <a:pt x="43" y="41"/>
                </a:lnTo>
                <a:lnTo>
                  <a:pt x="47" y="40"/>
                </a:lnTo>
                <a:lnTo>
                  <a:pt x="50" y="39"/>
                </a:lnTo>
                <a:lnTo>
                  <a:pt x="53" y="37"/>
                </a:lnTo>
                <a:lnTo>
                  <a:pt x="56" y="36"/>
                </a:lnTo>
                <a:lnTo>
                  <a:pt x="59" y="34"/>
                </a:lnTo>
                <a:lnTo>
                  <a:pt x="62" y="33"/>
                </a:lnTo>
                <a:lnTo>
                  <a:pt x="65" y="31"/>
                </a:lnTo>
                <a:lnTo>
                  <a:pt x="67" y="30"/>
                </a:lnTo>
                <a:lnTo>
                  <a:pt x="70" y="28"/>
                </a:lnTo>
                <a:lnTo>
                  <a:pt x="73" y="27"/>
                </a:lnTo>
                <a:lnTo>
                  <a:pt x="76" y="26"/>
                </a:lnTo>
                <a:lnTo>
                  <a:pt x="79" y="24"/>
                </a:lnTo>
                <a:lnTo>
                  <a:pt x="82" y="23"/>
                </a:lnTo>
                <a:lnTo>
                  <a:pt x="85" y="21"/>
                </a:lnTo>
                <a:lnTo>
                  <a:pt x="88" y="20"/>
                </a:lnTo>
                <a:lnTo>
                  <a:pt x="91" y="18"/>
                </a:lnTo>
                <a:lnTo>
                  <a:pt x="94" y="17"/>
                </a:lnTo>
                <a:lnTo>
                  <a:pt x="98" y="15"/>
                </a:lnTo>
                <a:lnTo>
                  <a:pt x="102" y="14"/>
                </a:lnTo>
                <a:lnTo>
                  <a:pt x="105" y="13"/>
                </a:lnTo>
                <a:lnTo>
                  <a:pt x="109" y="11"/>
                </a:lnTo>
                <a:lnTo>
                  <a:pt x="113" y="10"/>
                </a:lnTo>
                <a:lnTo>
                  <a:pt x="118" y="9"/>
                </a:lnTo>
                <a:lnTo>
                  <a:pt x="122" y="7"/>
                </a:lnTo>
                <a:lnTo>
                  <a:pt x="127" y="6"/>
                </a:lnTo>
                <a:lnTo>
                  <a:pt x="132" y="5"/>
                </a:lnTo>
                <a:lnTo>
                  <a:pt x="138" y="4"/>
                </a:lnTo>
                <a:lnTo>
                  <a:pt x="144" y="2"/>
                </a:lnTo>
                <a:lnTo>
                  <a:pt x="150" y="1"/>
                </a:lnTo>
                <a:lnTo>
                  <a:pt x="156" y="0"/>
                </a:lnTo>
              </a:path>
            </a:pathLst>
          </a:custGeom>
          <a:noFill/>
          <a:ln w="18288">
            <a:solidFill>
              <a:srgbClr val="3869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/>
          <p:cNvCxnSpPr/>
          <p:nvPr/>
        </p:nvCxnSpPr>
        <p:spPr>
          <a:xfrm flipV="1">
            <a:off x="7790688" y="2907792"/>
            <a:ext cx="1408176" cy="832104"/>
          </a:xfrm>
          <a:prstGeom prst="line">
            <a:avLst/>
          </a:prstGeom>
          <a:ln w="13716">
            <a:solidFill>
              <a:srgbClr val="637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238744" y="4535424"/>
            <a:ext cx="2551176" cy="585216"/>
          </a:xfrm>
          <a:prstGeom prst="line">
            <a:avLst/>
          </a:prstGeom>
          <a:ln w="13716">
            <a:solidFill>
              <a:srgbClr val="637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775704" y="5833872"/>
            <a:ext cx="2404872" cy="731520"/>
          </a:xfrm>
          <a:prstGeom prst="line">
            <a:avLst/>
          </a:prstGeom>
          <a:ln w="13716">
            <a:solidFill>
              <a:srgbClr val="637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180576" y="2450592"/>
            <a:ext cx="137160" cy="137160"/>
          </a:xfrm>
          <a:prstGeom prst="ellipse">
            <a:avLst/>
          </a:prstGeom>
          <a:solidFill>
            <a:srgbClr val="C88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464040" y="2313432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13B32"/>
                </a:solidFill>
              </a:rPr>
              <a:t>What is here?</a:t>
            </a:r>
          </a:p>
        </p:txBody>
      </p:sp>
      <p:sp>
        <p:nvSpPr>
          <p:cNvPr id="134" name="Oval 133"/>
          <p:cNvSpPr/>
          <p:nvPr/>
        </p:nvSpPr>
        <p:spPr>
          <a:xfrm>
            <a:off x="10789920" y="4279392"/>
            <a:ext cx="137160" cy="137160"/>
          </a:xfrm>
          <a:prstGeom prst="ellipse">
            <a:avLst/>
          </a:prstGeom>
          <a:solidFill>
            <a:srgbClr val="7EA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1064240" y="4123944"/>
            <a:ext cx="2971800" cy="813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13B32"/>
                </a:solidFill>
              </a:rPr>
              <a:t>Why does it matter?</a:t>
            </a:r>
          </a:p>
        </p:txBody>
      </p:sp>
      <p:sp>
        <p:nvSpPr>
          <p:cNvPr id="136" name="Oval 135"/>
          <p:cNvSpPr/>
          <p:nvPr/>
        </p:nvSpPr>
        <p:spPr>
          <a:xfrm>
            <a:off x="9171432" y="6409944"/>
            <a:ext cx="137160" cy="137160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445752" y="624535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13B32"/>
                </a:solidFill>
              </a:rPr>
              <a:t>What can we show responsibly?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435608" y="6400800"/>
            <a:ext cx="3319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63756B"/>
                </a:solidFill>
              </a:rPr>
              <a:t>LOCAL STEWARDS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4B11B-97E8-CF3E-66AF-1C0A7BCE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C6FE9398-17CD-2FB9-4329-CEC5EF3DFD1E}"/>
              </a:ext>
            </a:extLst>
          </p:cNvPr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D142109-4C0D-F22B-8503-D318F6482A68}"/>
              </a:ext>
            </a:extLst>
          </p:cNvPr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371A5-F56D-D814-6E7C-7B54FE87FA33}"/>
              </a:ext>
            </a:extLst>
          </p:cNvPr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2" b="1" i="0" u="none" strike="noStrike" kern="1200" cap="none" spc="80" normalizeH="0" baseline="0" noProof="0">
                <a:ln>
                  <a:noFill/>
                </a:ln>
                <a:solidFill>
                  <a:srgbClr val="38695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CARBON PLACES KIT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84A3B-2657-7280-BF80-1129DA289042}"/>
              </a:ext>
            </a:extLst>
          </p:cNvPr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36" b="0">
                <a:solidFill>
                  <a:srgbClr val="63756B"/>
                </a:solidFill>
              </a:rPr>
              <a:t>MOTIVATION / THE TRANSLATION GAP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FD77683-7CDA-31B5-5B13-F08891FED575}"/>
              </a:ext>
            </a:extLst>
          </p:cNvPr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4C28573-EC46-C0F2-2F62-9E9DE2164FEB}"/>
              </a:ext>
            </a:extLst>
          </p:cNvPr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36" b="0">
                <a:solidFill>
                  <a:srgbClr val="63756B"/>
                </a:solidFill>
              </a:rPr>
              <a:t>03 / 11</a:t>
            </a:r>
          </a:p>
        </p:txBody>
      </p:sp>
      <p:sp>
        <p:nvSpPr>
          <p:cNvPr id="140" name="TextBox 8">
            <a:extLst>
              <a:ext uri="{FF2B5EF4-FFF2-40B4-BE49-F238E27FC236}">
                <a16:creationId xmlns:a16="http://schemas.microsoft.com/office/drawing/2014/main" id="{71FC0FB6-F4D3-E591-3B49-4BC1A6CF265B}"/>
              </a:ext>
            </a:extLst>
          </p:cNvPr>
          <p:cNvSpPr txBox="1"/>
          <p:nvPr/>
        </p:nvSpPr>
        <p:spPr>
          <a:xfrm>
            <a:off x="4637094" y="6818377"/>
            <a:ext cx="9619600" cy="427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113B32"/>
                </a:solidFill>
              </a:rPr>
              <a:t>The missing layer is between open data and local understanding.</a:t>
            </a:r>
            <a:endParaRPr sz="2800" b="1" dirty="0">
              <a:solidFill>
                <a:srgbClr val="113B32"/>
              </a:solidFill>
            </a:endParaRPr>
          </a:p>
        </p:txBody>
      </p:sp>
      <p:sp>
        <p:nvSpPr>
          <p:cNvPr id="142" name="Rounded Rectangle 2">
            <a:extLst>
              <a:ext uri="{FF2B5EF4-FFF2-40B4-BE49-F238E27FC236}">
                <a16:creationId xmlns:a16="http://schemas.microsoft.com/office/drawing/2014/main" id="{6D74B2A5-D8D1-AB4A-AB44-137B50126E74}"/>
              </a:ext>
            </a:extLst>
          </p:cNvPr>
          <p:cNvSpPr/>
          <p:nvPr/>
        </p:nvSpPr>
        <p:spPr>
          <a:xfrm>
            <a:off x="914400" y="2828924"/>
            <a:ext cx="3680460" cy="29718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4" name="Rounded Rectangle 3">
            <a:extLst>
              <a:ext uri="{FF2B5EF4-FFF2-40B4-BE49-F238E27FC236}">
                <a16:creationId xmlns:a16="http://schemas.microsoft.com/office/drawing/2014/main" id="{8E5E8110-ACE0-79B3-50CE-913513FDAD40}"/>
              </a:ext>
            </a:extLst>
          </p:cNvPr>
          <p:cNvSpPr/>
          <p:nvPr/>
        </p:nvSpPr>
        <p:spPr>
          <a:xfrm>
            <a:off x="5463540" y="2828924"/>
            <a:ext cx="3703320" cy="2971800"/>
          </a:xfrm>
          <a:prstGeom prst="roundRect">
            <a:avLst>
              <a:gd name="adj" fmla="val 4615"/>
            </a:avLst>
          </a:prstGeom>
          <a:solidFill>
            <a:srgbClr val="FFF5F5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6" name="Rounded Rectangle 4">
            <a:extLst>
              <a:ext uri="{FF2B5EF4-FFF2-40B4-BE49-F238E27FC236}">
                <a16:creationId xmlns:a16="http://schemas.microsoft.com/office/drawing/2014/main" id="{1788801E-C718-926B-7314-A9FD909F3554}"/>
              </a:ext>
            </a:extLst>
          </p:cNvPr>
          <p:cNvSpPr/>
          <p:nvPr/>
        </p:nvSpPr>
        <p:spPr>
          <a:xfrm>
            <a:off x="10035540" y="2828924"/>
            <a:ext cx="3680460" cy="29718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48" name="Picture 5" descr="image.png">
            <a:extLst>
              <a:ext uri="{FF2B5EF4-FFF2-40B4-BE49-F238E27FC236}">
                <a16:creationId xmlns:a16="http://schemas.microsoft.com/office/drawing/2014/main" id="{6B08B47A-B16B-DA81-E590-17F004973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3989070"/>
            <a:ext cx="411480" cy="411480"/>
          </a:xfrm>
          <a:prstGeom prst="rect">
            <a:avLst/>
          </a:prstGeom>
        </p:spPr>
      </p:pic>
      <p:pic>
        <p:nvPicPr>
          <p:cNvPr id="150" name="Picture 6" descr="image.png">
            <a:extLst>
              <a:ext uri="{FF2B5EF4-FFF2-40B4-BE49-F238E27FC236}">
                <a16:creationId xmlns:a16="http://schemas.microsoft.com/office/drawing/2014/main" id="{192FB92A-F182-D603-CAD6-B915B598B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989070"/>
            <a:ext cx="411480" cy="411480"/>
          </a:xfrm>
          <a:prstGeom prst="rect">
            <a:avLst/>
          </a:prstGeom>
        </p:spPr>
      </p:pic>
      <p:pic>
        <p:nvPicPr>
          <p:cNvPr id="152" name="Picture 7" descr="image.png">
            <a:extLst>
              <a:ext uri="{FF2B5EF4-FFF2-40B4-BE49-F238E27FC236}">
                <a16:creationId xmlns:a16="http://schemas.microsoft.com/office/drawing/2014/main" id="{5A08FB77-E33B-E103-C2EE-2EC5F852C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05" y="3206114"/>
            <a:ext cx="548640" cy="548640"/>
          </a:xfrm>
          <a:prstGeom prst="rect">
            <a:avLst/>
          </a:prstGeom>
        </p:spPr>
      </p:pic>
      <p:pic>
        <p:nvPicPr>
          <p:cNvPr id="154" name="Picture 8" descr="image.png">
            <a:extLst>
              <a:ext uri="{FF2B5EF4-FFF2-40B4-BE49-F238E27FC236}">
                <a16:creationId xmlns:a16="http://schemas.microsoft.com/office/drawing/2014/main" id="{308F84DF-D207-9928-7AA0-629BCD966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190" y="4103370"/>
            <a:ext cx="160020" cy="182880"/>
          </a:xfrm>
          <a:prstGeom prst="rect">
            <a:avLst/>
          </a:prstGeom>
        </p:spPr>
      </p:pic>
      <p:pic>
        <p:nvPicPr>
          <p:cNvPr id="156" name="Picture 9" descr="image.png">
            <a:extLst>
              <a:ext uri="{FF2B5EF4-FFF2-40B4-BE49-F238E27FC236}">
                <a16:creationId xmlns:a16="http://schemas.microsoft.com/office/drawing/2014/main" id="{3418569A-9AD4-D42B-A245-D091FDEF2F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275" y="3217544"/>
            <a:ext cx="548640" cy="548640"/>
          </a:xfrm>
          <a:prstGeom prst="rect">
            <a:avLst/>
          </a:prstGeom>
        </p:spPr>
      </p:pic>
      <p:pic>
        <p:nvPicPr>
          <p:cNvPr id="158" name="Picture 10" descr="image.png">
            <a:extLst>
              <a:ext uri="{FF2B5EF4-FFF2-40B4-BE49-F238E27FC236}">
                <a16:creationId xmlns:a16="http://schemas.microsoft.com/office/drawing/2014/main" id="{497958A3-5569-5E8A-B4D2-4F70DF20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1190" y="4103370"/>
            <a:ext cx="160020" cy="182880"/>
          </a:xfrm>
          <a:prstGeom prst="rect">
            <a:avLst/>
          </a:prstGeom>
        </p:spPr>
      </p:pic>
      <p:pic>
        <p:nvPicPr>
          <p:cNvPr id="160" name="Picture 11" descr="image.png">
            <a:extLst>
              <a:ext uri="{FF2B5EF4-FFF2-40B4-BE49-F238E27FC236}">
                <a16:creationId xmlns:a16="http://schemas.microsoft.com/office/drawing/2014/main" id="{DA55C26B-180A-1F32-8314-6E0CD4BE7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8845" y="3206114"/>
            <a:ext cx="548640" cy="548640"/>
          </a:xfrm>
          <a:prstGeom prst="rect">
            <a:avLst/>
          </a:prstGeom>
        </p:spPr>
      </p:pic>
      <p:pic>
        <p:nvPicPr>
          <p:cNvPr id="162" name="Picture 12" descr="image.png">
            <a:extLst>
              <a:ext uri="{FF2B5EF4-FFF2-40B4-BE49-F238E27FC236}">
                <a16:creationId xmlns:a16="http://schemas.microsoft.com/office/drawing/2014/main" id="{41E13B8F-791E-C782-08E3-7CB6D058BA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295" y="3354704"/>
            <a:ext cx="251460" cy="251460"/>
          </a:xfrm>
          <a:prstGeom prst="rect">
            <a:avLst/>
          </a:prstGeom>
        </p:spPr>
      </p:pic>
      <p:pic>
        <p:nvPicPr>
          <p:cNvPr id="164" name="Picture 13" descr="image.png">
            <a:extLst>
              <a:ext uri="{FF2B5EF4-FFF2-40B4-BE49-F238E27FC236}">
                <a16:creationId xmlns:a16="http://schemas.microsoft.com/office/drawing/2014/main" id="{B8659DF5-BCF2-8E34-B61A-9934545A2A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4010" y="3366134"/>
            <a:ext cx="217170" cy="251460"/>
          </a:xfrm>
          <a:prstGeom prst="rect">
            <a:avLst/>
          </a:prstGeom>
        </p:spPr>
      </p:pic>
      <p:pic>
        <p:nvPicPr>
          <p:cNvPr id="166" name="Picture 14" descr="image.png">
            <a:extLst>
              <a:ext uri="{FF2B5EF4-FFF2-40B4-BE49-F238E27FC236}">
                <a16:creationId xmlns:a16="http://schemas.microsoft.com/office/drawing/2014/main" id="{563A47BB-9F70-E405-9D76-9A4D02AD73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7435" y="3354704"/>
            <a:ext cx="251460" cy="251460"/>
          </a:xfrm>
          <a:prstGeom prst="rect">
            <a:avLst/>
          </a:prstGeom>
        </p:spPr>
      </p:pic>
      <p:sp>
        <p:nvSpPr>
          <p:cNvPr id="168" name="TextBox 19">
            <a:extLst>
              <a:ext uri="{FF2B5EF4-FFF2-40B4-BE49-F238E27FC236}">
                <a16:creationId xmlns:a16="http://schemas.microsoft.com/office/drawing/2014/main" id="{53B350FE-F6D4-2D96-317F-3122EC240BF7}"/>
              </a:ext>
            </a:extLst>
          </p:cNvPr>
          <p:cNvSpPr txBox="1"/>
          <p:nvPr/>
        </p:nvSpPr>
        <p:spPr>
          <a:xfrm>
            <a:off x="1209724" y="4326756"/>
            <a:ext cx="2754629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15"/>
              </a:lnSpc>
            </a:pPr>
            <a:r>
              <a:rPr sz="2000" dirty="0">
                <a:solidFill>
                  <a:srgbClr val="495851"/>
                </a:solidFill>
              </a:rPr>
              <a:t>Land cover, forests, wetlands, protected areas.</a:t>
            </a:r>
          </a:p>
        </p:txBody>
      </p:sp>
      <p:sp>
        <p:nvSpPr>
          <p:cNvPr id="170" name="TextBox 20">
            <a:extLst>
              <a:ext uri="{FF2B5EF4-FFF2-40B4-BE49-F238E27FC236}">
                <a16:creationId xmlns:a16="http://schemas.microsoft.com/office/drawing/2014/main" id="{71992194-B342-E3D7-BCE9-FC7DBA7BE32B}"/>
              </a:ext>
            </a:extLst>
          </p:cNvPr>
          <p:cNvSpPr txBox="1"/>
          <p:nvPr/>
        </p:nvSpPr>
        <p:spPr>
          <a:xfrm>
            <a:off x="1200150" y="5397871"/>
            <a:ext cx="180196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7C8C84"/>
                </a:solidFill>
              </a:rPr>
              <a:t>Files, codes &amp; portals</a:t>
            </a:r>
          </a:p>
        </p:txBody>
      </p:sp>
      <p:sp>
        <p:nvSpPr>
          <p:cNvPr id="172" name="TextBox 21">
            <a:extLst>
              <a:ext uri="{FF2B5EF4-FFF2-40B4-BE49-F238E27FC236}">
                <a16:creationId xmlns:a16="http://schemas.microsoft.com/office/drawing/2014/main" id="{04A8E46A-C74E-F8BC-044F-32755C87A503}"/>
              </a:ext>
            </a:extLst>
          </p:cNvPr>
          <p:cNvSpPr txBox="1"/>
          <p:nvPr/>
        </p:nvSpPr>
        <p:spPr>
          <a:xfrm>
            <a:off x="4874894" y="4469131"/>
            <a:ext cx="31899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B91C1C"/>
                </a:solidFill>
                <a:latin typeface="Plus Jakarta Sans"/>
              </a:rPr>
              <a:t>GAP</a:t>
            </a:r>
          </a:p>
        </p:txBody>
      </p:sp>
      <p:sp>
        <p:nvSpPr>
          <p:cNvPr id="174" name="TextBox 22">
            <a:extLst>
              <a:ext uri="{FF2B5EF4-FFF2-40B4-BE49-F238E27FC236}">
                <a16:creationId xmlns:a16="http://schemas.microsoft.com/office/drawing/2014/main" id="{EAC4A5F2-96E3-204A-962A-E402EF6D0432}"/>
              </a:ext>
            </a:extLst>
          </p:cNvPr>
          <p:cNvSpPr txBox="1"/>
          <p:nvPr/>
        </p:nvSpPr>
        <p:spPr>
          <a:xfrm>
            <a:off x="5716812" y="4121571"/>
            <a:ext cx="337003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chemeClr val="accent2"/>
                </a:solidFill>
              </a:rPr>
              <a:t>Hard to connect datasets to what is happening in a specific place.</a:t>
            </a:r>
            <a:endParaRPr sz="2000" b="1" dirty="0">
              <a:solidFill>
                <a:schemeClr val="accent2"/>
              </a:solidFill>
            </a:endParaRPr>
          </a:p>
        </p:txBody>
      </p:sp>
      <p:sp>
        <p:nvSpPr>
          <p:cNvPr id="176" name="TextBox 23">
            <a:extLst>
              <a:ext uri="{FF2B5EF4-FFF2-40B4-BE49-F238E27FC236}">
                <a16:creationId xmlns:a16="http://schemas.microsoft.com/office/drawing/2014/main" id="{6DDBE264-C518-7D91-78F6-F3216FE01742}"/>
              </a:ext>
            </a:extLst>
          </p:cNvPr>
          <p:cNvSpPr txBox="1"/>
          <p:nvPr/>
        </p:nvSpPr>
        <p:spPr>
          <a:xfrm>
            <a:off x="5760720" y="5386620"/>
            <a:ext cx="141314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</a:rPr>
              <a:t>Context gets lost</a:t>
            </a:r>
          </a:p>
        </p:txBody>
      </p:sp>
      <p:sp>
        <p:nvSpPr>
          <p:cNvPr id="178" name="TextBox 24">
            <a:extLst>
              <a:ext uri="{FF2B5EF4-FFF2-40B4-BE49-F238E27FC236}">
                <a16:creationId xmlns:a16="http://schemas.microsoft.com/office/drawing/2014/main" id="{BC996E88-D5F6-CD5E-71D3-DA700C65E52A}"/>
              </a:ext>
            </a:extLst>
          </p:cNvPr>
          <p:cNvSpPr txBox="1"/>
          <p:nvPr/>
        </p:nvSpPr>
        <p:spPr>
          <a:xfrm>
            <a:off x="9446894" y="4469131"/>
            <a:ext cx="31899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Plus Jakarta Sans"/>
              </a:rPr>
              <a:t>GAP</a:t>
            </a:r>
          </a:p>
        </p:txBody>
      </p:sp>
      <p:sp>
        <p:nvSpPr>
          <p:cNvPr id="180" name="TextBox 25">
            <a:extLst>
              <a:ext uri="{FF2B5EF4-FFF2-40B4-BE49-F238E27FC236}">
                <a16:creationId xmlns:a16="http://schemas.microsoft.com/office/drawing/2014/main" id="{9B1352E1-2327-DCBA-EC41-F6E08A9B56E7}"/>
              </a:ext>
            </a:extLst>
          </p:cNvPr>
          <p:cNvSpPr txBox="1"/>
          <p:nvPr/>
        </p:nvSpPr>
        <p:spPr>
          <a:xfrm>
            <a:off x="10321290" y="4121571"/>
            <a:ext cx="3222323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sz="2000" dirty="0"/>
              <a:t>Need information they can understand, explain</a:t>
            </a:r>
            <a:r>
              <a:rPr lang="en-US" altLang="zh-CN" sz="2000" dirty="0"/>
              <a:t>,</a:t>
            </a:r>
            <a:r>
              <a:rPr lang="zh-CN" altLang="zh-CN" sz="2000" dirty="0"/>
              <a:t> update</a:t>
            </a:r>
            <a:r>
              <a:rPr lang="en-US" altLang="zh-CN" sz="2000" dirty="0"/>
              <a:t> </a:t>
            </a:r>
            <a:r>
              <a:rPr lang="zh-CN" altLang="zh-CN" sz="2000" dirty="0"/>
              <a:t>and reuse.</a:t>
            </a:r>
            <a:endParaRPr sz="2000" dirty="0">
              <a:solidFill>
                <a:srgbClr val="495851"/>
              </a:solidFill>
            </a:endParaRPr>
          </a:p>
        </p:txBody>
      </p:sp>
      <p:sp>
        <p:nvSpPr>
          <p:cNvPr id="182" name="TextBox 26">
            <a:extLst>
              <a:ext uri="{FF2B5EF4-FFF2-40B4-BE49-F238E27FC236}">
                <a16:creationId xmlns:a16="http://schemas.microsoft.com/office/drawing/2014/main" id="{A92E3765-93F2-D910-DD46-07CFA2502E2F}"/>
              </a:ext>
            </a:extLst>
          </p:cNvPr>
          <p:cNvSpPr txBox="1"/>
          <p:nvPr/>
        </p:nvSpPr>
        <p:spPr>
          <a:xfrm>
            <a:off x="10321290" y="5397871"/>
            <a:ext cx="149617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C8C84"/>
                </a:solidFill>
              </a:rPr>
              <a:t>Not one-off maps</a:t>
            </a:r>
          </a:p>
        </p:txBody>
      </p:sp>
      <p:sp>
        <p:nvSpPr>
          <p:cNvPr id="184" name="TextBox 27">
            <a:extLst>
              <a:ext uri="{FF2B5EF4-FFF2-40B4-BE49-F238E27FC236}">
                <a16:creationId xmlns:a16="http://schemas.microsoft.com/office/drawing/2014/main" id="{F54D472D-B070-35DB-8652-2F05C70389D6}"/>
              </a:ext>
            </a:extLst>
          </p:cNvPr>
          <p:cNvSpPr txBox="1"/>
          <p:nvPr/>
        </p:nvSpPr>
        <p:spPr>
          <a:xfrm>
            <a:off x="1818870" y="3343275"/>
            <a:ext cx="136306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112119"/>
                </a:solidFill>
              </a:rPr>
              <a:t>Open Data</a:t>
            </a:r>
          </a:p>
        </p:txBody>
      </p:sp>
      <p:sp>
        <p:nvSpPr>
          <p:cNvPr id="186" name="TextBox 28">
            <a:extLst>
              <a:ext uri="{FF2B5EF4-FFF2-40B4-BE49-F238E27FC236}">
                <a16:creationId xmlns:a16="http://schemas.microsoft.com/office/drawing/2014/main" id="{0F8C4451-0092-0A5A-5144-59C019FE556C}"/>
              </a:ext>
            </a:extLst>
          </p:cNvPr>
          <p:cNvSpPr txBox="1"/>
          <p:nvPr/>
        </p:nvSpPr>
        <p:spPr>
          <a:xfrm>
            <a:off x="6379440" y="3354705"/>
            <a:ext cx="2541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112119"/>
                </a:solidFill>
              </a:rPr>
              <a:t>The Translation Gap</a:t>
            </a:r>
          </a:p>
        </p:txBody>
      </p:sp>
      <p:sp>
        <p:nvSpPr>
          <p:cNvPr id="188" name="TextBox 29">
            <a:extLst>
              <a:ext uri="{FF2B5EF4-FFF2-40B4-BE49-F238E27FC236}">
                <a16:creationId xmlns:a16="http://schemas.microsoft.com/office/drawing/2014/main" id="{ACA7672B-DEEC-AA89-B922-BB52D8C52C3B}"/>
              </a:ext>
            </a:extLst>
          </p:cNvPr>
          <p:cNvSpPr txBox="1"/>
          <p:nvPr/>
        </p:nvSpPr>
        <p:spPr>
          <a:xfrm>
            <a:off x="10940010" y="3343275"/>
            <a:ext cx="189340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12119"/>
                </a:solidFill>
              </a:rPr>
              <a:t>Local Stewards</a:t>
            </a:r>
          </a:p>
        </p:txBody>
      </p:sp>
      <p:sp>
        <p:nvSpPr>
          <p:cNvPr id="190" name="TextBox 6">
            <a:extLst>
              <a:ext uri="{FF2B5EF4-FFF2-40B4-BE49-F238E27FC236}">
                <a16:creationId xmlns:a16="http://schemas.microsoft.com/office/drawing/2014/main" id="{CA77C37D-8497-5144-7CED-6FB3CF99F779}"/>
              </a:ext>
            </a:extLst>
          </p:cNvPr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63756B"/>
                </a:solidFill>
              </a:rPr>
              <a:t>DESIGN HYPOTHESIS • THE FRICTION LIES BETWEEN DATA PRODUCTS AND PLACE-BASED QUESTIONS</a:t>
            </a:r>
          </a:p>
        </p:txBody>
      </p:sp>
      <p:sp>
        <p:nvSpPr>
          <p:cNvPr id="192" name="TextBox 8">
            <a:extLst>
              <a:ext uri="{FF2B5EF4-FFF2-40B4-BE49-F238E27FC236}">
                <a16:creationId xmlns:a16="http://schemas.microsoft.com/office/drawing/2014/main" id="{27221DB2-9FD7-6EEF-60F7-997216CDA05F}"/>
              </a:ext>
            </a:extLst>
          </p:cNvPr>
          <p:cNvSpPr txBox="1"/>
          <p:nvPr/>
        </p:nvSpPr>
        <p:spPr>
          <a:xfrm>
            <a:off x="530089" y="1033271"/>
            <a:ext cx="13460231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 sz="4320" b="1">
                <a:solidFill>
                  <a:srgbClr val="113B32"/>
                </a:solidFill>
                <a:latin typeface="Inter Display"/>
              </a:defRPr>
            </a:lvl1pPr>
          </a:lstStyle>
          <a:p>
            <a:r>
              <a:rPr lang="zh-CN" altLang="zh-CN" sz="3800" dirty="0"/>
              <a:t>Open environmental data is abundant. Local understanding is not.</a:t>
            </a:r>
            <a:endParaRPr sz="3800" dirty="0"/>
          </a:p>
        </p:txBody>
      </p:sp>
    </p:spTree>
    <p:extLst>
      <p:ext uri="{BB962C8B-B14F-4D97-AF65-F5344CB8AC3E}">
        <p14:creationId xmlns:p14="http://schemas.microsoft.com/office/powerpoint/2010/main" val="26047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DDEFA0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B0C5B6"/>
                </a:solidFill>
              </a:rPr>
              <a:t>CONCEPT / THE PLACE-BASED TRANSLATION LAYER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315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B0C5B6"/>
                </a:solidFill>
              </a:rPr>
              <a:t>PROPOSED INFRASTRUCTURE • SOURCES, CONTEXT AND LOCAL KNOWLEDGE MEET AROUND ONE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B0C5B6"/>
                </a:solidFill>
                <a:latin typeface="Inter"/>
              </a:rPr>
              <a:t>04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2801600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FFFFFF"/>
                </a:solidFill>
              </a:rPr>
              <a:t>What if place became the translation layer?</a:t>
            </a:r>
          </a:p>
        </p:txBody>
      </p:sp>
      <p:sp>
        <p:nvSpPr>
          <p:cNvPr id="10" name="Freeform 9"/>
          <p:cNvSpPr/>
          <p:nvPr/>
        </p:nvSpPr>
        <p:spPr>
          <a:xfrm>
            <a:off x="3090672" y="3575304"/>
            <a:ext cx="2715768" cy="603504"/>
          </a:xfrm>
          <a:custGeom>
            <a:avLst/>
            <a:gdLst/>
            <a:ahLst/>
            <a:cxnLst/>
            <a:rect l="l" t="t" r="r" b="b"/>
            <a:pathLst>
              <a:path w="297" h="66">
                <a:moveTo>
                  <a:pt x="0" y="0"/>
                </a:moveTo>
                <a:lnTo>
                  <a:pt x="10" y="0"/>
                </a:lnTo>
                <a:lnTo>
                  <a:pt x="19" y="0"/>
                </a:lnTo>
                <a:lnTo>
                  <a:pt x="28" y="1"/>
                </a:lnTo>
                <a:lnTo>
                  <a:pt x="37" y="1"/>
                </a:lnTo>
                <a:lnTo>
                  <a:pt x="46" y="2"/>
                </a:lnTo>
                <a:lnTo>
                  <a:pt x="54" y="3"/>
                </a:lnTo>
                <a:lnTo>
                  <a:pt x="62" y="4"/>
                </a:lnTo>
                <a:lnTo>
                  <a:pt x="70" y="5"/>
                </a:lnTo>
                <a:lnTo>
                  <a:pt x="78" y="6"/>
                </a:lnTo>
                <a:lnTo>
                  <a:pt x="86" y="7"/>
                </a:lnTo>
                <a:lnTo>
                  <a:pt x="94" y="9"/>
                </a:lnTo>
                <a:lnTo>
                  <a:pt x="101" y="10"/>
                </a:lnTo>
                <a:lnTo>
                  <a:pt x="109" y="12"/>
                </a:lnTo>
                <a:lnTo>
                  <a:pt x="116" y="13"/>
                </a:lnTo>
                <a:lnTo>
                  <a:pt x="123" y="15"/>
                </a:lnTo>
                <a:lnTo>
                  <a:pt x="130" y="17"/>
                </a:lnTo>
                <a:lnTo>
                  <a:pt x="137" y="19"/>
                </a:lnTo>
                <a:lnTo>
                  <a:pt x="144" y="21"/>
                </a:lnTo>
                <a:lnTo>
                  <a:pt x="151" y="23"/>
                </a:lnTo>
                <a:lnTo>
                  <a:pt x="158" y="25"/>
                </a:lnTo>
                <a:lnTo>
                  <a:pt x="165" y="27"/>
                </a:lnTo>
                <a:lnTo>
                  <a:pt x="171" y="29"/>
                </a:lnTo>
                <a:lnTo>
                  <a:pt x="178" y="31"/>
                </a:lnTo>
                <a:lnTo>
                  <a:pt x="185" y="33"/>
                </a:lnTo>
                <a:lnTo>
                  <a:pt x="191" y="35"/>
                </a:lnTo>
                <a:lnTo>
                  <a:pt x="198" y="38"/>
                </a:lnTo>
                <a:lnTo>
                  <a:pt x="205" y="40"/>
                </a:lnTo>
                <a:lnTo>
                  <a:pt x="211" y="42"/>
                </a:lnTo>
                <a:lnTo>
                  <a:pt x="218" y="44"/>
                </a:lnTo>
                <a:lnTo>
                  <a:pt x="225" y="46"/>
                </a:lnTo>
                <a:lnTo>
                  <a:pt x="232" y="49"/>
                </a:lnTo>
                <a:lnTo>
                  <a:pt x="239" y="51"/>
                </a:lnTo>
                <a:lnTo>
                  <a:pt x="246" y="53"/>
                </a:lnTo>
                <a:lnTo>
                  <a:pt x="253" y="55"/>
                </a:lnTo>
                <a:lnTo>
                  <a:pt x="260" y="57"/>
                </a:lnTo>
                <a:lnTo>
                  <a:pt x="267" y="59"/>
                </a:lnTo>
                <a:lnTo>
                  <a:pt x="274" y="61"/>
                </a:lnTo>
                <a:lnTo>
                  <a:pt x="282" y="63"/>
                </a:lnTo>
                <a:lnTo>
                  <a:pt x="289" y="64"/>
                </a:lnTo>
                <a:lnTo>
                  <a:pt x="297" y="66"/>
                </a:lnTo>
              </a:path>
            </a:pathLst>
          </a:custGeom>
          <a:noFill/>
          <a:ln w="18288">
            <a:solidFill>
              <a:srgbClr val="BAC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3081528" y="5312664"/>
            <a:ext cx="2560320" cy="512064"/>
          </a:xfrm>
          <a:custGeom>
            <a:avLst/>
            <a:gdLst/>
            <a:ahLst/>
            <a:cxnLst/>
            <a:rect l="l" t="t" r="r" b="b"/>
            <a:pathLst>
              <a:path w="280" h="56">
                <a:moveTo>
                  <a:pt x="0" y="56"/>
                </a:moveTo>
                <a:lnTo>
                  <a:pt x="10" y="56"/>
                </a:lnTo>
                <a:lnTo>
                  <a:pt x="20" y="56"/>
                </a:lnTo>
                <a:lnTo>
                  <a:pt x="30" y="55"/>
                </a:lnTo>
                <a:lnTo>
                  <a:pt x="39" y="55"/>
                </a:lnTo>
                <a:lnTo>
                  <a:pt x="48" y="55"/>
                </a:lnTo>
                <a:lnTo>
                  <a:pt x="57" y="54"/>
                </a:lnTo>
                <a:lnTo>
                  <a:pt x="65" y="53"/>
                </a:lnTo>
                <a:lnTo>
                  <a:pt x="73" y="52"/>
                </a:lnTo>
                <a:lnTo>
                  <a:pt x="81" y="51"/>
                </a:lnTo>
                <a:lnTo>
                  <a:pt x="89" y="50"/>
                </a:lnTo>
                <a:lnTo>
                  <a:pt x="96" y="49"/>
                </a:lnTo>
                <a:lnTo>
                  <a:pt x="104" y="48"/>
                </a:lnTo>
                <a:lnTo>
                  <a:pt x="111" y="47"/>
                </a:lnTo>
                <a:lnTo>
                  <a:pt x="117" y="46"/>
                </a:lnTo>
                <a:lnTo>
                  <a:pt x="124" y="44"/>
                </a:lnTo>
                <a:lnTo>
                  <a:pt x="131" y="43"/>
                </a:lnTo>
                <a:lnTo>
                  <a:pt x="137" y="41"/>
                </a:lnTo>
                <a:lnTo>
                  <a:pt x="143" y="40"/>
                </a:lnTo>
                <a:lnTo>
                  <a:pt x="149" y="38"/>
                </a:lnTo>
                <a:lnTo>
                  <a:pt x="155" y="37"/>
                </a:lnTo>
                <a:lnTo>
                  <a:pt x="161" y="35"/>
                </a:lnTo>
                <a:lnTo>
                  <a:pt x="167" y="33"/>
                </a:lnTo>
                <a:lnTo>
                  <a:pt x="173" y="31"/>
                </a:lnTo>
                <a:lnTo>
                  <a:pt x="179" y="30"/>
                </a:lnTo>
                <a:lnTo>
                  <a:pt x="185" y="28"/>
                </a:lnTo>
                <a:lnTo>
                  <a:pt x="191" y="26"/>
                </a:lnTo>
                <a:lnTo>
                  <a:pt x="196" y="24"/>
                </a:lnTo>
                <a:lnTo>
                  <a:pt x="202" y="22"/>
                </a:lnTo>
                <a:lnTo>
                  <a:pt x="208" y="20"/>
                </a:lnTo>
                <a:lnTo>
                  <a:pt x="214" y="18"/>
                </a:lnTo>
                <a:lnTo>
                  <a:pt x="220" y="17"/>
                </a:lnTo>
                <a:lnTo>
                  <a:pt x="226" y="15"/>
                </a:lnTo>
                <a:lnTo>
                  <a:pt x="233" y="13"/>
                </a:lnTo>
                <a:lnTo>
                  <a:pt x="239" y="11"/>
                </a:lnTo>
                <a:lnTo>
                  <a:pt x="245" y="9"/>
                </a:lnTo>
                <a:lnTo>
                  <a:pt x="252" y="7"/>
                </a:lnTo>
                <a:lnTo>
                  <a:pt x="259" y="5"/>
                </a:lnTo>
                <a:lnTo>
                  <a:pt x="266" y="4"/>
                </a:lnTo>
                <a:lnTo>
                  <a:pt x="273" y="2"/>
                </a:lnTo>
                <a:lnTo>
                  <a:pt x="280" y="0"/>
                </a:lnTo>
              </a:path>
            </a:pathLst>
          </a:custGeom>
          <a:noFill/>
          <a:ln w="18288">
            <a:solidFill>
              <a:srgbClr val="BAC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9582912" y="3282696"/>
            <a:ext cx="2194560" cy="694944"/>
          </a:xfrm>
          <a:custGeom>
            <a:avLst/>
            <a:gdLst/>
            <a:ahLst/>
            <a:cxnLst/>
            <a:rect l="l" t="t" r="r" b="b"/>
            <a:pathLst>
              <a:path w="240" h="76">
                <a:moveTo>
                  <a:pt x="0" y="76"/>
                </a:moveTo>
                <a:lnTo>
                  <a:pt x="9" y="73"/>
                </a:lnTo>
                <a:lnTo>
                  <a:pt x="17" y="70"/>
                </a:lnTo>
                <a:lnTo>
                  <a:pt x="26" y="68"/>
                </a:lnTo>
                <a:lnTo>
                  <a:pt x="34" y="65"/>
                </a:lnTo>
                <a:lnTo>
                  <a:pt x="42" y="62"/>
                </a:lnTo>
                <a:lnTo>
                  <a:pt x="49" y="60"/>
                </a:lnTo>
                <a:lnTo>
                  <a:pt x="57" y="57"/>
                </a:lnTo>
                <a:lnTo>
                  <a:pt x="64" y="54"/>
                </a:lnTo>
                <a:lnTo>
                  <a:pt x="71" y="52"/>
                </a:lnTo>
                <a:lnTo>
                  <a:pt x="78" y="49"/>
                </a:lnTo>
                <a:lnTo>
                  <a:pt x="84" y="47"/>
                </a:lnTo>
                <a:lnTo>
                  <a:pt x="91" y="44"/>
                </a:lnTo>
                <a:lnTo>
                  <a:pt x="97" y="42"/>
                </a:lnTo>
                <a:lnTo>
                  <a:pt x="103" y="39"/>
                </a:lnTo>
                <a:lnTo>
                  <a:pt x="109" y="37"/>
                </a:lnTo>
                <a:lnTo>
                  <a:pt x="115" y="34"/>
                </a:lnTo>
                <a:lnTo>
                  <a:pt x="121" y="32"/>
                </a:lnTo>
                <a:lnTo>
                  <a:pt x="126" y="30"/>
                </a:lnTo>
                <a:lnTo>
                  <a:pt x="132" y="28"/>
                </a:lnTo>
                <a:lnTo>
                  <a:pt x="137" y="26"/>
                </a:lnTo>
                <a:lnTo>
                  <a:pt x="143" y="24"/>
                </a:lnTo>
                <a:lnTo>
                  <a:pt x="148" y="22"/>
                </a:lnTo>
                <a:lnTo>
                  <a:pt x="153" y="20"/>
                </a:lnTo>
                <a:lnTo>
                  <a:pt x="158" y="18"/>
                </a:lnTo>
                <a:lnTo>
                  <a:pt x="163" y="16"/>
                </a:lnTo>
                <a:lnTo>
                  <a:pt x="168" y="14"/>
                </a:lnTo>
                <a:lnTo>
                  <a:pt x="173" y="13"/>
                </a:lnTo>
                <a:lnTo>
                  <a:pt x="178" y="11"/>
                </a:lnTo>
                <a:lnTo>
                  <a:pt x="183" y="10"/>
                </a:lnTo>
                <a:lnTo>
                  <a:pt x="188" y="8"/>
                </a:lnTo>
                <a:lnTo>
                  <a:pt x="193" y="7"/>
                </a:lnTo>
                <a:lnTo>
                  <a:pt x="198" y="6"/>
                </a:lnTo>
                <a:lnTo>
                  <a:pt x="203" y="5"/>
                </a:lnTo>
                <a:lnTo>
                  <a:pt x="208" y="4"/>
                </a:lnTo>
                <a:lnTo>
                  <a:pt x="213" y="3"/>
                </a:lnTo>
                <a:lnTo>
                  <a:pt x="219" y="2"/>
                </a:lnTo>
                <a:lnTo>
                  <a:pt x="224" y="1"/>
                </a:lnTo>
                <a:lnTo>
                  <a:pt x="229" y="1"/>
                </a:lnTo>
                <a:lnTo>
                  <a:pt x="235" y="0"/>
                </a:lnTo>
                <a:lnTo>
                  <a:pt x="240" y="0"/>
                </a:lnTo>
              </a:path>
            </a:pathLst>
          </a:custGeom>
          <a:noFill/>
          <a:ln w="18288">
            <a:solidFill>
              <a:srgbClr val="BAC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9646920" y="4718304"/>
            <a:ext cx="2148840" cy="182880"/>
          </a:xfrm>
          <a:custGeom>
            <a:avLst/>
            <a:gdLst/>
            <a:ahLst/>
            <a:cxnLst/>
            <a:rect l="l" t="t" r="r" b="b"/>
            <a:pathLst>
              <a:path w="235" h="20">
                <a:moveTo>
                  <a:pt x="0" y="20"/>
                </a:moveTo>
                <a:lnTo>
                  <a:pt x="8" y="20"/>
                </a:lnTo>
                <a:lnTo>
                  <a:pt x="17" y="20"/>
                </a:lnTo>
                <a:lnTo>
                  <a:pt x="25" y="20"/>
                </a:lnTo>
                <a:lnTo>
                  <a:pt x="32" y="19"/>
                </a:lnTo>
                <a:lnTo>
                  <a:pt x="40" y="19"/>
                </a:lnTo>
                <a:lnTo>
                  <a:pt x="47" y="19"/>
                </a:lnTo>
                <a:lnTo>
                  <a:pt x="54" y="18"/>
                </a:lnTo>
                <a:lnTo>
                  <a:pt x="61" y="18"/>
                </a:lnTo>
                <a:lnTo>
                  <a:pt x="68" y="17"/>
                </a:lnTo>
                <a:lnTo>
                  <a:pt x="74" y="17"/>
                </a:lnTo>
                <a:lnTo>
                  <a:pt x="80" y="16"/>
                </a:lnTo>
                <a:lnTo>
                  <a:pt x="87" y="16"/>
                </a:lnTo>
                <a:lnTo>
                  <a:pt x="93" y="15"/>
                </a:lnTo>
                <a:lnTo>
                  <a:pt x="98" y="14"/>
                </a:lnTo>
                <a:lnTo>
                  <a:pt x="104" y="14"/>
                </a:lnTo>
                <a:lnTo>
                  <a:pt x="110" y="13"/>
                </a:lnTo>
                <a:lnTo>
                  <a:pt x="115" y="12"/>
                </a:lnTo>
                <a:lnTo>
                  <a:pt x="121" y="11"/>
                </a:lnTo>
                <a:lnTo>
                  <a:pt x="126" y="11"/>
                </a:lnTo>
                <a:lnTo>
                  <a:pt x="131" y="10"/>
                </a:lnTo>
                <a:lnTo>
                  <a:pt x="136" y="9"/>
                </a:lnTo>
                <a:lnTo>
                  <a:pt x="141" y="9"/>
                </a:lnTo>
                <a:lnTo>
                  <a:pt x="146" y="8"/>
                </a:lnTo>
                <a:lnTo>
                  <a:pt x="151" y="7"/>
                </a:lnTo>
                <a:lnTo>
                  <a:pt x="156" y="6"/>
                </a:lnTo>
                <a:lnTo>
                  <a:pt x="161" y="6"/>
                </a:lnTo>
                <a:lnTo>
                  <a:pt x="166" y="5"/>
                </a:lnTo>
                <a:lnTo>
                  <a:pt x="171" y="4"/>
                </a:lnTo>
                <a:lnTo>
                  <a:pt x="176" y="4"/>
                </a:lnTo>
                <a:lnTo>
                  <a:pt x="181" y="3"/>
                </a:lnTo>
                <a:lnTo>
                  <a:pt x="186" y="3"/>
                </a:lnTo>
                <a:lnTo>
                  <a:pt x="191" y="2"/>
                </a:lnTo>
                <a:lnTo>
                  <a:pt x="196" y="2"/>
                </a:lnTo>
                <a:lnTo>
                  <a:pt x="202" y="1"/>
                </a:lnTo>
                <a:lnTo>
                  <a:pt x="207" y="1"/>
                </a:lnTo>
                <a:lnTo>
                  <a:pt x="212" y="1"/>
                </a:lnTo>
                <a:lnTo>
                  <a:pt x="218" y="0"/>
                </a:lnTo>
                <a:lnTo>
                  <a:pt x="223" y="0"/>
                </a:lnTo>
                <a:lnTo>
                  <a:pt x="229" y="0"/>
                </a:lnTo>
                <a:lnTo>
                  <a:pt x="235" y="0"/>
                </a:lnTo>
              </a:path>
            </a:pathLst>
          </a:custGeom>
          <a:noFill/>
          <a:ln w="18288">
            <a:solidFill>
              <a:srgbClr val="BAC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9326880" y="5870448"/>
            <a:ext cx="2468880" cy="356616"/>
          </a:xfrm>
          <a:custGeom>
            <a:avLst/>
            <a:gdLst/>
            <a:ahLst/>
            <a:cxnLst/>
            <a:rect l="l" t="t" r="r" b="b"/>
            <a:pathLst>
              <a:path w="270" h="39">
                <a:moveTo>
                  <a:pt x="0" y="0"/>
                </a:moveTo>
                <a:lnTo>
                  <a:pt x="10" y="4"/>
                </a:lnTo>
                <a:lnTo>
                  <a:pt x="20" y="7"/>
                </a:lnTo>
                <a:lnTo>
                  <a:pt x="30" y="10"/>
                </a:lnTo>
                <a:lnTo>
                  <a:pt x="39" y="13"/>
                </a:lnTo>
                <a:lnTo>
                  <a:pt x="48" y="16"/>
                </a:lnTo>
                <a:lnTo>
                  <a:pt x="57" y="19"/>
                </a:lnTo>
                <a:lnTo>
                  <a:pt x="65" y="21"/>
                </a:lnTo>
                <a:lnTo>
                  <a:pt x="74" y="23"/>
                </a:lnTo>
                <a:lnTo>
                  <a:pt x="82" y="25"/>
                </a:lnTo>
                <a:lnTo>
                  <a:pt x="90" y="27"/>
                </a:lnTo>
                <a:lnTo>
                  <a:pt x="98" y="29"/>
                </a:lnTo>
                <a:lnTo>
                  <a:pt x="105" y="30"/>
                </a:lnTo>
                <a:lnTo>
                  <a:pt x="113" y="31"/>
                </a:lnTo>
                <a:lnTo>
                  <a:pt x="120" y="33"/>
                </a:lnTo>
                <a:lnTo>
                  <a:pt x="127" y="34"/>
                </a:lnTo>
                <a:lnTo>
                  <a:pt x="134" y="35"/>
                </a:lnTo>
                <a:lnTo>
                  <a:pt x="140" y="35"/>
                </a:lnTo>
                <a:lnTo>
                  <a:pt x="147" y="36"/>
                </a:lnTo>
                <a:lnTo>
                  <a:pt x="153" y="37"/>
                </a:lnTo>
                <a:lnTo>
                  <a:pt x="160" y="37"/>
                </a:lnTo>
                <a:lnTo>
                  <a:pt x="166" y="38"/>
                </a:lnTo>
                <a:lnTo>
                  <a:pt x="172" y="38"/>
                </a:lnTo>
                <a:lnTo>
                  <a:pt x="178" y="38"/>
                </a:lnTo>
                <a:lnTo>
                  <a:pt x="184" y="38"/>
                </a:lnTo>
                <a:lnTo>
                  <a:pt x="189" y="38"/>
                </a:lnTo>
                <a:lnTo>
                  <a:pt x="195" y="39"/>
                </a:lnTo>
                <a:lnTo>
                  <a:pt x="201" y="39"/>
                </a:lnTo>
                <a:lnTo>
                  <a:pt x="206" y="38"/>
                </a:lnTo>
                <a:lnTo>
                  <a:pt x="212" y="38"/>
                </a:lnTo>
                <a:lnTo>
                  <a:pt x="217" y="38"/>
                </a:lnTo>
                <a:lnTo>
                  <a:pt x="222" y="38"/>
                </a:lnTo>
                <a:lnTo>
                  <a:pt x="228" y="38"/>
                </a:lnTo>
                <a:lnTo>
                  <a:pt x="233" y="38"/>
                </a:lnTo>
                <a:lnTo>
                  <a:pt x="238" y="38"/>
                </a:lnTo>
                <a:lnTo>
                  <a:pt x="244" y="37"/>
                </a:lnTo>
                <a:lnTo>
                  <a:pt x="249" y="37"/>
                </a:lnTo>
                <a:lnTo>
                  <a:pt x="254" y="37"/>
                </a:lnTo>
                <a:lnTo>
                  <a:pt x="259" y="37"/>
                </a:lnTo>
                <a:lnTo>
                  <a:pt x="265" y="37"/>
                </a:lnTo>
                <a:lnTo>
                  <a:pt x="270" y="37"/>
                </a:lnTo>
              </a:path>
            </a:pathLst>
          </a:custGeom>
          <a:noFill/>
          <a:ln w="18288">
            <a:solidFill>
              <a:srgbClr val="BAC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163824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334816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505809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85392" y="3163824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5392" y="3334816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85392" y="3505809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56385" y="3163824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56385" y="3334816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56385" y="3505809"/>
            <a:ext cx="130759" cy="130759"/>
          </a:xfrm>
          <a:prstGeom prst="rect">
            <a:avLst/>
          </a:prstGeom>
          <a:solidFill>
            <a:srgbClr val="386951"/>
          </a:solidFill>
          <a:ln w="7315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3849624"/>
            <a:ext cx="2624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Carbon-relevant open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" y="5248656"/>
            <a:ext cx="416692" cy="544250"/>
          </a:xfrm>
          <a:prstGeom prst="rect">
            <a:avLst/>
          </a:prstGeom>
          <a:solidFill>
            <a:srgbClr val="386951"/>
          </a:solidFill>
          <a:ln w="13716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1234440" y="5248656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  <a:lnTo>
                  <a:pt x="0" y="14"/>
                </a:lnTo>
                <a:close/>
              </a:path>
            </a:pathLst>
          </a:custGeom>
          <a:solidFill>
            <a:srgbClr val="F5F3EC"/>
          </a:solidFill>
          <a:ln w="9144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1018367" y="5478261"/>
            <a:ext cx="221102" cy="0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8367" y="5554797"/>
            <a:ext cx="221102" cy="0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8367" y="5631332"/>
            <a:ext cx="144566" cy="0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6053328"/>
            <a:ext cx="29443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FFF"/>
                </a:solidFill>
              </a:rPr>
              <a:t>Local knowledge</a:t>
            </a:r>
          </a:p>
        </p:txBody>
      </p:sp>
      <p:sp>
        <p:nvSpPr>
          <p:cNvPr id="31" name="Oval 30"/>
          <p:cNvSpPr/>
          <p:nvPr/>
        </p:nvSpPr>
        <p:spPr>
          <a:xfrm>
            <a:off x="4462272" y="2761488"/>
            <a:ext cx="6108192" cy="4133087"/>
          </a:xfrm>
          <a:prstGeom prst="ellipse">
            <a:avLst/>
          </a:prstGeom>
          <a:noFill/>
          <a:ln w="13716">
            <a:solidFill>
              <a:srgbClr val="315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5221224" y="3264408"/>
            <a:ext cx="4590288" cy="3200400"/>
          </a:xfrm>
          <a:custGeom>
            <a:avLst/>
            <a:gdLst/>
            <a:ahLst/>
            <a:cxnLst/>
            <a:rect l="l" t="t" r="r" b="b"/>
            <a:pathLst>
              <a:path w="502" h="350">
                <a:moveTo>
                  <a:pt x="11" y="231"/>
                </a:moveTo>
                <a:lnTo>
                  <a:pt x="95" y="334"/>
                </a:lnTo>
                <a:lnTo>
                  <a:pt x="357" y="350"/>
                </a:lnTo>
                <a:lnTo>
                  <a:pt x="502" y="254"/>
                </a:lnTo>
                <a:lnTo>
                  <a:pt x="496" y="104"/>
                </a:lnTo>
                <a:lnTo>
                  <a:pt x="368" y="16"/>
                </a:lnTo>
                <a:lnTo>
                  <a:pt x="167" y="0"/>
                </a:lnTo>
                <a:lnTo>
                  <a:pt x="0" y="100"/>
                </a:lnTo>
                <a:lnTo>
                  <a:pt x="11" y="231"/>
                </a:lnTo>
                <a:close/>
              </a:path>
            </a:pathLst>
          </a:custGeom>
          <a:solidFill>
            <a:srgbClr val="0B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5221224" y="3209544"/>
            <a:ext cx="4590288" cy="3200400"/>
          </a:xfrm>
          <a:custGeom>
            <a:avLst/>
            <a:gdLst/>
            <a:ahLst/>
            <a:cxnLst/>
            <a:rect l="l" t="t" r="r" b="b"/>
            <a:pathLst>
              <a:path w="502" h="350">
                <a:moveTo>
                  <a:pt x="11" y="231"/>
                </a:moveTo>
                <a:lnTo>
                  <a:pt x="95" y="334"/>
                </a:lnTo>
                <a:lnTo>
                  <a:pt x="357" y="350"/>
                </a:lnTo>
                <a:lnTo>
                  <a:pt x="502" y="254"/>
                </a:lnTo>
                <a:lnTo>
                  <a:pt x="496" y="104"/>
                </a:lnTo>
                <a:lnTo>
                  <a:pt x="368" y="16"/>
                </a:lnTo>
                <a:lnTo>
                  <a:pt x="167" y="0"/>
                </a:lnTo>
                <a:lnTo>
                  <a:pt x="0" y="100"/>
                </a:lnTo>
                <a:lnTo>
                  <a:pt x="11" y="231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5221224" y="3035808"/>
            <a:ext cx="4590288" cy="3200400"/>
          </a:xfrm>
          <a:custGeom>
            <a:avLst/>
            <a:gdLst/>
            <a:ahLst/>
            <a:cxnLst/>
            <a:rect l="l" t="t" r="r" b="b"/>
            <a:pathLst>
              <a:path w="502" h="350">
                <a:moveTo>
                  <a:pt x="11" y="231"/>
                </a:moveTo>
                <a:lnTo>
                  <a:pt x="95" y="334"/>
                </a:lnTo>
                <a:lnTo>
                  <a:pt x="357" y="350"/>
                </a:lnTo>
                <a:lnTo>
                  <a:pt x="502" y="254"/>
                </a:lnTo>
                <a:lnTo>
                  <a:pt x="496" y="104"/>
                </a:lnTo>
                <a:lnTo>
                  <a:pt x="368" y="16"/>
                </a:lnTo>
                <a:lnTo>
                  <a:pt x="167" y="0"/>
                </a:lnTo>
                <a:lnTo>
                  <a:pt x="0" y="100"/>
                </a:lnTo>
                <a:lnTo>
                  <a:pt x="11" y="231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5221224" y="3035808"/>
            <a:ext cx="3264408" cy="2039112"/>
          </a:xfrm>
          <a:custGeom>
            <a:avLst/>
            <a:gdLst/>
            <a:ahLst/>
            <a:cxnLst/>
            <a:rect l="l" t="t" r="r" b="b"/>
            <a:pathLst>
              <a:path w="357" h="223">
                <a:moveTo>
                  <a:pt x="123" y="223"/>
                </a:moveTo>
                <a:lnTo>
                  <a:pt x="240" y="169"/>
                </a:lnTo>
                <a:lnTo>
                  <a:pt x="323" y="96"/>
                </a:lnTo>
                <a:lnTo>
                  <a:pt x="357" y="15"/>
                </a:lnTo>
                <a:lnTo>
                  <a:pt x="167" y="0"/>
                </a:lnTo>
                <a:lnTo>
                  <a:pt x="0" y="100"/>
                </a:lnTo>
                <a:lnTo>
                  <a:pt x="10" y="220"/>
                </a:lnTo>
                <a:lnTo>
                  <a:pt x="123" y="223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5303520" y="4727448"/>
            <a:ext cx="1856232" cy="1426464"/>
          </a:xfrm>
          <a:custGeom>
            <a:avLst/>
            <a:gdLst/>
            <a:ahLst/>
            <a:cxnLst/>
            <a:rect l="l" t="t" r="r" b="b"/>
            <a:pathLst>
              <a:path w="203" h="156">
                <a:moveTo>
                  <a:pt x="203" y="65"/>
                </a:moveTo>
                <a:lnTo>
                  <a:pt x="136" y="0"/>
                </a:lnTo>
                <a:lnTo>
                  <a:pt x="0" y="21"/>
                </a:lnTo>
                <a:lnTo>
                  <a:pt x="2" y="46"/>
                </a:lnTo>
                <a:lnTo>
                  <a:pt x="86" y="149"/>
                </a:lnTo>
                <a:lnTo>
                  <a:pt x="193" y="156"/>
                </a:lnTo>
                <a:lnTo>
                  <a:pt x="203" y="65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7918704" y="4233672"/>
            <a:ext cx="1883664" cy="1929384"/>
          </a:xfrm>
          <a:custGeom>
            <a:avLst/>
            <a:gdLst/>
            <a:ahLst/>
            <a:cxnLst/>
            <a:rect l="l" t="t" r="r" b="b"/>
            <a:pathLst>
              <a:path w="206" h="211">
                <a:moveTo>
                  <a:pt x="201" y="0"/>
                </a:moveTo>
                <a:lnTo>
                  <a:pt x="34" y="38"/>
                </a:lnTo>
                <a:lnTo>
                  <a:pt x="0" y="130"/>
                </a:lnTo>
                <a:lnTo>
                  <a:pt x="56" y="211"/>
                </a:lnTo>
                <a:lnTo>
                  <a:pt x="101" y="193"/>
                </a:lnTo>
                <a:lnTo>
                  <a:pt x="206" y="123"/>
                </a:lnTo>
                <a:lnTo>
                  <a:pt x="201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6729984" y="3090672"/>
            <a:ext cx="1819656" cy="3108960"/>
          </a:xfrm>
          <a:custGeom>
            <a:avLst/>
            <a:gdLst/>
            <a:ahLst/>
            <a:cxnLst/>
            <a:rect l="l" t="t" r="r" b="b"/>
            <a:pathLst>
              <a:path w="199" h="340">
                <a:moveTo>
                  <a:pt x="38" y="82"/>
                </a:moveTo>
                <a:lnTo>
                  <a:pt x="36" y="86"/>
                </a:lnTo>
                <a:lnTo>
                  <a:pt x="34" y="90"/>
                </a:lnTo>
                <a:lnTo>
                  <a:pt x="33" y="94"/>
                </a:lnTo>
                <a:lnTo>
                  <a:pt x="33" y="98"/>
                </a:lnTo>
                <a:lnTo>
                  <a:pt x="33" y="103"/>
                </a:lnTo>
                <a:lnTo>
                  <a:pt x="34" y="107"/>
                </a:lnTo>
                <a:lnTo>
                  <a:pt x="36" y="111"/>
                </a:lnTo>
                <a:lnTo>
                  <a:pt x="55" y="151"/>
                </a:lnTo>
                <a:lnTo>
                  <a:pt x="8" y="204"/>
                </a:lnTo>
                <a:lnTo>
                  <a:pt x="6" y="207"/>
                </a:lnTo>
                <a:lnTo>
                  <a:pt x="3" y="210"/>
                </a:lnTo>
                <a:lnTo>
                  <a:pt x="2" y="214"/>
                </a:lnTo>
                <a:lnTo>
                  <a:pt x="0" y="218"/>
                </a:lnTo>
                <a:lnTo>
                  <a:pt x="0" y="221"/>
                </a:lnTo>
                <a:lnTo>
                  <a:pt x="0" y="225"/>
                </a:lnTo>
                <a:lnTo>
                  <a:pt x="0" y="229"/>
                </a:lnTo>
                <a:lnTo>
                  <a:pt x="1" y="233"/>
                </a:lnTo>
                <a:lnTo>
                  <a:pt x="20" y="301"/>
                </a:lnTo>
                <a:lnTo>
                  <a:pt x="9" y="333"/>
                </a:lnTo>
                <a:lnTo>
                  <a:pt x="127" y="340"/>
                </a:lnTo>
                <a:lnTo>
                  <a:pt x="137" y="311"/>
                </a:lnTo>
                <a:lnTo>
                  <a:pt x="138" y="308"/>
                </a:lnTo>
                <a:lnTo>
                  <a:pt x="139" y="304"/>
                </a:lnTo>
                <a:lnTo>
                  <a:pt x="139" y="301"/>
                </a:lnTo>
                <a:lnTo>
                  <a:pt x="138" y="297"/>
                </a:lnTo>
                <a:lnTo>
                  <a:pt x="138" y="294"/>
                </a:lnTo>
                <a:lnTo>
                  <a:pt x="120" y="232"/>
                </a:lnTo>
                <a:lnTo>
                  <a:pt x="169" y="177"/>
                </a:lnTo>
                <a:lnTo>
                  <a:pt x="172" y="173"/>
                </a:lnTo>
                <a:lnTo>
                  <a:pt x="174" y="170"/>
                </a:lnTo>
                <a:lnTo>
                  <a:pt x="176" y="166"/>
                </a:lnTo>
                <a:lnTo>
                  <a:pt x="177" y="162"/>
                </a:lnTo>
                <a:lnTo>
                  <a:pt x="178" y="158"/>
                </a:lnTo>
                <a:lnTo>
                  <a:pt x="178" y="154"/>
                </a:lnTo>
                <a:lnTo>
                  <a:pt x="177" y="150"/>
                </a:lnTo>
                <a:lnTo>
                  <a:pt x="176" y="147"/>
                </a:lnTo>
                <a:lnTo>
                  <a:pt x="175" y="143"/>
                </a:lnTo>
                <a:lnTo>
                  <a:pt x="154" y="100"/>
                </a:lnTo>
                <a:lnTo>
                  <a:pt x="184" y="53"/>
                </a:lnTo>
                <a:lnTo>
                  <a:pt x="186" y="49"/>
                </a:lnTo>
                <a:lnTo>
                  <a:pt x="188" y="46"/>
                </a:lnTo>
                <a:lnTo>
                  <a:pt x="199" y="9"/>
                </a:lnTo>
                <a:lnTo>
                  <a:pt x="82" y="0"/>
                </a:lnTo>
                <a:lnTo>
                  <a:pt x="75" y="24"/>
                </a:lnTo>
                <a:lnTo>
                  <a:pt x="38" y="82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7132320" y="3127248"/>
            <a:ext cx="1014984" cy="3044952"/>
          </a:xfrm>
          <a:custGeom>
            <a:avLst/>
            <a:gdLst/>
            <a:ahLst/>
            <a:cxnLst/>
            <a:rect l="l" t="t" r="r" b="b"/>
            <a:pathLst>
              <a:path w="111" h="333">
                <a:moveTo>
                  <a:pt x="35" y="90"/>
                </a:moveTo>
                <a:lnTo>
                  <a:pt x="34" y="91"/>
                </a:lnTo>
                <a:lnTo>
                  <a:pt x="34" y="92"/>
                </a:lnTo>
                <a:lnTo>
                  <a:pt x="34" y="93"/>
                </a:lnTo>
                <a:lnTo>
                  <a:pt x="34" y="94"/>
                </a:lnTo>
                <a:lnTo>
                  <a:pt x="34" y="95"/>
                </a:lnTo>
                <a:lnTo>
                  <a:pt x="34" y="96"/>
                </a:lnTo>
                <a:lnTo>
                  <a:pt x="34" y="97"/>
                </a:lnTo>
                <a:lnTo>
                  <a:pt x="60" y="150"/>
                </a:lnTo>
                <a:lnTo>
                  <a:pt x="2" y="216"/>
                </a:lnTo>
                <a:lnTo>
                  <a:pt x="2" y="217"/>
                </a:lnTo>
                <a:lnTo>
                  <a:pt x="1" y="217"/>
                </a:lnTo>
                <a:lnTo>
                  <a:pt x="1" y="218"/>
                </a:lnTo>
                <a:lnTo>
                  <a:pt x="0" y="219"/>
                </a:lnTo>
                <a:lnTo>
                  <a:pt x="0" y="220"/>
                </a:lnTo>
                <a:lnTo>
                  <a:pt x="0" y="221"/>
                </a:lnTo>
                <a:lnTo>
                  <a:pt x="0" y="222"/>
                </a:lnTo>
                <a:lnTo>
                  <a:pt x="0" y="223"/>
                </a:lnTo>
                <a:lnTo>
                  <a:pt x="22" y="297"/>
                </a:lnTo>
                <a:lnTo>
                  <a:pt x="10" y="332"/>
                </a:lnTo>
                <a:lnTo>
                  <a:pt x="38" y="333"/>
                </a:lnTo>
                <a:lnTo>
                  <a:pt x="50" y="300"/>
                </a:lnTo>
                <a:lnTo>
                  <a:pt x="50" y="299"/>
                </a:lnTo>
                <a:lnTo>
                  <a:pt x="50" y="298"/>
                </a:lnTo>
                <a:lnTo>
                  <a:pt x="50" y="297"/>
                </a:lnTo>
                <a:lnTo>
                  <a:pt x="50" y="297"/>
                </a:lnTo>
                <a:lnTo>
                  <a:pt x="50" y="296"/>
                </a:lnTo>
                <a:lnTo>
                  <a:pt x="29" y="223"/>
                </a:lnTo>
                <a:lnTo>
                  <a:pt x="87" y="157"/>
                </a:lnTo>
                <a:lnTo>
                  <a:pt x="88" y="156"/>
                </a:lnTo>
                <a:lnTo>
                  <a:pt x="88" y="155"/>
                </a:lnTo>
                <a:lnTo>
                  <a:pt x="89" y="154"/>
                </a:lnTo>
                <a:lnTo>
                  <a:pt x="89" y="153"/>
                </a:lnTo>
                <a:lnTo>
                  <a:pt x="89" y="152"/>
                </a:lnTo>
                <a:lnTo>
                  <a:pt x="89" y="151"/>
                </a:lnTo>
                <a:lnTo>
                  <a:pt x="89" y="150"/>
                </a:lnTo>
                <a:lnTo>
                  <a:pt x="89" y="149"/>
                </a:lnTo>
                <a:lnTo>
                  <a:pt x="89" y="149"/>
                </a:lnTo>
                <a:lnTo>
                  <a:pt x="62" y="95"/>
                </a:lnTo>
                <a:lnTo>
                  <a:pt x="99" y="36"/>
                </a:lnTo>
                <a:lnTo>
                  <a:pt x="100" y="36"/>
                </a:lnTo>
                <a:lnTo>
                  <a:pt x="100" y="35"/>
                </a:lnTo>
                <a:lnTo>
                  <a:pt x="111" y="2"/>
                </a:lnTo>
                <a:lnTo>
                  <a:pt x="83" y="0"/>
                </a:lnTo>
                <a:lnTo>
                  <a:pt x="73" y="30"/>
                </a:lnTo>
                <a:lnTo>
                  <a:pt x="35" y="90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5266944" y="4306824"/>
            <a:ext cx="4526280" cy="905256"/>
          </a:xfrm>
          <a:custGeom>
            <a:avLst/>
            <a:gdLst/>
            <a:ahLst/>
            <a:cxnLst/>
            <a:rect l="l" t="t" r="r" b="b"/>
            <a:pathLst>
              <a:path w="495" h="99">
                <a:moveTo>
                  <a:pt x="177" y="37"/>
                </a:moveTo>
                <a:lnTo>
                  <a:pt x="271" y="83"/>
                </a:lnTo>
                <a:lnTo>
                  <a:pt x="271" y="83"/>
                </a:lnTo>
                <a:lnTo>
                  <a:pt x="272" y="83"/>
                </a:lnTo>
                <a:lnTo>
                  <a:pt x="272" y="83"/>
                </a:lnTo>
                <a:lnTo>
                  <a:pt x="272" y="84"/>
                </a:lnTo>
                <a:lnTo>
                  <a:pt x="273" y="84"/>
                </a:lnTo>
                <a:lnTo>
                  <a:pt x="401" y="99"/>
                </a:lnTo>
                <a:lnTo>
                  <a:pt x="402" y="99"/>
                </a:lnTo>
                <a:lnTo>
                  <a:pt x="402" y="99"/>
                </a:lnTo>
                <a:lnTo>
                  <a:pt x="403" y="99"/>
                </a:lnTo>
                <a:lnTo>
                  <a:pt x="403" y="99"/>
                </a:lnTo>
                <a:lnTo>
                  <a:pt x="495" y="82"/>
                </a:lnTo>
                <a:lnTo>
                  <a:pt x="495" y="74"/>
                </a:lnTo>
                <a:lnTo>
                  <a:pt x="402" y="92"/>
                </a:lnTo>
                <a:lnTo>
                  <a:pt x="276" y="77"/>
                </a:lnTo>
                <a:lnTo>
                  <a:pt x="182" y="31"/>
                </a:lnTo>
                <a:lnTo>
                  <a:pt x="182" y="31"/>
                </a:lnTo>
                <a:lnTo>
                  <a:pt x="181" y="31"/>
                </a:lnTo>
                <a:lnTo>
                  <a:pt x="87" y="0"/>
                </a:lnTo>
                <a:lnTo>
                  <a:pt x="86" y="0"/>
                </a:lnTo>
                <a:lnTo>
                  <a:pt x="86" y="0"/>
                </a:lnTo>
                <a:lnTo>
                  <a:pt x="85" y="0"/>
                </a:lnTo>
                <a:lnTo>
                  <a:pt x="84" y="0"/>
                </a:lnTo>
                <a:lnTo>
                  <a:pt x="84" y="0"/>
                </a:lnTo>
                <a:lnTo>
                  <a:pt x="83" y="0"/>
                </a:lnTo>
                <a:lnTo>
                  <a:pt x="0" y="12"/>
                </a:lnTo>
                <a:lnTo>
                  <a:pt x="0" y="19"/>
                </a:lnTo>
                <a:lnTo>
                  <a:pt x="84" y="7"/>
                </a:lnTo>
                <a:lnTo>
                  <a:pt x="177" y="37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5422392" y="5266944"/>
            <a:ext cx="1691640" cy="475488"/>
          </a:xfrm>
          <a:custGeom>
            <a:avLst/>
            <a:gdLst/>
            <a:ahLst/>
            <a:cxnLst/>
            <a:rect l="l" t="t" r="r" b="b"/>
            <a:pathLst>
              <a:path w="185" h="52">
                <a:moveTo>
                  <a:pt x="0" y="0"/>
                </a:moveTo>
                <a:lnTo>
                  <a:pt x="185" y="52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5550408" y="5422392"/>
            <a:ext cx="1554480" cy="438912"/>
          </a:xfrm>
          <a:custGeom>
            <a:avLst/>
            <a:gdLst/>
            <a:ahLst/>
            <a:cxnLst/>
            <a:rect l="l" t="t" r="r" b="b"/>
            <a:pathLst>
              <a:path w="170" h="48">
                <a:moveTo>
                  <a:pt x="0" y="0"/>
                </a:moveTo>
                <a:lnTo>
                  <a:pt x="170" y="48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5678424" y="5586984"/>
            <a:ext cx="1408176" cy="393192"/>
          </a:xfrm>
          <a:custGeom>
            <a:avLst/>
            <a:gdLst/>
            <a:ahLst/>
            <a:cxnLst/>
            <a:rect l="l" t="t" r="r" b="b"/>
            <a:pathLst>
              <a:path w="154" h="43">
                <a:moveTo>
                  <a:pt x="0" y="0"/>
                </a:moveTo>
                <a:lnTo>
                  <a:pt x="154" y="43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5806440" y="5742432"/>
            <a:ext cx="1271016" cy="356616"/>
          </a:xfrm>
          <a:custGeom>
            <a:avLst/>
            <a:gdLst/>
            <a:ahLst/>
            <a:cxnLst/>
            <a:rect l="l" t="t" r="r" b="b"/>
            <a:pathLst>
              <a:path w="139" h="39">
                <a:moveTo>
                  <a:pt x="0" y="0"/>
                </a:moveTo>
                <a:lnTo>
                  <a:pt x="139" y="39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5934456" y="5907024"/>
            <a:ext cx="813816" cy="228600"/>
          </a:xfrm>
          <a:custGeom>
            <a:avLst/>
            <a:gdLst/>
            <a:ahLst/>
            <a:cxnLst/>
            <a:rect l="l" t="t" r="r" b="b"/>
            <a:pathLst>
              <a:path w="89" h="25">
                <a:moveTo>
                  <a:pt x="0" y="0"/>
                </a:moveTo>
                <a:lnTo>
                  <a:pt x="89" y="25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reeform 45"/>
          <p:cNvSpPr/>
          <p:nvPr/>
        </p:nvSpPr>
        <p:spPr>
          <a:xfrm>
            <a:off x="6062472" y="6062472"/>
            <a:ext cx="137160" cy="36576"/>
          </a:xfrm>
          <a:custGeom>
            <a:avLst/>
            <a:gdLst/>
            <a:ahLst/>
            <a:cxnLst/>
            <a:rect l="l" t="t" r="r" b="b"/>
            <a:pathLst>
              <a:path w="15" h="4">
                <a:moveTo>
                  <a:pt x="0" y="0"/>
                </a:moveTo>
                <a:lnTo>
                  <a:pt x="15" y="4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027811" y="3486812"/>
            <a:ext cx="182808" cy="113426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068943" y="3499415"/>
            <a:ext cx="63982" cy="3780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641846" y="4710770"/>
            <a:ext cx="193162" cy="119850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685307" y="4724086"/>
            <a:ext cx="67606" cy="3995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534805" y="3962978"/>
            <a:ext cx="202963" cy="125932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580472" y="3976971"/>
            <a:ext cx="71037" cy="4197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856127" y="3191109"/>
            <a:ext cx="196819" cy="122119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900411" y="3204678"/>
            <a:ext cx="68886" cy="4070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15640" y="4788729"/>
            <a:ext cx="232195" cy="144069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467884" y="4804737"/>
            <a:ext cx="81268" cy="4802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51816" y="3171988"/>
            <a:ext cx="217450" cy="134920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500742" y="3186979"/>
            <a:ext cx="76107" cy="4497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753767" y="3558956"/>
            <a:ext cx="168477" cy="104534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791674" y="3570571"/>
            <a:ext cx="58967" cy="3484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01134" y="3171428"/>
            <a:ext cx="209667" cy="130091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848310" y="3185882"/>
            <a:ext cx="73383" cy="4336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602267" y="4758124"/>
            <a:ext cx="209707" cy="130116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649452" y="4772582"/>
            <a:ext cx="73397" cy="4337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954893" y="3062051"/>
            <a:ext cx="223809" cy="138866"/>
          </a:xfrm>
          <a:prstGeom prst="ellipse">
            <a:avLst/>
          </a:prstGeom>
          <a:solidFill>
            <a:srgbClr val="3E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005250" y="3077481"/>
            <a:ext cx="78333" cy="4628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780237" y="3970349"/>
            <a:ext cx="243360" cy="150996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834993" y="3987126"/>
            <a:ext cx="85176" cy="5033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483072" y="4177958"/>
            <a:ext cx="162055" cy="100549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519535" y="4189130"/>
            <a:ext cx="56719" cy="3351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265173" y="3319688"/>
            <a:ext cx="231638" cy="143724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317291" y="3335658"/>
            <a:ext cx="81073" cy="4790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607171" y="3030730"/>
            <a:ext cx="185969" cy="115387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649014" y="3043551"/>
            <a:ext cx="65089" cy="3846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680923" y="3884432"/>
            <a:ext cx="219812" cy="136386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730381" y="3899586"/>
            <a:ext cx="76934" cy="4546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130552" y="3496985"/>
            <a:ext cx="242390" cy="150395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185090" y="3513695"/>
            <a:ext cx="84836" cy="5013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835588" y="4434741"/>
            <a:ext cx="162594" cy="100884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872172" y="4445951"/>
            <a:ext cx="56908" cy="3362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129624" y="4165173"/>
            <a:ext cx="193513" cy="120068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173165" y="4178514"/>
            <a:ext cx="67729" cy="4002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561078" y="3401358"/>
            <a:ext cx="220534" cy="136834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610698" y="3416562"/>
            <a:ext cx="77187" cy="4561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358696" y="4867261"/>
            <a:ext cx="173060" cy="107378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397635" y="4879192"/>
            <a:ext cx="60571" cy="3579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7" name="Connector 86"/>
          <p:cNvCxnSpPr/>
          <p:nvPr/>
        </p:nvCxnSpPr>
        <p:spPr>
          <a:xfrm flipV="1">
            <a:off x="8279709" y="4821552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8190768" y="4791905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279709" y="4762258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" name="Connector 89"/>
          <p:cNvCxnSpPr/>
          <p:nvPr/>
        </p:nvCxnSpPr>
        <p:spPr>
          <a:xfrm flipV="1">
            <a:off x="8697352" y="4821552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608411" y="4791905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697352" y="4762258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 flipV="1">
            <a:off x="9114995" y="4821552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9026054" y="4791905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9114995" y="4762258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6" name="Connector 95"/>
          <p:cNvCxnSpPr/>
          <p:nvPr/>
        </p:nvCxnSpPr>
        <p:spPr>
          <a:xfrm flipV="1">
            <a:off x="8279709" y="5151614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190768" y="5121967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279709" y="5092320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 flipV="1">
            <a:off x="8697352" y="5151614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8608411" y="5121967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697352" y="5092320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9114995" y="5151614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9026054" y="5121967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9114995" y="5092320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8279709" y="5481676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8190768" y="5452029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8279709" y="5422382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8697352" y="5481676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8608411" y="5452029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697352" y="5422382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9114995" y="5481676"/>
            <a:ext cx="0" cy="113647"/>
          </a:xfrm>
          <a:prstGeom prst="line">
            <a:avLst/>
          </a:prstGeom>
          <a:ln w="9882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9026054" y="5452029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9114995" y="5422382"/>
            <a:ext cx="88941" cy="4941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4" name="Connector 113"/>
          <p:cNvCxnSpPr/>
          <p:nvPr/>
        </p:nvCxnSpPr>
        <p:spPr>
          <a:xfrm flipH="1" flipV="1">
            <a:off x="7170956" y="3768340"/>
            <a:ext cx="7836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210135" y="3768340"/>
            <a:ext cx="0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241478" y="3768340"/>
            <a:ext cx="7835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985870" y="4049244"/>
            <a:ext cx="7835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025048" y="4049244"/>
            <a:ext cx="0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056391" y="4049244"/>
            <a:ext cx="7836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6967228" y="4962181"/>
            <a:ext cx="7836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006407" y="4962181"/>
            <a:ext cx="0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037749" y="4962181"/>
            <a:ext cx="7836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7578413" y="5488875"/>
            <a:ext cx="7836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617592" y="5488875"/>
            <a:ext cx="0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648934" y="5488875"/>
            <a:ext cx="7836" cy="78357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Freeform 125"/>
          <p:cNvSpPr/>
          <p:nvPr/>
        </p:nvSpPr>
        <p:spPr>
          <a:xfrm>
            <a:off x="5221224" y="3035808"/>
            <a:ext cx="4590288" cy="3200400"/>
          </a:xfrm>
          <a:custGeom>
            <a:avLst/>
            <a:gdLst/>
            <a:ahLst/>
            <a:cxnLst/>
            <a:rect l="l" t="t" r="r" b="b"/>
            <a:pathLst>
              <a:path w="502" h="350">
                <a:moveTo>
                  <a:pt x="11" y="231"/>
                </a:moveTo>
                <a:lnTo>
                  <a:pt x="95" y="334"/>
                </a:lnTo>
                <a:lnTo>
                  <a:pt x="357" y="350"/>
                </a:lnTo>
                <a:lnTo>
                  <a:pt x="502" y="254"/>
                </a:lnTo>
                <a:lnTo>
                  <a:pt x="496" y="104"/>
                </a:lnTo>
                <a:lnTo>
                  <a:pt x="368" y="16"/>
                </a:lnTo>
                <a:lnTo>
                  <a:pt x="167" y="0"/>
                </a:lnTo>
                <a:lnTo>
                  <a:pt x="0" y="100"/>
                </a:lnTo>
                <a:lnTo>
                  <a:pt x="11" y="231"/>
                </a:lnTo>
                <a:close/>
              </a:path>
            </a:pathLst>
          </a:custGeom>
          <a:noFill/>
          <a:ln w="19202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Freeform 126"/>
          <p:cNvSpPr/>
          <p:nvPr/>
        </p:nvSpPr>
        <p:spPr>
          <a:xfrm>
            <a:off x="6400800" y="4014216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0"/>
                </a:moveTo>
                <a:lnTo>
                  <a:pt x="5" y="9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6377200" y="3910700"/>
            <a:ext cx="137908" cy="137908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6424841" y="3958341"/>
            <a:ext cx="42626" cy="42626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Freeform 129"/>
          <p:cNvSpPr/>
          <p:nvPr/>
        </p:nvSpPr>
        <p:spPr>
          <a:xfrm>
            <a:off x="8641080" y="5212080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5" y="8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8618211" y="5104540"/>
            <a:ext cx="137908" cy="137908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8665852" y="5152182"/>
            <a:ext cx="42626" cy="42626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Freeform 132"/>
          <p:cNvSpPr/>
          <p:nvPr/>
        </p:nvSpPr>
        <p:spPr>
          <a:xfrm>
            <a:off x="7013448" y="5349240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5" y="8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6988384" y="5244992"/>
            <a:ext cx="137908" cy="137908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7036026" y="5292633"/>
            <a:ext cx="42626" cy="42626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6089904" y="6492240"/>
            <a:ext cx="2990088" cy="265176"/>
          </a:xfrm>
          <a:prstGeom prst="roundRect">
            <a:avLst>
              <a:gd name="adj" fmla="val 14000"/>
            </a:avLst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089904" y="6537960"/>
            <a:ext cx="299008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113B32"/>
                </a:solidFill>
              </a:rPr>
              <a:t>CARBON PLACES KIT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1804904" y="2944368"/>
            <a:ext cx="1719072" cy="795528"/>
          </a:xfrm>
          <a:prstGeom prst="roundRect">
            <a:avLst>
              <a:gd name="adj" fmla="val 8000"/>
            </a:avLst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reeform 138"/>
          <p:cNvSpPr/>
          <p:nvPr/>
        </p:nvSpPr>
        <p:spPr>
          <a:xfrm>
            <a:off x="11969496" y="3108960"/>
            <a:ext cx="1389888" cy="438912"/>
          </a:xfrm>
          <a:custGeom>
            <a:avLst/>
            <a:gdLst/>
            <a:ahLst/>
            <a:cxnLst/>
            <a:rect l="l" t="t" r="r" b="b"/>
            <a:pathLst>
              <a:path w="152" h="48">
                <a:moveTo>
                  <a:pt x="0" y="48"/>
                </a:moveTo>
                <a:lnTo>
                  <a:pt x="42" y="10"/>
                </a:lnTo>
                <a:lnTo>
                  <a:pt x="81" y="29"/>
                </a:lnTo>
                <a:lnTo>
                  <a:pt x="115" y="0"/>
                </a:lnTo>
                <a:lnTo>
                  <a:pt x="152" y="28"/>
                </a:lnTo>
              </a:path>
            </a:pathLst>
          </a:custGeom>
          <a:noFill/>
          <a:ln w="18288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1905488" y="3840480"/>
            <a:ext cx="1828800" cy="274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dirty="0">
                <a:solidFill>
                  <a:srgbClr val="FFFFFF"/>
                </a:solidFill>
              </a:rPr>
              <a:t>Place-</a:t>
            </a:r>
            <a:r>
              <a:rPr lang="de-DE" sz="1800" b="1" dirty="0" err="1">
                <a:solidFill>
                  <a:srgbClr val="FFFFFF"/>
                </a:solidFill>
              </a:rPr>
              <a:t>based</a:t>
            </a:r>
            <a:r>
              <a:rPr lang="de-DE" sz="1800" b="1" dirty="0">
                <a:solidFill>
                  <a:srgbClr val="FFFFFF"/>
                </a:solidFill>
              </a:rPr>
              <a:t> </a:t>
            </a:r>
            <a:r>
              <a:rPr lang="de-DE" sz="1800" b="1" dirty="0" err="1">
                <a:solidFill>
                  <a:srgbClr val="FFFFFF"/>
                </a:solidFill>
              </a:rPr>
              <a:t>maps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11804904" y="4590288"/>
            <a:ext cx="182880" cy="411480"/>
          </a:xfrm>
          <a:prstGeom prst="rect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2079224" y="4434840"/>
            <a:ext cx="182880" cy="566928"/>
          </a:xfrm>
          <a:prstGeom prst="rect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2353544" y="4754880"/>
            <a:ext cx="182880" cy="246888"/>
          </a:xfrm>
          <a:prstGeom prst="rect">
            <a:avLst/>
          </a:prstGeom>
          <a:solidFill>
            <a:srgbClr val="7EA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1804904" y="5148072"/>
            <a:ext cx="2286000" cy="274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dirty="0">
                <a:solidFill>
                  <a:srgbClr val="FFFFFF"/>
                </a:solidFill>
              </a:rPr>
              <a:t>Local </a:t>
            </a:r>
            <a:r>
              <a:rPr lang="de-DE" sz="1800" b="1" dirty="0" err="1">
                <a:solidFill>
                  <a:srgbClr val="FFFFFF"/>
                </a:solidFill>
              </a:rPr>
              <a:t>context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11868912" y="5934456"/>
            <a:ext cx="336042" cy="438912"/>
          </a:xfrm>
          <a:prstGeom prst="rect">
            <a:avLst/>
          </a:prstGeom>
          <a:solidFill>
            <a:srgbClr val="386951"/>
          </a:solidFill>
          <a:ln w="13716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reeform 145"/>
          <p:cNvSpPr/>
          <p:nvPr/>
        </p:nvSpPr>
        <p:spPr>
          <a:xfrm>
            <a:off x="12106656" y="5934456"/>
            <a:ext cx="100584" cy="100584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0"/>
                </a:moveTo>
                <a:lnTo>
                  <a:pt x="11" y="11"/>
                </a:lnTo>
                <a:lnTo>
                  <a:pt x="0" y="11"/>
                </a:lnTo>
                <a:close/>
              </a:path>
            </a:pathLst>
          </a:custGeom>
          <a:solidFill>
            <a:srgbClr val="F5F3EC"/>
          </a:solidFill>
          <a:ln w="9144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7" name="Connector 146"/>
          <p:cNvCxnSpPr/>
          <p:nvPr/>
        </p:nvCxnSpPr>
        <p:spPr>
          <a:xfrm>
            <a:off x="11930634" y="6119622"/>
            <a:ext cx="178308" cy="0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1930634" y="6181344"/>
            <a:ext cx="178308" cy="0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930634" y="6243066"/>
            <a:ext cx="116586" cy="0"/>
          </a:xfrm>
          <a:prstGeom prst="line">
            <a:avLst/>
          </a:prstGeom>
          <a:ln w="12801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2353544" y="6080760"/>
            <a:ext cx="1819656" cy="274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dirty="0" err="1">
                <a:solidFill>
                  <a:srgbClr val="FFFFFF"/>
                </a:solidFill>
              </a:rPr>
              <a:t>Traceable</a:t>
            </a:r>
            <a:r>
              <a:rPr lang="de-DE" sz="1800" b="1" dirty="0">
                <a:solidFill>
                  <a:srgbClr val="FFFFFF"/>
                </a:solidFill>
              </a:rPr>
              <a:t> </a:t>
            </a:r>
            <a:r>
              <a:rPr lang="de-DE" sz="1800" b="1" dirty="0" err="1">
                <a:solidFill>
                  <a:srgbClr val="FFFFFF"/>
                </a:solidFill>
              </a:rPr>
              <a:t>sources</a:t>
            </a:r>
            <a:endParaRPr sz="1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386951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63756B"/>
                </a:solidFill>
                <a:latin typeface="Inter"/>
              </a:rPr>
              <a:t>CONCEPT / WHY CARBON, WHY PLACES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63756B"/>
                </a:solidFill>
              </a:rPr>
              <a:t>FIRST USE CASES • CARBON-RELEVANT CONTEXT, NOT CARBON-CREDIT ACCOUNTING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63756B"/>
                </a:solidFill>
                <a:latin typeface="Inter"/>
              </a:rPr>
              <a:t>05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2801600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113B32"/>
                </a:solidFill>
                <a:latin typeface="Inter Display"/>
              </a:rPr>
              <a:t>Start where carbon becomes tangible.</a:t>
            </a:r>
          </a:p>
        </p:txBody>
      </p:sp>
      <p:sp>
        <p:nvSpPr>
          <p:cNvPr id="10" name="Freeform 9"/>
          <p:cNvSpPr/>
          <p:nvPr/>
        </p:nvSpPr>
        <p:spPr>
          <a:xfrm>
            <a:off x="1005840" y="3273552"/>
            <a:ext cx="3456432" cy="1527048"/>
          </a:xfrm>
          <a:custGeom>
            <a:avLst/>
            <a:gdLst/>
            <a:ahLst/>
            <a:cxnLst/>
            <a:rect l="l" t="t" r="r" b="b"/>
            <a:pathLst>
              <a:path w="378" h="167">
                <a:moveTo>
                  <a:pt x="0" y="67"/>
                </a:moveTo>
                <a:lnTo>
                  <a:pt x="172" y="0"/>
                </a:lnTo>
                <a:lnTo>
                  <a:pt x="378" y="73"/>
                </a:lnTo>
                <a:lnTo>
                  <a:pt x="198" y="167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1005840" y="3017520"/>
            <a:ext cx="3456432" cy="1527048"/>
          </a:xfrm>
          <a:custGeom>
            <a:avLst/>
            <a:gdLst/>
            <a:ahLst/>
            <a:cxnLst/>
            <a:rect l="l" t="t" r="r" b="b"/>
            <a:pathLst>
              <a:path w="378" h="167">
                <a:moveTo>
                  <a:pt x="0" y="67"/>
                </a:moveTo>
                <a:lnTo>
                  <a:pt x="172" y="0"/>
                </a:lnTo>
                <a:lnTo>
                  <a:pt x="378" y="73"/>
                </a:lnTo>
                <a:lnTo>
                  <a:pt x="198" y="167"/>
                </a:lnTo>
                <a:close/>
              </a:path>
            </a:pathLst>
          </a:custGeom>
          <a:solidFill>
            <a:srgbClr val="BACCAB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1746504" y="3288182"/>
            <a:ext cx="0" cy="268834"/>
          </a:xfrm>
          <a:prstGeom prst="line">
            <a:avLst/>
          </a:prstGeom>
          <a:ln w="28803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1536192" y="2935224"/>
            <a:ext cx="420624" cy="356616"/>
          </a:xfrm>
          <a:custGeom>
            <a:avLst/>
            <a:gdLst/>
            <a:ahLst/>
            <a:cxnLst/>
            <a:rect l="l" t="t" r="r" b="b"/>
            <a:pathLst>
              <a:path w="46" h="39">
                <a:moveTo>
                  <a:pt x="23" y="0"/>
                </a:moveTo>
                <a:lnTo>
                  <a:pt x="0" y="39"/>
                </a:lnTo>
                <a:lnTo>
                  <a:pt x="46" y="39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1581912" y="2807208"/>
            <a:ext cx="329184" cy="292608"/>
          </a:xfrm>
          <a:custGeom>
            <a:avLst/>
            <a:gdLst/>
            <a:ahLst/>
            <a:cxnLst/>
            <a:rect l="l" t="t" r="r" b="b"/>
            <a:pathLst>
              <a:path w="36" h="32">
                <a:moveTo>
                  <a:pt x="18" y="0"/>
                </a:moveTo>
                <a:lnTo>
                  <a:pt x="0" y="32"/>
                </a:lnTo>
                <a:lnTo>
                  <a:pt x="36" y="32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2295144" y="2986430"/>
            <a:ext cx="0" cy="332842"/>
          </a:xfrm>
          <a:prstGeom prst="line">
            <a:avLst/>
          </a:prstGeom>
          <a:ln w="35661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029968" y="2542032"/>
            <a:ext cx="530352" cy="448056"/>
          </a:xfrm>
          <a:custGeom>
            <a:avLst/>
            <a:gdLst/>
            <a:ahLst/>
            <a:cxnLst/>
            <a:rect l="l" t="t" r="r" b="b"/>
            <a:pathLst>
              <a:path w="58" h="49">
                <a:moveTo>
                  <a:pt x="29" y="0"/>
                </a:moveTo>
                <a:lnTo>
                  <a:pt x="0" y="49"/>
                </a:lnTo>
                <a:lnTo>
                  <a:pt x="58" y="49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2093976" y="2395728"/>
            <a:ext cx="402336" cy="356616"/>
          </a:xfrm>
          <a:custGeom>
            <a:avLst/>
            <a:gdLst/>
            <a:ahLst/>
            <a:cxnLst/>
            <a:rect l="l" t="t" r="r" b="b"/>
            <a:pathLst>
              <a:path w="44" h="39">
                <a:moveTo>
                  <a:pt x="22" y="0"/>
                </a:moveTo>
                <a:lnTo>
                  <a:pt x="0" y="39"/>
                </a:lnTo>
                <a:lnTo>
                  <a:pt x="44" y="39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2779776" y="3414369"/>
            <a:ext cx="0" cy="307239"/>
          </a:xfrm>
          <a:prstGeom prst="line">
            <a:avLst/>
          </a:prstGeom>
          <a:ln w="32918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542032" y="3008376"/>
            <a:ext cx="475488" cy="402336"/>
          </a:xfrm>
          <a:custGeom>
            <a:avLst/>
            <a:gdLst/>
            <a:ahLst/>
            <a:cxnLst/>
            <a:rect l="l" t="t" r="r" b="b"/>
            <a:pathLst>
              <a:path w="52" h="44">
                <a:moveTo>
                  <a:pt x="26" y="0"/>
                </a:moveTo>
                <a:lnTo>
                  <a:pt x="0" y="44"/>
                </a:lnTo>
                <a:lnTo>
                  <a:pt x="52" y="44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2596896" y="2862072"/>
            <a:ext cx="365760" cy="329184"/>
          </a:xfrm>
          <a:custGeom>
            <a:avLst/>
            <a:gdLst/>
            <a:ahLst/>
            <a:cxnLst/>
            <a:rect l="l" t="t" r="r" b="b"/>
            <a:pathLst>
              <a:path w="40" h="36">
                <a:moveTo>
                  <a:pt x="20" y="0"/>
                </a:moveTo>
                <a:lnTo>
                  <a:pt x="0" y="36"/>
                </a:lnTo>
                <a:lnTo>
                  <a:pt x="40" y="36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 flipV="1">
            <a:off x="3392424" y="3324392"/>
            <a:ext cx="0" cy="250912"/>
          </a:xfrm>
          <a:prstGeom prst="line">
            <a:avLst/>
          </a:prstGeom>
          <a:ln w="26883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3191256" y="2990088"/>
            <a:ext cx="402336" cy="338328"/>
          </a:xfrm>
          <a:custGeom>
            <a:avLst/>
            <a:gdLst/>
            <a:ahLst/>
            <a:cxnLst/>
            <a:rect l="l" t="t" r="r" b="b"/>
            <a:pathLst>
              <a:path w="44" h="37">
                <a:moveTo>
                  <a:pt x="22" y="0"/>
                </a:moveTo>
                <a:lnTo>
                  <a:pt x="0" y="37"/>
                </a:lnTo>
                <a:lnTo>
                  <a:pt x="44" y="37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3236976" y="2880360"/>
            <a:ext cx="310896" cy="265176"/>
          </a:xfrm>
          <a:custGeom>
            <a:avLst/>
            <a:gdLst/>
            <a:ahLst/>
            <a:cxnLst/>
            <a:rect l="l" t="t" r="r" b="b"/>
            <a:pathLst>
              <a:path w="34" h="29">
                <a:moveTo>
                  <a:pt x="17" y="0"/>
                </a:moveTo>
                <a:lnTo>
                  <a:pt x="0" y="29"/>
                </a:lnTo>
                <a:lnTo>
                  <a:pt x="34" y="29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2203704" y="3679545"/>
            <a:ext cx="0" cy="243231"/>
          </a:xfrm>
          <a:prstGeom prst="line">
            <a:avLst/>
          </a:prstGeom>
          <a:ln w="2606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011680" y="3355848"/>
            <a:ext cx="384048" cy="320040"/>
          </a:xfrm>
          <a:custGeom>
            <a:avLst/>
            <a:gdLst/>
            <a:ahLst/>
            <a:cxnLst/>
            <a:rect l="l" t="t" r="r" b="b"/>
            <a:pathLst>
              <a:path w="42" h="35">
                <a:moveTo>
                  <a:pt x="21" y="0"/>
                </a:moveTo>
                <a:lnTo>
                  <a:pt x="0" y="35"/>
                </a:lnTo>
                <a:lnTo>
                  <a:pt x="42" y="35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2057400" y="3246120"/>
            <a:ext cx="292608" cy="256032"/>
          </a:xfrm>
          <a:custGeom>
            <a:avLst/>
            <a:gdLst/>
            <a:ahLst/>
            <a:cxnLst/>
            <a:rect l="l" t="t" r="r" b="b"/>
            <a:pathLst>
              <a:path w="32" h="28">
                <a:moveTo>
                  <a:pt x="16" y="0"/>
                </a:moveTo>
                <a:lnTo>
                  <a:pt x="0" y="28"/>
                </a:lnTo>
                <a:lnTo>
                  <a:pt x="32" y="28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V="1">
            <a:off x="3108960" y="3915460"/>
            <a:ext cx="0" cy="217627"/>
          </a:xfrm>
          <a:prstGeom prst="line">
            <a:avLst/>
          </a:prstGeom>
          <a:ln w="23317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935224" y="3630168"/>
            <a:ext cx="347472" cy="283464"/>
          </a:xfrm>
          <a:custGeom>
            <a:avLst/>
            <a:gdLst/>
            <a:ahLst/>
            <a:cxnLst/>
            <a:rect l="l" t="t" r="r" b="b"/>
            <a:pathLst>
              <a:path w="38" h="31">
                <a:moveTo>
                  <a:pt x="19" y="0"/>
                </a:moveTo>
                <a:lnTo>
                  <a:pt x="0" y="31"/>
                </a:lnTo>
                <a:lnTo>
                  <a:pt x="38" y="31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reeform 28"/>
          <p:cNvSpPr/>
          <p:nvPr/>
        </p:nvSpPr>
        <p:spPr>
          <a:xfrm>
            <a:off x="2980944" y="3529584"/>
            <a:ext cx="256032" cy="228600"/>
          </a:xfrm>
          <a:custGeom>
            <a:avLst/>
            <a:gdLst/>
            <a:ahLst/>
            <a:cxnLst/>
            <a:rect l="l" t="t" r="r" b="b"/>
            <a:pathLst>
              <a:path w="28" h="25">
                <a:moveTo>
                  <a:pt x="14" y="0"/>
                </a:moveTo>
                <a:lnTo>
                  <a:pt x="0" y="25"/>
                </a:lnTo>
                <a:lnTo>
                  <a:pt x="28" y="25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102352"/>
            <a:ext cx="380390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13B32"/>
                </a:solidFill>
                <a:latin typeface="Inter"/>
              </a:rPr>
              <a:t>Forests</a:t>
            </a:r>
          </a:p>
        </p:txBody>
      </p:sp>
      <p:sp>
        <p:nvSpPr>
          <p:cNvPr id="31" name="Freeform 30"/>
          <p:cNvSpPr/>
          <p:nvPr/>
        </p:nvSpPr>
        <p:spPr>
          <a:xfrm>
            <a:off x="5650992" y="3273552"/>
            <a:ext cx="3456432" cy="1527048"/>
          </a:xfrm>
          <a:custGeom>
            <a:avLst/>
            <a:gdLst/>
            <a:ahLst/>
            <a:cxnLst/>
            <a:rect l="l" t="t" r="r" b="b"/>
            <a:pathLst>
              <a:path w="378" h="167">
                <a:moveTo>
                  <a:pt x="0" y="67"/>
                </a:moveTo>
                <a:lnTo>
                  <a:pt x="172" y="0"/>
                </a:lnTo>
                <a:lnTo>
                  <a:pt x="378" y="73"/>
                </a:lnTo>
                <a:lnTo>
                  <a:pt x="198" y="167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5650992" y="3017520"/>
            <a:ext cx="3456432" cy="1527048"/>
          </a:xfrm>
          <a:custGeom>
            <a:avLst/>
            <a:gdLst/>
            <a:ahLst/>
            <a:cxnLst/>
            <a:rect l="l" t="t" r="r" b="b"/>
            <a:pathLst>
              <a:path w="378" h="167">
                <a:moveTo>
                  <a:pt x="0" y="67"/>
                </a:moveTo>
                <a:lnTo>
                  <a:pt x="172" y="0"/>
                </a:lnTo>
                <a:lnTo>
                  <a:pt x="378" y="73"/>
                </a:lnTo>
                <a:lnTo>
                  <a:pt x="198" y="167"/>
                </a:lnTo>
                <a:close/>
              </a:path>
            </a:pathLst>
          </a:custGeom>
          <a:solidFill>
            <a:srgbClr val="7EAFB3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6391656" y="3346704"/>
            <a:ext cx="1783080" cy="82296"/>
          </a:xfrm>
          <a:custGeom>
            <a:avLst/>
            <a:gdLst/>
            <a:ahLst/>
            <a:cxnLst/>
            <a:rect l="l" t="t" r="r" b="b"/>
            <a:pathLst>
              <a:path w="195" h="9">
                <a:moveTo>
                  <a:pt x="0" y="4"/>
                </a:moveTo>
                <a:lnTo>
                  <a:pt x="5" y="5"/>
                </a:lnTo>
                <a:lnTo>
                  <a:pt x="10" y="6"/>
                </a:lnTo>
                <a:lnTo>
                  <a:pt x="15" y="7"/>
                </a:lnTo>
                <a:lnTo>
                  <a:pt x="19" y="8"/>
                </a:lnTo>
                <a:lnTo>
                  <a:pt x="24" y="8"/>
                </a:lnTo>
                <a:lnTo>
                  <a:pt x="29" y="9"/>
                </a:lnTo>
                <a:lnTo>
                  <a:pt x="34" y="9"/>
                </a:lnTo>
                <a:lnTo>
                  <a:pt x="39" y="9"/>
                </a:lnTo>
                <a:lnTo>
                  <a:pt x="43" y="9"/>
                </a:lnTo>
                <a:lnTo>
                  <a:pt x="48" y="9"/>
                </a:lnTo>
                <a:lnTo>
                  <a:pt x="53" y="8"/>
                </a:lnTo>
                <a:lnTo>
                  <a:pt x="58" y="8"/>
                </a:lnTo>
                <a:lnTo>
                  <a:pt x="62" y="8"/>
                </a:lnTo>
                <a:lnTo>
                  <a:pt x="67" y="7"/>
                </a:lnTo>
                <a:lnTo>
                  <a:pt x="72" y="7"/>
                </a:lnTo>
                <a:lnTo>
                  <a:pt x="77" y="6"/>
                </a:lnTo>
                <a:lnTo>
                  <a:pt x="81" y="6"/>
                </a:lnTo>
                <a:lnTo>
                  <a:pt x="86" y="5"/>
                </a:lnTo>
                <a:lnTo>
                  <a:pt x="91" y="5"/>
                </a:lnTo>
                <a:lnTo>
                  <a:pt x="96" y="4"/>
                </a:lnTo>
                <a:lnTo>
                  <a:pt x="100" y="4"/>
                </a:lnTo>
                <a:lnTo>
                  <a:pt x="105" y="3"/>
                </a:lnTo>
                <a:lnTo>
                  <a:pt x="110" y="2"/>
                </a:lnTo>
                <a:lnTo>
                  <a:pt x="115" y="2"/>
                </a:lnTo>
                <a:lnTo>
                  <a:pt x="120" y="2"/>
                </a:lnTo>
                <a:lnTo>
                  <a:pt x="125" y="1"/>
                </a:lnTo>
                <a:lnTo>
                  <a:pt x="129" y="1"/>
                </a:lnTo>
                <a:lnTo>
                  <a:pt x="134" y="1"/>
                </a:lnTo>
                <a:lnTo>
                  <a:pt x="139" y="1"/>
                </a:lnTo>
                <a:lnTo>
                  <a:pt x="144" y="0"/>
                </a:lnTo>
                <a:lnTo>
                  <a:pt x="149" y="1"/>
                </a:lnTo>
                <a:lnTo>
                  <a:pt x="154" y="1"/>
                </a:lnTo>
                <a:lnTo>
                  <a:pt x="159" y="1"/>
                </a:lnTo>
                <a:lnTo>
                  <a:pt x="164" y="2"/>
                </a:lnTo>
                <a:lnTo>
                  <a:pt x="169" y="2"/>
                </a:lnTo>
                <a:lnTo>
                  <a:pt x="174" y="3"/>
                </a:lnTo>
                <a:lnTo>
                  <a:pt x="179" y="4"/>
                </a:lnTo>
                <a:lnTo>
                  <a:pt x="185" y="5"/>
                </a:lnTo>
                <a:lnTo>
                  <a:pt x="190" y="6"/>
                </a:lnTo>
                <a:lnTo>
                  <a:pt x="195" y="8"/>
                </a:lnTo>
              </a:path>
            </a:pathLst>
          </a:custGeom>
          <a:noFill/>
          <a:ln w="14630">
            <a:solidFill>
              <a:srgbClr val="F5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6391656" y="3538728"/>
            <a:ext cx="1783080" cy="82296"/>
          </a:xfrm>
          <a:custGeom>
            <a:avLst/>
            <a:gdLst/>
            <a:ahLst/>
            <a:cxnLst/>
            <a:rect l="l" t="t" r="r" b="b"/>
            <a:pathLst>
              <a:path w="195" h="9">
                <a:moveTo>
                  <a:pt x="0" y="4"/>
                </a:moveTo>
                <a:lnTo>
                  <a:pt x="5" y="5"/>
                </a:lnTo>
                <a:lnTo>
                  <a:pt x="10" y="6"/>
                </a:lnTo>
                <a:lnTo>
                  <a:pt x="15" y="7"/>
                </a:lnTo>
                <a:lnTo>
                  <a:pt x="19" y="8"/>
                </a:lnTo>
                <a:lnTo>
                  <a:pt x="24" y="8"/>
                </a:lnTo>
                <a:lnTo>
                  <a:pt x="29" y="9"/>
                </a:lnTo>
                <a:lnTo>
                  <a:pt x="34" y="9"/>
                </a:lnTo>
                <a:lnTo>
                  <a:pt x="39" y="9"/>
                </a:lnTo>
                <a:lnTo>
                  <a:pt x="43" y="9"/>
                </a:lnTo>
                <a:lnTo>
                  <a:pt x="48" y="9"/>
                </a:lnTo>
                <a:lnTo>
                  <a:pt x="53" y="8"/>
                </a:lnTo>
                <a:lnTo>
                  <a:pt x="58" y="8"/>
                </a:lnTo>
                <a:lnTo>
                  <a:pt x="62" y="8"/>
                </a:lnTo>
                <a:lnTo>
                  <a:pt x="67" y="7"/>
                </a:lnTo>
                <a:lnTo>
                  <a:pt x="72" y="7"/>
                </a:lnTo>
                <a:lnTo>
                  <a:pt x="77" y="6"/>
                </a:lnTo>
                <a:lnTo>
                  <a:pt x="81" y="6"/>
                </a:lnTo>
                <a:lnTo>
                  <a:pt x="86" y="5"/>
                </a:lnTo>
                <a:lnTo>
                  <a:pt x="91" y="5"/>
                </a:lnTo>
                <a:lnTo>
                  <a:pt x="96" y="4"/>
                </a:lnTo>
                <a:lnTo>
                  <a:pt x="100" y="4"/>
                </a:lnTo>
                <a:lnTo>
                  <a:pt x="105" y="3"/>
                </a:lnTo>
                <a:lnTo>
                  <a:pt x="110" y="2"/>
                </a:lnTo>
                <a:lnTo>
                  <a:pt x="115" y="2"/>
                </a:lnTo>
                <a:lnTo>
                  <a:pt x="120" y="2"/>
                </a:lnTo>
                <a:lnTo>
                  <a:pt x="125" y="1"/>
                </a:lnTo>
                <a:lnTo>
                  <a:pt x="129" y="1"/>
                </a:lnTo>
                <a:lnTo>
                  <a:pt x="134" y="1"/>
                </a:lnTo>
                <a:lnTo>
                  <a:pt x="139" y="1"/>
                </a:lnTo>
                <a:lnTo>
                  <a:pt x="144" y="0"/>
                </a:lnTo>
                <a:lnTo>
                  <a:pt x="149" y="1"/>
                </a:lnTo>
                <a:lnTo>
                  <a:pt x="154" y="1"/>
                </a:lnTo>
                <a:lnTo>
                  <a:pt x="159" y="1"/>
                </a:lnTo>
                <a:lnTo>
                  <a:pt x="164" y="2"/>
                </a:lnTo>
                <a:lnTo>
                  <a:pt x="169" y="2"/>
                </a:lnTo>
                <a:lnTo>
                  <a:pt x="174" y="3"/>
                </a:lnTo>
                <a:lnTo>
                  <a:pt x="179" y="4"/>
                </a:lnTo>
                <a:lnTo>
                  <a:pt x="185" y="5"/>
                </a:lnTo>
                <a:lnTo>
                  <a:pt x="190" y="6"/>
                </a:lnTo>
                <a:lnTo>
                  <a:pt x="195" y="8"/>
                </a:lnTo>
              </a:path>
            </a:pathLst>
          </a:custGeom>
          <a:noFill/>
          <a:ln w="14630">
            <a:solidFill>
              <a:srgbClr val="F5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6391656" y="3730752"/>
            <a:ext cx="1783080" cy="82296"/>
          </a:xfrm>
          <a:custGeom>
            <a:avLst/>
            <a:gdLst/>
            <a:ahLst/>
            <a:cxnLst/>
            <a:rect l="l" t="t" r="r" b="b"/>
            <a:pathLst>
              <a:path w="195" h="9">
                <a:moveTo>
                  <a:pt x="0" y="4"/>
                </a:moveTo>
                <a:lnTo>
                  <a:pt x="5" y="5"/>
                </a:lnTo>
                <a:lnTo>
                  <a:pt x="10" y="6"/>
                </a:lnTo>
                <a:lnTo>
                  <a:pt x="15" y="7"/>
                </a:lnTo>
                <a:lnTo>
                  <a:pt x="19" y="8"/>
                </a:lnTo>
                <a:lnTo>
                  <a:pt x="24" y="8"/>
                </a:lnTo>
                <a:lnTo>
                  <a:pt x="29" y="9"/>
                </a:lnTo>
                <a:lnTo>
                  <a:pt x="34" y="9"/>
                </a:lnTo>
                <a:lnTo>
                  <a:pt x="39" y="9"/>
                </a:lnTo>
                <a:lnTo>
                  <a:pt x="43" y="9"/>
                </a:lnTo>
                <a:lnTo>
                  <a:pt x="48" y="9"/>
                </a:lnTo>
                <a:lnTo>
                  <a:pt x="53" y="8"/>
                </a:lnTo>
                <a:lnTo>
                  <a:pt x="58" y="8"/>
                </a:lnTo>
                <a:lnTo>
                  <a:pt x="62" y="8"/>
                </a:lnTo>
                <a:lnTo>
                  <a:pt x="67" y="7"/>
                </a:lnTo>
                <a:lnTo>
                  <a:pt x="72" y="7"/>
                </a:lnTo>
                <a:lnTo>
                  <a:pt x="77" y="6"/>
                </a:lnTo>
                <a:lnTo>
                  <a:pt x="81" y="6"/>
                </a:lnTo>
                <a:lnTo>
                  <a:pt x="86" y="5"/>
                </a:lnTo>
                <a:lnTo>
                  <a:pt x="91" y="5"/>
                </a:lnTo>
                <a:lnTo>
                  <a:pt x="96" y="4"/>
                </a:lnTo>
                <a:lnTo>
                  <a:pt x="100" y="4"/>
                </a:lnTo>
                <a:lnTo>
                  <a:pt x="105" y="3"/>
                </a:lnTo>
                <a:lnTo>
                  <a:pt x="110" y="2"/>
                </a:lnTo>
                <a:lnTo>
                  <a:pt x="115" y="2"/>
                </a:lnTo>
                <a:lnTo>
                  <a:pt x="120" y="2"/>
                </a:lnTo>
                <a:lnTo>
                  <a:pt x="125" y="1"/>
                </a:lnTo>
                <a:lnTo>
                  <a:pt x="129" y="1"/>
                </a:lnTo>
                <a:lnTo>
                  <a:pt x="134" y="1"/>
                </a:lnTo>
                <a:lnTo>
                  <a:pt x="139" y="1"/>
                </a:lnTo>
                <a:lnTo>
                  <a:pt x="144" y="0"/>
                </a:lnTo>
                <a:lnTo>
                  <a:pt x="149" y="1"/>
                </a:lnTo>
                <a:lnTo>
                  <a:pt x="154" y="1"/>
                </a:lnTo>
                <a:lnTo>
                  <a:pt x="159" y="1"/>
                </a:lnTo>
                <a:lnTo>
                  <a:pt x="164" y="2"/>
                </a:lnTo>
                <a:lnTo>
                  <a:pt x="169" y="2"/>
                </a:lnTo>
                <a:lnTo>
                  <a:pt x="174" y="3"/>
                </a:lnTo>
                <a:lnTo>
                  <a:pt x="179" y="4"/>
                </a:lnTo>
                <a:lnTo>
                  <a:pt x="185" y="5"/>
                </a:lnTo>
                <a:lnTo>
                  <a:pt x="190" y="6"/>
                </a:lnTo>
                <a:lnTo>
                  <a:pt x="195" y="8"/>
                </a:lnTo>
              </a:path>
            </a:pathLst>
          </a:custGeom>
          <a:noFill/>
          <a:ln w="14630">
            <a:solidFill>
              <a:srgbClr val="F5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6391656" y="3922776"/>
            <a:ext cx="1783080" cy="82296"/>
          </a:xfrm>
          <a:custGeom>
            <a:avLst/>
            <a:gdLst/>
            <a:ahLst/>
            <a:cxnLst/>
            <a:rect l="l" t="t" r="r" b="b"/>
            <a:pathLst>
              <a:path w="195" h="9">
                <a:moveTo>
                  <a:pt x="0" y="4"/>
                </a:moveTo>
                <a:lnTo>
                  <a:pt x="5" y="5"/>
                </a:lnTo>
                <a:lnTo>
                  <a:pt x="10" y="6"/>
                </a:lnTo>
                <a:lnTo>
                  <a:pt x="15" y="7"/>
                </a:lnTo>
                <a:lnTo>
                  <a:pt x="19" y="8"/>
                </a:lnTo>
                <a:lnTo>
                  <a:pt x="24" y="8"/>
                </a:lnTo>
                <a:lnTo>
                  <a:pt x="29" y="9"/>
                </a:lnTo>
                <a:lnTo>
                  <a:pt x="34" y="9"/>
                </a:lnTo>
                <a:lnTo>
                  <a:pt x="39" y="9"/>
                </a:lnTo>
                <a:lnTo>
                  <a:pt x="43" y="9"/>
                </a:lnTo>
                <a:lnTo>
                  <a:pt x="48" y="9"/>
                </a:lnTo>
                <a:lnTo>
                  <a:pt x="53" y="8"/>
                </a:lnTo>
                <a:lnTo>
                  <a:pt x="58" y="8"/>
                </a:lnTo>
                <a:lnTo>
                  <a:pt x="62" y="8"/>
                </a:lnTo>
                <a:lnTo>
                  <a:pt x="67" y="7"/>
                </a:lnTo>
                <a:lnTo>
                  <a:pt x="72" y="7"/>
                </a:lnTo>
                <a:lnTo>
                  <a:pt x="77" y="6"/>
                </a:lnTo>
                <a:lnTo>
                  <a:pt x="81" y="6"/>
                </a:lnTo>
                <a:lnTo>
                  <a:pt x="86" y="5"/>
                </a:lnTo>
                <a:lnTo>
                  <a:pt x="91" y="5"/>
                </a:lnTo>
                <a:lnTo>
                  <a:pt x="96" y="4"/>
                </a:lnTo>
                <a:lnTo>
                  <a:pt x="100" y="4"/>
                </a:lnTo>
                <a:lnTo>
                  <a:pt x="105" y="3"/>
                </a:lnTo>
                <a:lnTo>
                  <a:pt x="110" y="2"/>
                </a:lnTo>
                <a:lnTo>
                  <a:pt x="115" y="2"/>
                </a:lnTo>
                <a:lnTo>
                  <a:pt x="120" y="2"/>
                </a:lnTo>
                <a:lnTo>
                  <a:pt x="125" y="1"/>
                </a:lnTo>
                <a:lnTo>
                  <a:pt x="129" y="1"/>
                </a:lnTo>
                <a:lnTo>
                  <a:pt x="134" y="1"/>
                </a:lnTo>
                <a:lnTo>
                  <a:pt x="139" y="1"/>
                </a:lnTo>
                <a:lnTo>
                  <a:pt x="144" y="0"/>
                </a:lnTo>
                <a:lnTo>
                  <a:pt x="149" y="1"/>
                </a:lnTo>
                <a:lnTo>
                  <a:pt x="154" y="1"/>
                </a:lnTo>
                <a:lnTo>
                  <a:pt x="159" y="1"/>
                </a:lnTo>
                <a:lnTo>
                  <a:pt x="164" y="2"/>
                </a:lnTo>
                <a:lnTo>
                  <a:pt x="169" y="2"/>
                </a:lnTo>
                <a:lnTo>
                  <a:pt x="174" y="3"/>
                </a:lnTo>
                <a:lnTo>
                  <a:pt x="179" y="4"/>
                </a:lnTo>
                <a:lnTo>
                  <a:pt x="185" y="5"/>
                </a:lnTo>
                <a:lnTo>
                  <a:pt x="190" y="6"/>
                </a:lnTo>
                <a:lnTo>
                  <a:pt x="195" y="8"/>
                </a:lnTo>
              </a:path>
            </a:pathLst>
          </a:custGeom>
          <a:noFill/>
          <a:ln w="14630">
            <a:solidFill>
              <a:srgbClr val="F5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6391656" y="4114800"/>
            <a:ext cx="1783080" cy="82296"/>
          </a:xfrm>
          <a:custGeom>
            <a:avLst/>
            <a:gdLst/>
            <a:ahLst/>
            <a:cxnLst/>
            <a:rect l="l" t="t" r="r" b="b"/>
            <a:pathLst>
              <a:path w="195" h="9">
                <a:moveTo>
                  <a:pt x="0" y="4"/>
                </a:moveTo>
                <a:lnTo>
                  <a:pt x="5" y="5"/>
                </a:lnTo>
                <a:lnTo>
                  <a:pt x="10" y="6"/>
                </a:lnTo>
                <a:lnTo>
                  <a:pt x="15" y="7"/>
                </a:lnTo>
                <a:lnTo>
                  <a:pt x="19" y="8"/>
                </a:lnTo>
                <a:lnTo>
                  <a:pt x="24" y="8"/>
                </a:lnTo>
                <a:lnTo>
                  <a:pt x="29" y="9"/>
                </a:lnTo>
                <a:lnTo>
                  <a:pt x="34" y="9"/>
                </a:lnTo>
                <a:lnTo>
                  <a:pt x="39" y="9"/>
                </a:lnTo>
                <a:lnTo>
                  <a:pt x="43" y="9"/>
                </a:lnTo>
                <a:lnTo>
                  <a:pt x="48" y="9"/>
                </a:lnTo>
                <a:lnTo>
                  <a:pt x="53" y="8"/>
                </a:lnTo>
                <a:lnTo>
                  <a:pt x="58" y="8"/>
                </a:lnTo>
                <a:lnTo>
                  <a:pt x="62" y="8"/>
                </a:lnTo>
                <a:lnTo>
                  <a:pt x="67" y="7"/>
                </a:lnTo>
                <a:lnTo>
                  <a:pt x="72" y="7"/>
                </a:lnTo>
                <a:lnTo>
                  <a:pt x="77" y="6"/>
                </a:lnTo>
                <a:lnTo>
                  <a:pt x="81" y="6"/>
                </a:lnTo>
                <a:lnTo>
                  <a:pt x="86" y="5"/>
                </a:lnTo>
                <a:lnTo>
                  <a:pt x="91" y="5"/>
                </a:lnTo>
                <a:lnTo>
                  <a:pt x="96" y="4"/>
                </a:lnTo>
                <a:lnTo>
                  <a:pt x="100" y="4"/>
                </a:lnTo>
                <a:lnTo>
                  <a:pt x="105" y="3"/>
                </a:lnTo>
                <a:lnTo>
                  <a:pt x="110" y="2"/>
                </a:lnTo>
                <a:lnTo>
                  <a:pt x="115" y="2"/>
                </a:lnTo>
                <a:lnTo>
                  <a:pt x="120" y="2"/>
                </a:lnTo>
                <a:lnTo>
                  <a:pt x="125" y="1"/>
                </a:lnTo>
                <a:lnTo>
                  <a:pt x="129" y="1"/>
                </a:lnTo>
                <a:lnTo>
                  <a:pt x="134" y="1"/>
                </a:lnTo>
                <a:lnTo>
                  <a:pt x="139" y="1"/>
                </a:lnTo>
                <a:lnTo>
                  <a:pt x="144" y="0"/>
                </a:lnTo>
                <a:lnTo>
                  <a:pt x="149" y="1"/>
                </a:lnTo>
                <a:lnTo>
                  <a:pt x="154" y="1"/>
                </a:lnTo>
                <a:lnTo>
                  <a:pt x="159" y="1"/>
                </a:lnTo>
                <a:lnTo>
                  <a:pt x="164" y="2"/>
                </a:lnTo>
                <a:lnTo>
                  <a:pt x="169" y="2"/>
                </a:lnTo>
                <a:lnTo>
                  <a:pt x="174" y="3"/>
                </a:lnTo>
                <a:lnTo>
                  <a:pt x="179" y="4"/>
                </a:lnTo>
                <a:lnTo>
                  <a:pt x="185" y="5"/>
                </a:lnTo>
                <a:lnTo>
                  <a:pt x="190" y="6"/>
                </a:lnTo>
                <a:lnTo>
                  <a:pt x="195" y="8"/>
                </a:lnTo>
              </a:path>
            </a:pathLst>
          </a:custGeom>
          <a:noFill/>
          <a:ln w="14630">
            <a:solidFill>
              <a:srgbClr val="F5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6430518" y="3273552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510528" y="3337560"/>
            <a:ext cx="0" cy="310896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574536" y="3273552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7043166" y="3035808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123176" y="3099816"/>
            <a:ext cx="0" cy="310896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187184" y="3035808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7939277" y="3483864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019288" y="3547872"/>
            <a:ext cx="0" cy="310896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083296" y="3483864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7344918" y="3840480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424927" y="3904487"/>
            <a:ext cx="0" cy="310897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488936" y="3840480"/>
            <a:ext cx="16002" cy="374904"/>
          </a:xfrm>
          <a:prstGeom prst="line">
            <a:avLst/>
          </a:prstGeom>
          <a:ln w="19202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31536" y="5102352"/>
            <a:ext cx="380390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13B32"/>
                </a:solidFill>
                <a:latin typeface="Inter"/>
              </a:rPr>
              <a:t>Wetlands</a:t>
            </a:r>
          </a:p>
        </p:txBody>
      </p:sp>
      <p:sp>
        <p:nvSpPr>
          <p:cNvPr id="51" name="Freeform 50"/>
          <p:cNvSpPr/>
          <p:nvPr/>
        </p:nvSpPr>
        <p:spPr>
          <a:xfrm>
            <a:off x="10296144" y="3273552"/>
            <a:ext cx="3456432" cy="1527048"/>
          </a:xfrm>
          <a:custGeom>
            <a:avLst/>
            <a:gdLst/>
            <a:ahLst/>
            <a:cxnLst/>
            <a:rect l="l" t="t" r="r" b="b"/>
            <a:pathLst>
              <a:path w="378" h="167">
                <a:moveTo>
                  <a:pt x="0" y="67"/>
                </a:moveTo>
                <a:lnTo>
                  <a:pt x="172" y="0"/>
                </a:lnTo>
                <a:lnTo>
                  <a:pt x="378" y="73"/>
                </a:lnTo>
                <a:lnTo>
                  <a:pt x="198" y="167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Freeform 51"/>
          <p:cNvSpPr/>
          <p:nvPr/>
        </p:nvSpPr>
        <p:spPr>
          <a:xfrm>
            <a:off x="10296144" y="3017520"/>
            <a:ext cx="3456432" cy="1527048"/>
          </a:xfrm>
          <a:custGeom>
            <a:avLst/>
            <a:gdLst/>
            <a:ahLst/>
            <a:cxnLst/>
            <a:rect l="l" t="t" r="r" b="b"/>
            <a:pathLst>
              <a:path w="378" h="167">
                <a:moveTo>
                  <a:pt x="0" y="67"/>
                </a:moveTo>
                <a:lnTo>
                  <a:pt x="172" y="0"/>
                </a:lnTo>
                <a:lnTo>
                  <a:pt x="378" y="73"/>
                </a:lnTo>
                <a:lnTo>
                  <a:pt x="198" y="167"/>
                </a:lnTo>
                <a:close/>
              </a:path>
            </a:pathLst>
          </a:custGeom>
          <a:solidFill>
            <a:srgbClr val="BACCAB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 flipV="1">
            <a:off x="11073384" y="3374136"/>
            <a:ext cx="0" cy="210312"/>
          </a:xfrm>
          <a:prstGeom prst="line">
            <a:avLst/>
          </a:prstGeom>
          <a:ln w="18288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908792" y="3319272"/>
            <a:ext cx="164592" cy="91440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073384" y="3264408"/>
            <a:ext cx="164592" cy="91440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 flipV="1">
            <a:off x="11731752" y="3193999"/>
            <a:ext cx="0" cy="189281"/>
          </a:xfrm>
          <a:prstGeom prst="line">
            <a:avLst/>
          </a:prstGeom>
          <a:ln w="16459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1583619" y="3144621"/>
            <a:ext cx="148132" cy="82296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731752" y="3095244"/>
            <a:ext cx="148132" cy="82296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 flipV="1">
            <a:off x="12371832" y="3391052"/>
            <a:ext cx="0" cy="220828"/>
          </a:xfrm>
          <a:prstGeom prst="line">
            <a:avLst/>
          </a:prstGeom>
          <a:ln w="19202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2199010" y="3333445"/>
            <a:ext cx="172821" cy="96012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2371832" y="3275838"/>
            <a:ext cx="172821" cy="96012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 flipV="1">
            <a:off x="13021056" y="3599078"/>
            <a:ext cx="0" cy="168250"/>
          </a:xfrm>
          <a:prstGeom prst="line">
            <a:avLst/>
          </a:prstGeom>
          <a:ln w="14630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2889382" y="3555187"/>
            <a:ext cx="131673" cy="73152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3021056" y="3511296"/>
            <a:ext cx="131673" cy="73152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 flipV="1">
            <a:off x="12024360" y="3734409"/>
            <a:ext cx="0" cy="252375"/>
          </a:xfrm>
          <a:prstGeom prst="line">
            <a:avLst/>
          </a:prstGeom>
          <a:ln w="21945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1826849" y="3668572"/>
            <a:ext cx="197510" cy="109728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2024360" y="3602736"/>
            <a:ext cx="197510" cy="109728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 flipV="1">
            <a:off x="11457432" y="3996385"/>
            <a:ext cx="0" cy="136702"/>
          </a:xfrm>
          <a:prstGeom prst="line">
            <a:avLst/>
          </a:prstGeom>
          <a:ln w="11887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350447" y="3960723"/>
            <a:ext cx="106984" cy="59436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457432" y="3925062"/>
            <a:ext cx="106984" cy="59436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 flipV="1">
            <a:off x="12993624" y="3511296"/>
            <a:ext cx="0" cy="502919"/>
          </a:xfrm>
          <a:prstGeom prst="line">
            <a:avLst/>
          </a:prstGeom>
          <a:ln w="18288">
            <a:solidFill>
              <a:srgbClr val="C881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12993624" y="3511296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4" h="15">
                <a:moveTo>
                  <a:pt x="0" y="0"/>
                </a:moveTo>
                <a:lnTo>
                  <a:pt x="24" y="6"/>
                </a:lnTo>
                <a:lnTo>
                  <a:pt x="0" y="15"/>
                </a:lnTo>
                <a:close/>
              </a:path>
            </a:pathLst>
          </a:custGeom>
          <a:solidFill>
            <a:srgbClr val="C88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076688" y="5102352"/>
            <a:ext cx="380390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13B32"/>
                </a:solidFill>
                <a:latin typeface="Inter"/>
              </a:rPr>
              <a:t>Restoration sites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276088" y="3255264"/>
            <a:ext cx="0" cy="246888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921240" y="3255264"/>
            <a:ext cx="0" cy="246888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140964" y="6251498"/>
            <a:ext cx="7964424" cy="809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92" b="1" dirty="0">
                <a:solidFill>
                  <a:srgbClr val="386951"/>
                </a:solidFill>
              </a:rPr>
              <a:t>Make carbon-relevant context understandable.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92" b="1" dirty="0">
                <a:solidFill>
                  <a:srgbClr val="386951"/>
                </a:solidFill>
              </a:rPr>
              <a:t>Keep claims grounded in the evidence.</a:t>
            </a:r>
            <a:endParaRPr sz="2592" b="1" dirty="0">
              <a:solidFill>
                <a:srgbClr val="38695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386951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63756B"/>
                </a:solidFill>
                <a:latin typeface="Inter"/>
              </a:rPr>
              <a:t>INNOVATION / REUSABLE INFRASTRUCTURE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63756B"/>
                </a:solidFill>
              </a:rPr>
              <a:t>TARGET ARCHITECTURE • REUSE MUST BE DEMONSTRATED IN REAL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63756B"/>
                </a:solidFill>
                <a:latin typeface="Inter"/>
              </a:rPr>
              <a:t>06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1402568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113B32"/>
                </a:solidFill>
              </a:rPr>
              <a:t>Not another carbon dashboard.</a:t>
            </a:r>
            <a:r>
              <a:rPr lang="en-US" sz="3800" b="1" dirty="0">
                <a:solidFill>
                  <a:srgbClr val="113B32"/>
                </a:solidFill>
              </a:rPr>
              <a:t> </a:t>
            </a:r>
            <a:r>
              <a:rPr sz="3800" b="1" dirty="0">
                <a:solidFill>
                  <a:srgbClr val="113B32"/>
                </a:solidFill>
              </a:rPr>
              <a:t>A reusable foundation.</a:t>
            </a:r>
          </a:p>
        </p:txBody>
      </p:sp>
      <p:sp>
        <p:nvSpPr>
          <p:cNvPr id="10" name="Freeform 9"/>
          <p:cNvSpPr/>
          <p:nvPr/>
        </p:nvSpPr>
        <p:spPr>
          <a:xfrm>
            <a:off x="1737360" y="6309360"/>
            <a:ext cx="11402568" cy="557784"/>
          </a:xfrm>
          <a:custGeom>
            <a:avLst/>
            <a:gdLst/>
            <a:ahLst/>
            <a:cxnLst/>
            <a:rect l="l" t="t" r="r" b="b"/>
            <a:pathLst>
              <a:path w="1247" h="61">
                <a:moveTo>
                  <a:pt x="0" y="0"/>
                </a:moveTo>
                <a:lnTo>
                  <a:pt x="1067" y="0"/>
                </a:lnTo>
                <a:lnTo>
                  <a:pt x="1247" y="61"/>
                </a:lnTo>
                <a:lnTo>
                  <a:pt x="181" y="61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1737360" y="5879592"/>
            <a:ext cx="1655064" cy="987552"/>
          </a:xfrm>
          <a:custGeom>
            <a:avLst/>
            <a:gdLst/>
            <a:ahLst/>
            <a:cxnLst/>
            <a:rect l="l" t="t" r="r" b="b"/>
            <a:pathLst>
              <a:path w="181" h="108">
                <a:moveTo>
                  <a:pt x="0" y="0"/>
                </a:moveTo>
                <a:lnTo>
                  <a:pt x="181" y="61"/>
                </a:lnTo>
                <a:lnTo>
                  <a:pt x="181" y="108"/>
                </a:lnTo>
                <a:lnTo>
                  <a:pt x="0" y="47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3392424" y="6437376"/>
            <a:ext cx="9747504" cy="429768"/>
          </a:xfrm>
          <a:custGeom>
            <a:avLst/>
            <a:gdLst/>
            <a:ahLst/>
            <a:cxnLst/>
            <a:rect l="l" t="t" r="r" b="b"/>
            <a:pathLst>
              <a:path w="1066" h="47">
                <a:moveTo>
                  <a:pt x="0" y="0"/>
                </a:moveTo>
                <a:lnTo>
                  <a:pt x="1066" y="0"/>
                </a:lnTo>
                <a:lnTo>
                  <a:pt x="106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1737360" y="5879592"/>
            <a:ext cx="11402568" cy="557784"/>
          </a:xfrm>
          <a:custGeom>
            <a:avLst/>
            <a:gdLst/>
            <a:ahLst/>
            <a:cxnLst/>
            <a:rect l="l" t="t" r="r" b="b"/>
            <a:pathLst>
              <a:path w="1247" h="61">
                <a:moveTo>
                  <a:pt x="0" y="0"/>
                </a:moveTo>
                <a:lnTo>
                  <a:pt x="1067" y="0"/>
                </a:lnTo>
                <a:lnTo>
                  <a:pt x="1247" y="61"/>
                </a:lnTo>
                <a:lnTo>
                  <a:pt x="181" y="61"/>
                </a:lnTo>
                <a:close/>
              </a:path>
            </a:pathLst>
          </a:custGeom>
          <a:solidFill>
            <a:srgbClr val="DCE6D3"/>
          </a:solidFill>
          <a:ln w="12801">
            <a:solidFill>
              <a:srgbClr val="386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2743200" y="5852160"/>
            <a:ext cx="2633472" cy="228600"/>
          </a:xfrm>
          <a:custGeom>
            <a:avLst/>
            <a:gdLst/>
            <a:ahLst/>
            <a:cxnLst/>
            <a:rect l="l" t="t" r="r" b="b"/>
            <a:pathLst>
              <a:path w="288" h="25">
                <a:moveTo>
                  <a:pt x="0" y="0"/>
                </a:moveTo>
                <a:lnTo>
                  <a:pt x="213" y="0"/>
                </a:lnTo>
                <a:lnTo>
                  <a:pt x="288" y="25"/>
                </a:lnTo>
                <a:lnTo>
                  <a:pt x="75" y="25"/>
                </a:lnTo>
                <a:close/>
              </a:path>
            </a:pathLst>
          </a:cu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9862" y="6501384"/>
            <a:ext cx="2724912" cy="241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584" b="1" dirty="0">
                <a:solidFill>
                  <a:srgbClr val="FFFFFF"/>
                </a:solidFill>
              </a:rPr>
              <a:t>Data </a:t>
            </a:r>
            <a:r>
              <a:rPr lang="de-DE" sz="1584" b="1" dirty="0" err="1">
                <a:solidFill>
                  <a:srgbClr val="FFFFFF"/>
                </a:solidFill>
              </a:rPr>
              <a:t>connectors</a:t>
            </a:r>
            <a:endParaRPr sz="1584" b="1" dirty="0">
              <a:solidFill>
                <a:srgbClr val="FFFFFF"/>
              </a:solidFill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5760720" y="5852160"/>
            <a:ext cx="2633472" cy="228600"/>
          </a:xfrm>
          <a:custGeom>
            <a:avLst/>
            <a:gdLst/>
            <a:ahLst/>
            <a:cxnLst/>
            <a:rect l="l" t="t" r="r" b="b"/>
            <a:pathLst>
              <a:path w="288" h="25">
                <a:moveTo>
                  <a:pt x="0" y="0"/>
                </a:moveTo>
                <a:lnTo>
                  <a:pt x="213" y="0"/>
                </a:lnTo>
                <a:lnTo>
                  <a:pt x="288" y="25"/>
                </a:lnTo>
                <a:lnTo>
                  <a:pt x="75" y="25"/>
                </a:lnTo>
                <a:close/>
              </a:path>
            </a:pathLst>
          </a:cu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2" y="6501384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</a:rPr>
              <a:t>Place-based processing</a:t>
            </a:r>
          </a:p>
        </p:txBody>
      </p:sp>
      <p:sp>
        <p:nvSpPr>
          <p:cNvPr id="18" name="Freeform 17"/>
          <p:cNvSpPr/>
          <p:nvPr/>
        </p:nvSpPr>
        <p:spPr>
          <a:xfrm>
            <a:off x="9189720" y="5852160"/>
            <a:ext cx="2633472" cy="228600"/>
          </a:xfrm>
          <a:custGeom>
            <a:avLst/>
            <a:gdLst/>
            <a:ahLst/>
            <a:cxnLst/>
            <a:rect l="l" t="t" r="r" b="b"/>
            <a:pathLst>
              <a:path w="288" h="25">
                <a:moveTo>
                  <a:pt x="0" y="0"/>
                </a:moveTo>
                <a:lnTo>
                  <a:pt x="213" y="0"/>
                </a:lnTo>
                <a:lnTo>
                  <a:pt x="288" y="25"/>
                </a:lnTo>
                <a:lnTo>
                  <a:pt x="75" y="25"/>
                </a:lnTo>
                <a:close/>
              </a:path>
            </a:pathLst>
          </a:custGeom>
          <a:solidFill>
            <a:srgbClr val="7EA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6501384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</a:rPr>
              <a:t>Evidence + outputs</a:t>
            </a:r>
          </a:p>
        </p:txBody>
      </p:sp>
      <p:sp>
        <p:nvSpPr>
          <p:cNvPr id="20" name="Freeform 19"/>
          <p:cNvSpPr/>
          <p:nvPr/>
        </p:nvSpPr>
        <p:spPr>
          <a:xfrm>
            <a:off x="2066544" y="3803904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D6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2066544" y="3749040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2066544" y="3694176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2066544" y="3694176"/>
            <a:ext cx="1636776" cy="914400"/>
          </a:xfrm>
          <a:custGeom>
            <a:avLst/>
            <a:gdLst/>
            <a:ahLst/>
            <a:cxnLst/>
            <a:rect l="l" t="t" r="r" b="b"/>
            <a:pathLst>
              <a:path w="179" h="100">
                <a:moveTo>
                  <a:pt x="62" y="100"/>
                </a:moveTo>
                <a:lnTo>
                  <a:pt x="120" y="76"/>
                </a:lnTo>
                <a:lnTo>
                  <a:pt x="162" y="43"/>
                </a:lnTo>
                <a:lnTo>
                  <a:pt x="179" y="6"/>
                </a:lnTo>
                <a:lnTo>
                  <a:pt x="84" y="0"/>
                </a:lnTo>
                <a:lnTo>
                  <a:pt x="0" y="45"/>
                </a:lnTo>
                <a:lnTo>
                  <a:pt x="5" y="99"/>
                </a:lnTo>
                <a:lnTo>
                  <a:pt x="62" y="100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2112264" y="4453128"/>
            <a:ext cx="923544" cy="640080"/>
          </a:xfrm>
          <a:custGeom>
            <a:avLst/>
            <a:gdLst/>
            <a:ahLst/>
            <a:cxnLst/>
            <a:rect l="l" t="t" r="r" b="b"/>
            <a:pathLst>
              <a:path w="101" h="70">
                <a:moveTo>
                  <a:pt x="101" y="29"/>
                </a:moveTo>
                <a:lnTo>
                  <a:pt x="68" y="0"/>
                </a:lnTo>
                <a:lnTo>
                  <a:pt x="0" y="9"/>
                </a:lnTo>
                <a:lnTo>
                  <a:pt x="1" y="21"/>
                </a:lnTo>
                <a:lnTo>
                  <a:pt x="43" y="67"/>
                </a:lnTo>
                <a:lnTo>
                  <a:pt x="96" y="70"/>
                </a:lnTo>
                <a:lnTo>
                  <a:pt x="101" y="29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3419856" y="4233672"/>
            <a:ext cx="941832" cy="868680"/>
          </a:xfrm>
          <a:custGeom>
            <a:avLst/>
            <a:gdLst/>
            <a:ahLst/>
            <a:cxnLst/>
            <a:rect l="l" t="t" r="r" b="b"/>
            <a:pathLst>
              <a:path w="103" h="95">
                <a:moveTo>
                  <a:pt x="100" y="0"/>
                </a:moveTo>
                <a:lnTo>
                  <a:pt x="17" y="17"/>
                </a:lnTo>
                <a:lnTo>
                  <a:pt x="0" y="59"/>
                </a:lnTo>
                <a:lnTo>
                  <a:pt x="28" y="95"/>
                </a:lnTo>
                <a:lnTo>
                  <a:pt x="50" y="87"/>
                </a:lnTo>
                <a:lnTo>
                  <a:pt x="103" y="55"/>
                </a:lnTo>
                <a:lnTo>
                  <a:pt x="100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2816352" y="3721608"/>
            <a:ext cx="923544" cy="1399032"/>
          </a:xfrm>
          <a:custGeom>
            <a:avLst/>
            <a:gdLst/>
            <a:ahLst/>
            <a:cxnLst/>
            <a:rect l="l" t="t" r="r" b="b"/>
            <a:pathLst>
              <a:path w="101" h="153">
                <a:moveTo>
                  <a:pt x="20" y="36"/>
                </a:moveTo>
                <a:lnTo>
                  <a:pt x="19" y="38"/>
                </a:lnTo>
                <a:lnTo>
                  <a:pt x="18" y="40"/>
                </a:lnTo>
                <a:lnTo>
                  <a:pt x="17" y="42"/>
                </a:lnTo>
                <a:lnTo>
                  <a:pt x="17" y="44"/>
                </a:lnTo>
                <a:lnTo>
                  <a:pt x="17" y="46"/>
                </a:lnTo>
                <a:lnTo>
                  <a:pt x="18" y="48"/>
                </a:lnTo>
                <a:lnTo>
                  <a:pt x="19" y="49"/>
                </a:lnTo>
                <a:lnTo>
                  <a:pt x="28" y="67"/>
                </a:lnTo>
                <a:lnTo>
                  <a:pt x="5" y="91"/>
                </a:lnTo>
                <a:lnTo>
                  <a:pt x="3" y="93"/>
                </a:lnTo>
                <a:lnTo>
                  <a:pt x="2" y="94"/>
                </a:lnTo>
                <a:lnTo>
                  <a:pt x="2" y="96"/>
                </a:lnTo>
                <a:lnTo>
                  <a:pt x="1" y="98"/>
                </a:lnTo>
                <a:lnTo>
                  <a:pt x="1" y="99"/>
                </a:lnTo>
                <a:lnTo>
                  <a:pt x="0" y="101"/>
                </a:lnTo>
                <a:lnTo>
                  <a:pt x="1" y="103"/>
                </a:lnTo>
                <a:lnTo>
                  <a:pt x="1" y="104"/>
                </a:lnTo>
                <a:lnTo>
                  <a:pt x="11" y="135"/>
                </a:lnTo>
                <a:lnTo>
                  <a:pt x="5" y="150"/>
                </a:lnTo>
                <a:lnTo>
                  <a:pt x="64" y="153"/>
                </a:lnTo>
                <a:lnTo>
                  <a:pt x="69" y="140"/>
                </a:lnTo>
                <a:lnTo>
                  <a:pt x="70" y="138"/>
                </a:lnTo>
                <a:lnTo>
                  <a:pt x="70" y="137"/>
                </a:lnTo>
                <a:lnTo>
                  <a:pt x="70" y="135"/>
                </a:lnTo>
                <a:lnTo>
                  <a:pt x="70" y="133"/>
                </a:lnTo>
                <a:lnTo>
                  <a:pt x="70" y="132"/>
                </a:lnTo>
                <a:lnTo>
                  <a:pt x="61" y="104"/>
                </a:lnTo>
                <a:lnTo>
                  <a:pt x="85" y="79"/>
                </a:lnTo>
                <a:lnTo>
                  <a:pt x="87" y="78"/>
                </a:lnTo>
                <a:lnTo>
                  <a:pt x="88" y="76"/>
                </a:lnTo>
                <a:lnTo>
                  <a:pt x="89" y="74"/>
                </a:lnTo>
                <a:lnTo>
                  <a:pt x="89" y="73"/>
                </a:lnTo>
                <a:lnTo>
                  <a:pt x="90" y="71"/>
                </a:lnTo>
                <a:lnTo>
                  <a:pt x="90" y="69"/>
                </a:lnTo>
                <a:lnTo>
                  <a:pt x="90" y="67"/>
                </a:lnTo>
                <a:lnTo>
                  <a:pt x="89" y="66"/>
                </a:lnTo>
                <a:lnTo>
                  <a:pt x="88" y="64"/>
                </a:lnTo>
                <a:lnTo>
                  <a:pt x="78" y="45"/>
                </a:lnTo>
                <a:lnTo>
                  <a:pt x="93" y="23"/>
                </a:lnTo>
                <a:lnTo>
                  <a:pt x="94" y="22"/>
                </a:lnTo>
                <a:lnTo>
                  <a:pt x="95" y="20"/>
                </a:lnTo>
                <a:lnTo>
                  <a:pt x="101" y="4"/>
                </a:lnTo>
                <a:lnTo>
                  <a:pt x="42" y="0"/>
                </a:lnTo>
                <a:lnTo>
                  <a:pt x="38" y="10"/>
                </a:lnTo>
                <a:lnTo>
                  <a:pt x="20" y="36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3026664" y="3730752"/>
            <a:ext cx="502920" cy="1371600"/>
          </a:xfrm>
          <a:custGeom>
            <a:avLst/>
            <a:gdLst/>
            <a:ahLst/>
            <a:cxnLst/>
            <a:rect l="l" t="t" r="r" b="b"/>
            <a:pathLst>
              <a:path w="55" h="150">
                <a:moveTo>
                  <a:pt x="17" y="41"/>
                </a:moveTo>
                <a:lnTo>
                  <a:pt x="17" y="41"/>
                </a:lnTo>
                <a:lnTo>
                  <a:pt x="17" y="42"/>
                </a:lnTo>
                <a:lnTo>
                  <a:pt x="17" y="42"/>
                </a:lnTo>
                <a:lnTo>
                  <a:pt x="17" y="43"/>
                </a:lnTo>
                <a:lnTo>
                  <a:pt x="17" y="43"/>
                </a:lnTo>
                <a:lnTo>
                  <a:pt x="17" y="44"/>
                </a:lnTo>
                <a:lnTo>
                  <a:pt x="17" y="44"/>
                </a:lnTo>
                <a:lnTo>
                  <a:pt x="30" y="68"/>
                </a:lnTo>
                <a:lnTo>
                  <a:pt x="1" y="97"/>
                </a:lnTo>
                <a:lnTo>
                  <a:pt x="0" y="98"/>
                </a:lnTo>
                <a:lnTo>
                  <a:pt x="0" y="98"/>
                </a:lnTo>
                <a:lnTo>
                  <a:pt x="0" y="99"/>
                </a:lnTo>
                <a:lnTo>
                  <a:pt x="0" y="99"/>
                </a:lnTo>
                <a:lnTo>
                  <a:pt x="0" y="99"/>
                </a:lnTo>
                <a:lnTo>
                  <a:pt x="0" y="100"/>
                </a:lnTo>
                <a:lnTo>
                  <a:pt x="0" y="100"/>
                </a:lnTo>
                <a:lnTo>
                  <a:pt x="0" y="101"/>
                </a:lnTo>
                <a:lnTo>
                  <a:pt x="11" y="134"/>
                </a:lnTo>
                <a:lnTo>
                  <a:pt x="5" y="150"/>
                </a:lnTo>
                <a:lnTo>
                  <a:pt x="19" y="150"/>
                </a:lnTo>
                <a:lnTo>
                  <a:pt x="25" y="135"/>
                </a:lnTo>
                <a:lnTo>
                  <a:pt x="25" y="135"/>
                </a:lnTo>
                <a:lnTo>
                  <a:pt x="25" y="135"/>
                </a:lnTo>
                <a:lnTo>
                  <a:pt x="25" y="134"/>
                </a:lnTo>
                <a:lnTo>
                  <a:pt x="25" y="134"/>
                </a:lnTo>
                <a:lnTo>
                  <a:pt x="25" y="133"/>
                </a:lnTo>
                <a:lnTo>
                  <a:pt x="14" y="101"/>
                </a:lnTo>
                <a:lnTo>
                  <a:pt x="43" y="71"/>
                </a:lnTo>
                <a:lnTo>
                  <a:pt x="44" y="70"/>
                </a:lnTo>
                <a:lnTo>
                  <a:pt x="44" y="70"/>
                </a:lnTo>
                <a:lnTo>
                  <a:pt x="44" y="70"/>
                </a:lnTo>
                <a:lnTo>
                  <a:pt x="44" y="69"/>
                </a:lnTo>
                <a:lnTo>
                  <a:pt x="44" y="69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4" y="67"/>
                </a:lnTo>
                <a:lnTo>
                  <a:pt x="31" y="43"/>
                </a:lnTo>
                <a:lnTo>
                  <a:pt x="49" y="17"/>
                </a:lnTo>
                <a:lnTo>
                  <a:pt x="50" y="16"/>
                </a:lnTo>
                <a:lnTo>
                  <a:pt x="50" y="16"/>
                </a:lnTo>
                <a:lnTo>
                  <a:pt x="55" y="1"/>
                </a:lnTo>
                <a:lnTo>
                  <a:pt x="41" y="0"/>
                </a:lnTo>
                <a:lnTo>
                  <a:pt x="36" y="14"/>
                </a:lnTo>
                <a:lnTo>
                  <a:pt x="17" y="41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2084832" y="4261104"/>
            <a:ext cx="2276856" cy="411480"/>
          </a:xfrm>
          <a:custGeom>
            <a:avLst/>
            <a:gdLst/>
            <a:ahLst/>
            <a:cxnLst/>
            <a:rect l="l" t="t" r="r" b="b"/>
            <a:pathLst>
              <a:path w="249" h="45">
                <a:moveTo>
                  <a:pt x="89" y="17"/>
                </a:moveTo>
                <a:lnTo>
                  <a:pt x="136" y="38"/>
                </a:lnTo>
                <a:lnTo>
                  <a:pt x="136" y="38"/>
                </a:lnTo>
                <a:lnTo>
                  <a:pt x="137" y="38"/>
                </a:lnTo>
                <a:lnTo>
                  <a:pt x="137" y="38"/>
                </a:lnTo>
                <a:lnTo>
                  <a:pt x="137" y="38"/>
                </a:lnTo>
                <a:lnTo>
                  <a:pt x="137" y="38"/>
                </a:lnTo>
                <a:lnTo>
                  <a:pt x="201" y="45"/>
                </a:lnTo>
                <a:lnTo>
                  <a:pt x="202" y="45"/>
                </a:lnTo>
                <a:lnTo>
                  <a:pt x="202" y="45"/>
                </a:lnTo>
                <a:lnTo>
                  <a:pt x="202" y="45"/>
                </a:lnTo>
                <a:lnTo>
                  <a:pt x="202" y="45"/>
                </a:lnTo>
                <a:lnTo>
                  <a:pt x="249" y="37"/>
                </a:lnTo>
                <a:lnTo>
                  <a:pt x="249" y="34"/>
                </a:lnTo>
                <a:lnTo>
                  <a:pt x="202" y="42"/>
                </a:lnTo>
                <a:lnTo>
                  <a:pt x="139" y="35"/>
                </a:lnTo>
                <a:lnTo>
                  <a:pt x="92" y="14"/>
                </a:lnTo>
                <a:lnTo>
                  <a:pt x="91" y="14"/>
                </a:lnTo>
                <a:lnTo>
                  <a:pt x="91" y="14"/>
                </a:lnTo>
                <a:lnTo>
                  <a:pt x="44" y="1"/>
                </a:lnTo>
                <a:lnTo>
                  <a:pt x="44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2" y="0"/>
                </a:lnTo>
                <a:lnTo>
                  <a:pt x="0" y="6"/>
                </a:lnTo>
                <a:lnTo>
                  <a:pt x="1" y="9"/>
                </a:lnTo>
                <a:lnTo>
                  <a:pt x="42" y="4"/>
                </a:lnTo>
                <a:lnTo>
                  <a:pt x="89" y="17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reeform 28"/>
          <p:cNvSpPr/>
          <p:nvPr/>
        </p:nvSpPr>
        <p:spPr>
          <a:xfrm>
            <a:off x="2066544" y="3694176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noFill/>
          <a:ln w="19202">
            <a:solidFill>
              <a:srgbClr val="113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830616" y="4514850"/>
            <a:ext cx="103692" cy="103692"/>
          </a:xfrm>
          <a:prstGeom prst="ellipse">
            <a:avLst/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01813" y="4647346"/>
            <a:ext cx="161300" cy="195864"/>
          </a:xfrm>
          <a:prstGeom prst="roundRect">
            <a:avLst>
              <a:gd name="adj" fmla="val 22000"/>
            </a:avLst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H="1">
            <a:off x="2830616" y="4820168"/>
            <a:ext cx="17282" cy="126736"/>
          </a:xfrm>
          <a:prstGeom prst="line">
            <a:avLst/>
          </a:prstGeom>
          <a:ln w="28803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17027" y="4820168"/>
            <a:ext cx="17282" cy="126736"/>
          </a:xfrm>
          <a:prstGeom prst="line">
            <a:avLst/>
          </a:prstGeom>
          <a:ln w="28803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076956" y="4453128"/>
            <a:ext cx="123444" cy="123444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042666" y="4610862"/>
            <a:ext cx="192024" cy="233172"/>
          </a:xfrm>
          <a:prstGeom prst="roundRect">
            <a:avLst>
              <a:gd name="adj" fmla="val 22000"/>
            </a:avLst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 flipH="1">
            <a:off x="3076956" y="4816602"/>
            <a:ext cx="20574" cy="150876"/>
          </a:xfrm>
          <a:prstGeom prst="line">
            <a:avLst/>
          </a:prstGeom>
          <a:ln w="3429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179826" y="4816602"/>
            <a:ext cx="20574" cy="150876"/>
          </a:xfrm>
          <a:prstGeom prst="line">
            <a:avLst/>
          </a:prstGeom>
          <a:ln w="3429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322746" y="4535424"/>
            <a:ext cx="101224" cy="101224"/>
          </a:xfrm>
          <a:prstGeom prst="ellipse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294628" y="4664765"/>
            <a:ext cx="157459" cy="191201"/>
          </a:xfrm>
          <a:prstGeom prst="roundRect">
            <a:avLst>
              <a:gd name="adj" fmla="val 22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 flipH="1">
            <a:off x="3322746" y="4833472"/>
            <a:ext cx="16871" cy="123719"/>
          </a:xfrm>
          <a:prstGeom prst="line">
            <a:avLst/>
          </a:prstGeom>
          <a:ln w="28117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07100" y="4833472"/>
            <a:ext cx="16870" cy="123719"/>
          </a:xfrm>
          <a:prstGeom prst="line">
            <a:avLst/>
          </a:prstGeom>
          <a:ln w="28117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328416" y="5230368"/>
            <a:ext cx="0" cy="448056"/>
          </a:xfrm>
          <a:prstGeom prst="line">
            <a:avLst/>
          </a:prstGeom>
          <a:ln w="18288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273552" y="5632704"/>
            <a:ext cx="109728" cy="109728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627632" y="2944368"/>
            <a:ext cx="326440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113B32"/>
                </a:solidFill>
              </a:rPr>
              <a:t>Forest group</a:t>
            </a:r>
          </a:p>
        </p:txBody>
      </p:sp>
      <p:sp>
        <p:nvSpPr>
          <p:cNvPr id="45" name="Freeform 44"/>
          <p:cNvSpPr/>
          <p:nvPr/>
        </p:nvSpPr>
        <p:spPr>
          <a:xfrm>
            <a:off x="6080760" y="3803904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D6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reeform 45"/>
          <p:cNvSpPr/>
          <p:nvPr/>
        </p:nvSpPr>
        <p:spPr>
          <a:xfrm>
            <a:off x="6080760" y="3749040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Freeform 46"/>
          <p:cNvSpPr/>
          <p:nvPr/>
        </p:nvSpPr>
        <p:spPr>
          <a:xfrm>
            <a:off x="6080760" y="3694176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reeform 47"/>
          <p:cNvSpPr/>
          <p:nvPr/>
        </p:nvSpPr>
        <p:spPr>
          <a:xfrm>
            <a:off x="6080760" y="3694176"/>
            <a:ext cx="1636776" cy="914400"/>
          </a:xfrm>
          <a:custGeom>
            <a:avLst/>
            <a:gdLst/>
            <a:ahLst/>
            <a:cxnLst/>
            <a:rect l="l" t="t" r="r" b="b"/>
            <a:pathLst>
              <a:path w="179" h="100">
                <a:moveTo>
                  <a:pt x="62" y="100"/>
                </a:moveTo>
                <a:lnTo>
                  <a:pt x="120" y="76"/>
                </a:lnTo>
                <a:lnTo>
                  <a:pt x="162" y="43"/>
                </a:lnTo>
                <a:lnTo>
                  <a:pt x="179" y="6"/>
                </a:lnTo>
                <a:lnTo>
                  <a:pt x="84" y="0"/>
                </a:lnTo>
                <a:lnTo>
                  <a:pt x="0" y="45"/>
                </a:lnTo>
                <a:lnTo>
                  <a:pt x="5" y="99"/>
                </a:lnTo>
                <a:lnTo>
                  <a:pt x="62" y="100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reeform 48"/>
          <p:cNvSpPr/>
          <p:nvPr/>
        </p:nvSpPr>
        <p:spPr>
          <a:xfrm>
            <a:off x="6126480" y="4453128"/>
            <a:ext cx="923544" cy="640080"/>
          </a:xfrm>
          <a:custGeom>
            <a:avLst/>
            <a:gdLst/>
            <a:ahLst/>
            <a:cxnLst/>
            <a:rect l="l" t="t" r="r" b="b"/>
            <a:pathLst>
              <a:path w="101" h="70">
                <a:moveTo>
                  <a:pt x="101" y="29"/>
                </a:moveTo>
                <a:lnTo>
                  <a:pt x="68" y="0"/>
                </a:lnTo>
                <a:lnTo>
                  <a:pt x="0" y="9"/>
                </a:lnTo>
                <a:lnTo>
                  <a:pt x="1" y="21"/>
                </a:lnTo>
                <a:lnTo>
                  <a:pt x="43" y="67"/>
                </a:lnTo>
                <a:lnTo>
                  <a:pt x="96" y="70"/>
                </a:lnTo>
                <a:lnTo>
                  <a:pt x="101" y="29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 49"/>
          <p:cNvSpPr/>
          <p:nvPr/>
        </p:nvSpPr>
        <p:spPr>
          <a:xfrm>
            <a:off x="7434072" y="4233672"/>
            <a:ext cx="941832" cy="868680"/>
          </a:xfrm>
          <a:custGeom>
            <a:avLst/>
            <a:gdLst/>
            <a:ahLst/>
            <a:cxnLst/>
            <a:rect l="l" t="t" r="r" b="b"/>
            <a:pathLst>
              <a:path w="103" h="95">
                <a:moveTo>
                  <a:pt x="100" y="0"/>
                </a:moveTo>
                <a:lnTo>
                  <a:pt x="17" y="17"/>
                </a:lnTo>
                <a:lnTo>
                  <a:pt x="0" y="59"/>
                </a:lnTo>
                <a:lnTo>
                  <a:pt x="28" y="95"/>
                </a:lnTo>
                <a:lnTo>
                  <a:pt x="50" y="87"/>
                </a:lnTo>
                <a:lnTo>
                  <a:pt x="103" y="55"/>
                </a:lnTo>
                <a:lnTo>
                  <a:pt x="100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reeform 50"/>
          <p:cNvSpPr/>
          <p:nvPr/>
        </p:nvSpPr>
        <p:spPr>
          <a:xfrm>
            <a:off x="6830568" y="3721608"/>
            <a:ext cx="923544" cy="1399032"/>
          </a:xfrm>
          <a:custGeom>
            <a:avLst/>
            <a:gdLst/>
            <a:ahLst/>
            <a:cxnLst/>
            <a:rect l="l" t="t" r="r" b="b"/>
            <a:pathLst>
              <a:path w="101" h="153">
                <a:moveTo>
                  <a:pt x="20" y="36"/>
                </a:moveTo>
                <a:lnTo>
                  <a:pt x="19" y="38"/>
                </a:lnTo>
                <a:lnTo>
                  <a:pt x="18" y="40"/>
                </a:lnTo>
                <a:lnTo>
                  <a:pt x="17" y="42"/>
                </a:lnTo>
                <a:lnTo>
                  <a:pt x="17" y="44"/>
                </a:lnTo>
                <a:lnTo>
                  <a:pt x="17" y="46"/>
                </a:lnTo>
                <a:lnTo>
                  <a:pt x="18" y="48"/>
                </a:lnTo>
                <a:lnTo>
                  <a:pt x="19" y="49"/>
                </a:lnTo>
                <a:lnTo>
                  <a:pt x="28" y="67"/>
                </a:lnTo>
                <a:lnTo>
                  <a:pt x="5" y="91"/>
                </a:lnTo>
                <a:lnTo>
                  <a:pt x="3" y="93"/>
                </a:lnTo>
                <a:lnTo>
                  <a:pt x="2" y="94"/>
                </a:lnTo>
                <a:lnTo>
                  <a:pt x="2" y="96"/>
                </a:lnTo>
                <a:lnTo>
                  <a:pt x="1" y="98"/>
                </a:lnTo>
                <a:lnTo>
                  <a:pt x="1" y="99"/>
                </a:lnTo>
                <a:lnTo>
                  <a:pt x="0" y="101"/>
                </a:lnTo>
                <a:lnTo>
                  <a:pt x="1" y="103"/>
                </a:lnTo>
                <a:lnTo>
                  <a:pt x="1" y="104"/>
                </a:lnTo>
                <a:lnTo>
                  <a:pt x="11" y="135"/>
                </a:lnTo>
                <a:lnTo>
                  <a:pt x="5" y="150"/>
                </a:lnTo>
                <a:lnTo>
                  <a:pt x="64" y="153"/>
                </a:lnTo>
                <a:lnTo>
                  <a:pt x="69" y="140"/>
                </a:lnTo>
                <a:lnTo>
                  <a:pt x="70" y="138"/>
                </a:lnTo>
                <a:lnTo>
                  <a:pt x="70" y="137"/>
                </a:lnTo>
                <a:lnTo>
                  <a:pt x="70" y="135"/>
                </a:lnTo>
                <a:lnTo>
                  <a:pt x="70" y="133"/>
                </a:lnTo>
                <a:lnTo>
                  <a:pt x="70" y="132"/>
                </a:lnTo>
                <a:lnTo>
                  <a:pt x="61" y="104"/>
                </a:lnTo>
                <a:lnTo>
                  <a:pt x="85" y="79"/>
                </a:lnTo>
                <a:lnTo>
                  <a:pt x="87" y="78"/>
                </a:lnTo>
                <a:lnTo>
                  <a:pt x="88" y="76"/>
                </a:lnTo>
                <a:lnTo>
                  <a:pt x="89" y="74"/>
                </a:lnTo>
                <a:lnTo>
                  <a:pt x="89" y="73"/>
                </a:lnTo>
                <a:lnTo>
                  <a:pt x="90" y="71"/>
                </a:lnTo>
                <a:lnTo>
                  <a:pt x="90" y="69"/>
                </a:lnTo>
                <a:lnTo>
                  <a:pt x="90" y="67"/>
                </a:lnTo>
                <a:lnTo>
                  <a:pt x="89" y="66"/>
                </a:lnTo>
                <a:lnTo>
                  <a:pt x="88" y="64"/>
                </a:lnTo>
                <a:lnTo>
                  <a:pt x="78" y="45"/>
                </a:lnTo>
                <a:lnTo>
                  <a:pt x="93" y="23"/>
                </a:lnTo>
                <a:lnTo>
                  <a:pt x="94" y="22"/>
                </a:lnTo>
                <a:lnTo>
                  <a:pt x="95" y="20"/>
                </a:lnTo>
                <a:lnTo>
                  <a:pt x="101" y="4"/>
                </a:lnTo>
                <a:lnTo>
                  <a:pt x="42" y="0"/>
                </a:lnTo>
                <a:lnTo>
                  <a:pt x="38" y="10"/>
                </a:lnTo>
                <a:lnTo>
                  <a:pt x="20" y="36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Freeform 51"/>
          <p:cNvSpPr/>
          <p:nvPr/>
        </p:nvSpPr>
        <p:spPr>
          <a:xfrm>
            <a:off x="7040880" y="3730752"/>
            <a:ext cx="502920" cy="1371600"/>
          </a:xfrm>
          <a:custGeom>
            <a:avLst/>
            <a:gdLst/>
            <a:ahLst/>
            <a:cxnLst/>
            <a:rect l="l" t="t" r="r" b="b"/>
            <a:pathLst>
              <a:path w="55" h="150">
                <a:moveTo>
                  <a:pt x="17" y="41"/>
                </a:moveTo>
                <a:lnTo>
                  <a:pt x="17" y="41"/>
                </a:lnTo>
                <a:lnTo>
                  <a:pt x="17" y="42"/>
                </a:lnTo>
                <a:lnTo>
                  <a:pt x="17" y="42"/>
                </a:lnTo>
                <a:lnTo>
                  <a:pt x="17" y="43"/>
                </a:lnTo>
                <a:lnTo>
                  <a:pt x="17" y="43"/>
                </a:lnTo>
                <a:lnTo>
                  <a:pt x="17" y="44"/>
                </a:lnTo>
                <a:lnTo>
                  <a:pt x="17" y="44"/>
                </a:lnTo>
                <a:lnTo>
                  <a:pt x="30" y="68"/>
                </a:lnTo>
                <a:lnTo>
                  <a:pt x="1" y="97"/>
                </a:lnTo>
                <a:lnTo>
                  <a:pt x="0" y="98"/>
                </a:lnTo>
                <a:lnTo>
                  <a:pt x="0" y="98"/>
                </a:lnTo>
                <a:lnTo>
                  <a:pt x="0" y="99"/>
                </a:lnTo>
                <a:lnTo>
                  <a:pt x="0" y="99"/>
                </a:lnTo>
                <a:lnTo>
                  <a:pt x="0" y="99"/>
                </a:lnTo>
                <a:lnTo>
                  <a:pt x="0" y="100"/>
                </a:lnTo>
                <a:lnTo>
                  <a:pt x="0" y="100"/>
                </a:lnTo>
                <a:lnTo>
                  <a:pt x="0" y="101"/>
                </a:lnTo>
                <a:lnTo>
                  <a:pt x="11" y="134"/>
                </a:lnTo>
                <a:lnTo>
                  <a:pt x="5" y="150"/>
                </a:lnTo>
                <a:lnTo>
                  <a:pt x="19" y="150"/>
                </a:lnTo>
                <a:lnTo>
                  <a:pt x="25" y="135"/>
                </a:lnTo>
                <a:lnTo>
                  <a:pt x="25" y="135"/>
                </a:lnTo>
                <a:lnTo>
                  <a:pt x="25" y="135"/>
                </a:lnTo>
                <a:lnTo>
                  <a:pt x="25" y="134"/>
                </a:lnTo>
                <a:lnTo>
                  <a:pt x="25" y="134"/>
                </a:lnTo>
                <a:lnTo>
                  <a:pt x="25" y="133"/>
                </a:lnTo>
                <a:lnTo>
                  <a:pt x="14" y="101"/>
                </a:lnTo>
                <a:lnTo>
                  <a:pt x="43" y="71"/>
                </a:lnTo>
                <a:lnTo>
                  <a:pt x="44" y="70"/>
                </a:lnTo>
                <a:lnTo>
                  <a:pt x="44" y="70"/>
                </a:lnTo>
                <a:lnTo>
                  <a:pt x="44" y="70"/>
                </a:lnTo>
                <a:lnTo>
                  <a:pt x="44" y="69"/>
                </a:lnTo>
                <a:lnTo>
                  <a:pt x="44" y="69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4" y="67"/>
                </a:lnTo>
                <a:lnTo>
                  <a:pt x="31" y="43"/>
                </a:lnTo>
                <a:lnTo>
                  <a:pt x="49" y="17"/>
                </a:lnTo>
                <a:lnTo>
                  <a:pt x="50" y="16"/>
                </a:lnTo>
                <a:lnTo>
                  <a:pt x="50" y="16"/>
                </a:lnTo>
                <a:lnTo>
                  <a:pt x="55" y="1"/>
                </a:lnTo>
                <a:lnTo>
                  <a:pt x="41" y="0"/>
                </a:lnTo>
                <a:lnTo>
                  <a:pt x="36" y="14"/>
                </a:lnTo>
                <a:lnTo>
                  <a:pt x="17" y="41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 52"/>
          <p:cNvSpPr/>
          <p:nvPr/>
        </p:nvSpPr>
        <p:spPr>
          <a:xfrm>
            <a:off x="6099048" y="4261104"/>
            <a:ext cx="2276856" cy="411480"/>
          </a:xfrm>
          <a:custGeom>
            <a:avLst/>
            <a:gdLst/>
            <a:ahLst/>
            <a:cxnLst/>
            <a:rect l="l" t="t" r="r" b="b"/>
            <a:pathLst>
              <a:path w="249" h="45">
                <a:moveTo>
                  <a:pt x="89" y="17"/>
                </a:moveTo>
                <a:lnTo>
                  <a:pt x="136" y="38"/>
                </a:lnTo>
                <a:lnTo>
                  <a:pt x="136" y="38"/>
                </a:lnTo>
                <a:lnTo>
                  <a:pt x="137" y="38"/>
                </a:lnTo>
                <a:lnTo>
                  <a:pt x="137" y="38"/>
                </a:lnTo>
                <a:lnTo>
                  <a:pt x="137" y="38"/>
                </a:lnTo>
                <a:lnTo>
                  <a:pt x="137" y="38"/>
                </a:lnTo>
                <a:lnTo>
                  <a:pt x="201" y="45"/>
                </a:lnTo>
                <a:lnTo>
                  <a:pt x="202" y="45"/>
                </a:lnTo>
                <a:lnTo>
                  <a:pt x="202" y="45"/>
                </a:lnTo>
                <a:lnTo>
                  <a:pt x="202" y="45"/>
                </a:lnTo>
                <a:lnTo>
                  <a:pt x="202" y="45"/>
                </a:lnTo>
                <a:lnTo>
                  <a:pt x="249" y="37"/>
                </a:lnTo>
                <a:lnTo>
                  <a:pt x="249" y="34"/>
                </a:lnTo>
                <a:lnTo>
                  <a:pt x="202" y="42"/>
                </a:lnTo>
                <a:lnTo>
                  <a:pt x="139" y="35"/>
                </a:lnTo>
                <a:lnTo>
                  <a:pt x="92" y="14"/>
                </a:lnTo>
                <a:lnTo>
                  <a:pt x="91" y="14"/>
                </a:lnTo>
                <a:lnTo>
                  <a:pt x="91" y="14"/>
                </a:lnTo>
                <a:lnTo>
                  <a:pt x="44" y="1"/>
                </a:lnTo>
                <a:lnTo>
                  <a:pt x="44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2" y="0"/>
                </a:lnTo>
                <a:lnTo>
                  <a:pt x="0" y="6"/>
                </a:lnTo>
                <a:lnTo>
                  <a:pt x="1" y="9"/>
                </a:lnTo>
                <a:lnTo>
                  <a:pt x="42" y="4"/>
                </a:lnTo>
                <a:lnTo>
                  <a:pt x="89" y="17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 53"/>
          <p:cNvSpPr/>
          <p:nvPr/>
        </p:nvSpPr>
        <p:spPr>
          <a:xfrm>
            <a:off x="6080760" y="3694176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noFill/>
          <a:ln w="19202">
            <a:solidFill>
              <a:srgbClr val="113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844832" y="4514850"/>
            <a:ext cx="103692" cy="103692"/>
          </a:xfrm>
          <a:prstGeom prst="ellipse">
            <a:avLst/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816029" y="4647346"/>
            <a:ext cx="161300" cy="195864"/>
          </a:xfrm>
          <a:prstGeom prst="roundRect">
            <a:avLst>
              <a:gd name="adj" fmla="val 22000"/>
            </a:avLst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 flipH="1">
            <a:off x="6844832" y="4820168"/>
            <a:ext cx="17282" cy="126736"/>
          </a:xfrm>
          <a:prstGeom prst="line">
            <a:avLst/>
          </a:prstGeom>
          <a:ln w="28803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931243" y="4820168"/>
            <a:ext cx="17282" cy="126736"/>
          </a:xfrm>
          <a:prstGeom prst="line">
            <a:avLst/>
          </a:prstGeom>
          <a:ln w="28803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7091172" y="4453128"/>
            <a:ext cx="123444" cy="123444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056882" y="4610862"/>
            <a:ext cx="192024" cy="233172"/>
          </a:xfrm>
          <a:prstGeom prst="roundRect">
            <a:avLst>
              <a:gd name="adj" fmla="val 22000"/>
            </a:avLst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60"/>
          <p:cNvCxnSpPr/>
          <p:nvPr/>
        </p:nvCxnSpPr>
        <p:spPr>
          <a:xfrm flipH="1">
            <a:off x="7091172" y="4816602"/>
            <a:ext cx="20574" cy="150876"/>
          </a:xfrm>
          <a:prstGeom prst="line">
            <a:avLst/>
          </a:prstGeom>
          <a:ln w="3429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194042" y="4816602"/>
            <a:ext cx="20574" cy="150876"/>
          </a:xfrm>
          <a:prstGeom prst="line">
            <a:avLst/>
          </a:prstGeom>
          <a:ln w="3429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336962" y="4535424"/>
            <a:ext cx="101224" cy="101224"/>
          </a:xfrm>
          <a:prstGeom prst="ellipse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308844" y="4664765"/>
            <a:ext cx="157459" cy="191201"/>
          </a:xfrm>
          <a:prstGeom prst="roundRect">
            <a:avLst>
              <a:gd name="adj" fmla="val 22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 flipH="1">
            <a:off x="7336962" y="4833472"/>
            <a:ext cx="16871" cy="123719"/>
          </a:xfrm>
          <a:prstGeom prst="line">
            <a:avLst/>
          </a:prstGeom>
          <a:ln w="28117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421316" y="4833472"/>
            <a:ext cx="16870" cy="123719"/>
          </a:xfrm>
          <a:prstGeom prst="line">
            <a:avLst/>
          </a:prstGeom>
          <a:ln w="28117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42631" y="5230368"/>
            <a:ext cx="0" cy="448056"/>
          </a:xfrm>
          <a:prstGeom prst="line">
            <a:avLst/>
          </a:prstGeom>
          <a:ln w="18288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287768" y="5632704"/>
            <a:ext cx="109728" cy="109728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41848" y="2944368"/>
            <a:ext cx="326440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113B32"/>
                </a:solidFill>
              </a:rPr>
              <a:t>Wetland project</a:t>
            </a:r>
          </a:p>
        </p:txBody>
      </p:sp>
      <p:sp>
        <p:nvSpPr>
          <p:cNvPr id="70" name="Freeform 69"/>
          <p:cNvSpPr/>
          <p:nvPr/>
        </p:nvSpPr>
        <p:spPr>
          <a:xfrm>
            <a:off x="10094976" y="3803904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D6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Freeform 70"/>
          <p:cNvSpPr/>
          <p:nvPr/>
        </p:nvSpPr>
        <p:spPr>
          <a:xfrm>
            <a:off x="10094976" y="3749040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Freeform 71"/>
          <p:cNvSpPr/>
          <p:nvPr/>
        </p:nvSpPr>
        <p:spPr>
          <a:xfrm>
            <a:off x="10094976" y="3694176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Freeform 72"/>
          <p:cNvSpPr/>
          <p:nvPr/>
        </p:nvSpPr>
        <p:spPr>
          <a:xfrm>
            <a:off x="10094976" y="3694176"/>
            <a:ext cx="1636776" cy="914400"/>
          </a:xfrm>
          <a:custGeom>
            <a:avLst/>
            <a:gdLst/>
            <a:ahLst/>
            <a:cxnLst/>
            <a:rect l="l" t="t" r="r" b="b"/>
            <a:pathLst>
              <a:path w="179" h="100">
                <a:moveTo>
                  <a:pt x="62" y="100"/>
                </a:moveTo>
                <a:lnTo>
                  <a:pt x="120" y="76"/>
                </a:lnTo>
                <a:lnTo>
                  <a:pt x="162" y="43"/>
                </a:lnTo>
                <a:lnTo>
                  <a:pt x="179" y="6"/>
                </a:lnTo>
                <a:lnTo>
                  <a:pt x="84" y="0"/>
                </a:lnTo>
                <a:lnTo>
                  <a:pt x="0" y="45"/>
                </a:lnTo>
                <a:lnTo>
                  <a:pt x="5" y="99"/>
                </a:lnTo>
                <a:lnTo>
                  <a:pt x="62" y="100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Freeform 73"/>
          <p:cNvSpPr/>
          <p:nvPr/>
        </p:nvSpPr>
        <p:spPr>
          <a:xfrm>
            <a:off x="10140696" y="4453128"/>
            <a:ext cx="923544" cy="640080"/>
          </a:xfrm>
          <a:custGeom>
            <a:avLst/>
            <a:gdLst/>
            <a:ahLst/>
            <a:cxnLst/>
            <a:rect l="l" t="t" r="r" b="b"/>
            <a:pathLst>
              <a:path w="101" h="70">
                <a:moveTo>
                  <a:pt x="101" y="29"/>
                </a:moveTo>
                <a:lnTo>
                  <a:pt x="68" y="0"/>
                </a:lnTo>
                <a:lnTo>
                  <a:pt x="0" y="9"/>
                </a:lnTo>
                <a:lnTo>
                  <a:pt x="1" y="21"/>
                </a:lnTo>
                <a:lnTo>
                  <a:pt x="43" y="67"/>
                </a:lnTo>
                <a:lnTo>
                  <a:pt x="96" y="70"/>
                </a:lnTo>
                <a:lnTo>
                  <a:pt x="101" y="29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Freeform 74"/>
          <p:cNvSpPr/>
          <p:nvPr/>
        </p:nvSpPr>
        <p:spPr>
          <a:xfrm>
            <a:off x="11448288" y="4233672"/>
            <a:ext cx="941832" cy="868680"/>
          </a:xfrm>
          <a:custGeom>
            <a:avLst/>
            <a:gdLst/>
            <a:ahLst/>
            <a:cxnLst/>
            <a:rect l="l" t="t" r="r" b="b"/>
            <a:pathLst>
              <a:path w="103" h="95">
                <a:moveTo>
                  <a:pt x="100" y="0"/>
                </a:moveTo>
                <a:lnTo>
                  <a:pt x="17" y="17"/>
                </a:lnTo>
                <a:lnTo>
                  <a:pt x="0" y="59"/>
                </a:lnTo>
                <a:lnTo>
                  <a:pt x="28" y="95"/>
                </a:lnTo>
                <a:lnTo>
                  <a:pt x="50" y="87"/>
                </a:lnTo>
                <a:lnTo>
                  <a:pt x="103" y="55"/>
                </a:lnTo>
                <a:lnTo>
                  <a:pt x="100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Freeform 75"/>
          <p:cNvSpPr/>
          <p:nvPr/>
        </p:nvSpPr>
        <p:spPr>
          <a:xfrm>
            <a:off x="10844784" y="3721608"/>
            <a:ext cx="923544" cy="1399032"/>
          </a:xfrm>
          <a:custGeom>
            <a:avLst/>
            <a:gdLst/>
            <a:ahLst/>
            <a:cxnLst/>
            <a:rect l="l" t="t" r="r" b="b"/>
            <a:pathLst>
              <a:path w="101" h="153">
                <a:moveTo>
                  <a:pt x="20" y="36"/>
                </a:moveTo>
                <a:lnTo>
                  <a:pt x="19" y="38"/>
                </a:lnTo>
                <a:lnTo>
                  <a:pt x="18" y="40"/>
                </a:lnTo>
                <a:lnTo>
                  <a:pt x="17" y="42"/>
                </a:lnTo>
                <a:lnTo>
                  <a:pt x="17" y="44"/>
                </a:lnTo>
                <a:lnTo>
                  <a:pt x="17" y="46"/>
                </a:lnTo>
                <a:lnTo>
                  <a:pt x="18" y="48"/>
                </a:lnTo>
                <a:lnTo>
                  <a:pt x="19" y="49"/>
                </a:lnTo>
                <a:lnTo>
                  <a:pt x="28" y="67"/>
                </a:lnTo>
                <a:lnTo>
                  <a:pt x="5" y="91"/>
                </a:lnTo>
                <a:lnTo>
                  <a:pt x="3" y="93"/>
                </a:lnTo>
                <a:lnTo>
                  <a:pt x="2" y="94"/>
                </a:lnTo>
                <a:lnTo>
                  <a:pt x="2" y="96"/>
                </a:lnTo>
                <a:lnTo>
                  <a:pt x="1" y="98"/>
                </a:lnTo>
                <a:lnTo>
                  <a:pt x="1" y="99"/>
                </a:lnTo>
                <a:lnTo>
                  <a:pt x="0" y="101"/>
                </a:lnTo>
                <a:lnTo>
                  <a:pt x="1" y="103"/>
                </a:lnTo>
                <a:lnTo>
                  <a:pt x="1" y="104"/>
                </a:lnTo>
                <a:lnTo>
                  <a:pt x="11" y="135"/>
                </a:lnTo>
                <a:lnTo>
                  <a:pt x="5" y="150"/>
                </a:lnTo>
                <a:lnTo>
                  <a:pt x="64" y="153"/>
                </a:lnTo>
                <a:lnTo>
                  <a:pt x="69" y="140"/>
                </a:lnTo>
                <a:lnTo>
                  <a:pt x="70" y="138"/>
                </a:lnTo>
                <a:lnTo>
                  <a:pt x="70" y="137"/>
                </a:lnTo>
                <a:lnTo>
                  <a:pt x="70" y="135"/>
                </a:lnTo>
                <a:lnTo>
                  <a:pt x="70" y="133"/>
                </a:lnTo>
                <a:lnTo>
                  <a:pt x="70" y="132"/>
                </a:lnTo>
                <a:lnTo>
                  <a:pt x="61" y="104"/>
                </a:lnTo>
                <a:lnTo>
                  <a:pt x="85" y="79"/>
                </a:lnTo>
                <a:lnTo>
                  <a:pt x="87" y="78"/>
                </a:lnTo>
                <a:lnTo>
                  <a:pt x="88" y="76"/>
                </a:lnTo>
                <a:lnTo>
                  <a:pt x="89" y="74"/>
                </a:lnTo>
                <a:lnTo>
                  <a:pt x="89" y="73"/>
                </a:lnTo>
                <a:lnTo>
                  <a:pt x="90" y="71"/>
                </a:lnTo>
                <a:lnTo>
                  <a:pt x="90" y="69"/>
                </a:lnTo>
                <a:lnTo>
                  <a:pt x="90" y="67"/>
                </a:lnTo>
                <a:lnTo>
                  <a:pt x="89" y="66"/>
                </a:lnTo>
                <a:lnTo>
                  <a:pt x="88" y="64"/>
                </a:lnTo>
                <a:lnTo>
                  <a:pt x="78" y="45"/>
                </a:lnTo>
                <a:lnTo>
                  <a:pt x="93" y="23"/>
                </a:lnTo>
                <a:lnTo>
                  <a:pt x="94" y="22"/>
                </a:lnTo>
                <a:lnTo>
                  <a:pt x="95" y="20"/>
                </a:lnTo>
                <a:lnTo>
                  <a:pt x="101" y="4"/>
                </a:lnTo>
                <a:lnTo>
                  <a:pt x="42" y="0"/>
                </a:lnTo>
                <a:lnTo>
                  <a:pt x="38" y="10"/>
                </a:lnTo>
                <a:lnTo>
                  <a:pt x="20" y="36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Freeform 76"/>
          <p:cNvSpPr/>
          <p:nvPr/>
        </p:nvSpPr>
        <p:spPr>
          <a:xfrm>
            <a:off x="11055096" y="3730752"/>
            <a:ext cx="502920" cy="1371600"/>
          </a:xfrm>
          <a:custGeom>
            <a:avLst/>
            <a:gdLst/>
            <a:ahLst/>
            <a:cxnLst/>
            <a:rect l="l" t="t" r="r" b="b"/>
            <a:pathLst>
              <a:path w="55" h="150">
                <a:moveTo>
                  <a:pt x="17" y="41"/>
                </a:moveTo>
                <a:lnTo>
                  <a:pt x="17" y="41"/>
                </a:lnTo>
                <a:lnTo>
                  <a:pt x="17" y="42"/>
                </a:lnTo>
                <a:lnTo>
                  <a:pt x="17" y="42"/>
                </a:lnTo>
                <a:lnTo>
                  <a:pt x="17" y="43"/>
                </a:lnTo>
                <a:lnTo>
                  <a:pt x="17" y="43"/>
                </a:lnTo>
                <a:lnTo>
                  <a:pt x="17" y="44"/>
                </a:lnTo>
                <a:lnTo>
                  <a:pt x="17" y="44"/>
                </a:lnTo>
                <a:lnTo>
                  <a:pt x="30" y="68"/>
                </a:lnTo>
                <a:lnTo>
                  <a:pt x="1" y="97"/>
                </a:lnTo>
                <a:lnTo>
                  <a:pt x="0" y="98"/>
                </a:lnTo>
                <a:lnTo>
                  <a:pt x="0" y="98"/>
                </a:lnTo>
                <a:lnTo>
                  <a:pt x="0" y="99"/>
                </a:lnTo>
                <a:lnTo>
                  <a:pt x="0" y="99"/>
                </a:lnTo>
                <a:lnTo>
                  <a:pt x="0" y="99"/>
                </a:lnTo>
                <a:lnTo>
                  <a:pt x="0" y="100"/>
                </a:lnTo>
                <a:lnTo>
                  <a:pt x="0" y="100"/>
                </a:lnTo>
                <a:lnTo>
                  <a:pt x="0" y="101"/>
                </a:lnTo>
                <a:lnTo>
                  <a:pt x="11" y="134"/>
                </a:lnTo>
                <a:lnTo>
                  <a:pt x="5" y="150"/>
                </a:lnTo>
                <a:lnTo>
                  <a:pt x="19" y="150"/>
                </a:lnTo>
                <a:lnTo>
                  <a:pt x="25" y="135"/>
                </a:lnTo>
                <a:lnTo>
                  <a:pt x="25" y="135"/>
                </a:lnTo>
                <a:lnTo>
                  <a:pt x="25" y="135"/>
                </a:lnTo>
                <a:lnTo>
                  <a:pt x="25" y="134"/>
                </a:lnTo>
                <a:lnTo>
                  <a:pt x="25" y="134"/>
                </a:lnTo>
                <a:lnTo>
                  <a:pt x="25" y="133"/>
                </a:lnTo>
                <a:lnTo>
                  <a:pt x="14" y="101"/>
                </a:lnTo>
                <a:lnTo>
                  <a:pt x="43" y="71"/>
                </a:lnTo>
                <a:lnTo>
                  <a:pt x="44" y="70"/>
                </a:lnTo>
                <a:lnTo>
                  <a:pt x="44" y="70"/>
                </a:lnTo>
                <a:lnTo>
                  <a:pt x="44" y="70"/>
                </a:lnTo>
                <a:lnTo>
                  <a:pt x="44" y="69"/>
                </a:lnTo>
                <a:lnTo>
                  <a:pt x="44" y="69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4" y="67"/>
                </a:lnTo>
                <a:lnTo>
                  <a:pt x="31" y="43"/>
                </a:lnTo>
                <a:lnTo>
                  <a:pt x="49" y="17"/>
                </a:lnTo>
                <a:lnTo>
                  <a:pt x="50" y="16"/>
                </a:lnTo>
                <a:lnTo>
                  <a:pt x="50" y="16"/>
                </a:lnTo>
                <a:lnTo>
                  <a:pt x="55" y="1"/>
                </a:lnTo>
                <a:lnTo>
                  <a:pt x="41" y="0"/>
                </a:lnTo>
                <a:lnTo>
                  <a:pt x="36" y="14"/>
                </a:lnTo>
                <a:lnTo>
                  <a:pt x="17" y="41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reeform 77"/>
          <p:cNvSpPr/>
          <p:nvPr/>
        </p:nvSpPr>
        <p:spPr>
          <a:xfrm>
            <a:off x="10113264" y="4261104"/>
            <a:ext cx="2276856" cy="411480"/>
          </a:xfrm>
          <a:custGeom>
            <a:avLst/>
            <a:gdLst/>
            <a:ahLst/>
            <a:cxnLst/>
            <a:rect l="l" t="t" r="r" b="b"/>
            <a:pathLst>
              <a:path w="249" h="45">
                <a:moveTo>
                  <a:pt x="89" y="17"/>
                </a:moveTo>
                <a:lnTo>
                  <a:pt x="136" y="38"/>
                </a:lnTo>
                <a:lnTo>
                  <a:pt x="136" y="38"/>
                </a:lnTo>
                <a:lnTo>
                  <a:pt x="137" y="38"/>
                </a:lnTo>
                <a:lnTo>
                  <a:pt x="137" y="38"/>
                </a:lnTo>
                <a:lnTo>
                  <a:pt x="137" y="38"/>
                </a:lnTo>
                <a:lnTo>
                  <a:pt x="137" y="38"/>
                </a:lnTo>
                <a:lnTo>
                  <a:pt x="201" y="45"/>
                </a:lnTo>
                <a:lnTo>
                  <a:pt x="202" y="45"/>
                </a:lnTo>
                <a:lnTo>
                  <a:pt x="202" y="45"/>
                </a:lnTo>
                <a:lnTo>
                  <a:pt x="202" y="45"/>
                </a:lnTo>
                <a:lnTo>
                  <a:pt x="202" y="45"/>
                </a:lnTo>
                <a:lnTo>
                  <a:pt x="249" y="37"/>
                </a:lnTo>
                <a:lnTo>
                  <a:pt x="249" y="34"/>
                </a:lnTo>
                <a:lnTo>
                  <a:pt x="202" y="42"/>
                </a:lnTo>
                <a:lnTo>
                  <a:pt x="139" y="35"/>
                </a:lnTo>
                <a:lnTo>
                  <a:pt x="92" y="14"/>
                </a:lnTo>
                <a:lnTo>
                  <a:pt x="91" y="14"/>
                </a:lnTo>
                <a:lnTo>
                  <a:pt x="91" y="14"/>
                </a:lnTo>
                <a:lnTo>
                  <a:pt x="44" y="1"/>
                </a:lnTo>
                <a:lnTo>
                  <a:pt x="44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2" y="0"/>
                </a:lnTo>
                <a:lnTo>
                  <a:pt x="0" y="6"/>
                </a:lnTo>
                <a:lnTo>
                  <a:pt x="1" y="9"/>
                </a:lnTo>
                <a:lnTo>
                  <a:pt x="42" y="4"/>
                </a:lnTo>
                <a:lnTo>
                  <a:pt x="89" y="17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Freeform 78"/>
          <p:cNvSpPr/>
          <p:nvPr/>
        </p:nvSpPr>
        <p:spPr>
          <a:xfrm>
            <a:off x="10094976" y="3694176"/>
            <a:ext cx="2295144" cy="1435608"/>
          </a:xfrm>
          <a:custGeom>
            <a:avLst/>
            <a:gdLst/>
            <a:ahLst/>
            <a:cxnLst/>
            <a:rect l="l" t="t" r="r" b="b"/>
            <a:pathLst>
              <a:path w="251" h="157">
                <a:moveTo>
                  <a:pt x="6" y="104"/>
                </a:moveTo>
                <a:lnTo>
                  <a:pt x="48" y="150"/>
                </a:lnTo>
                <a:lnTo>
                  <a:pt x="179" y="157"/>
                </a:lnTo>
                <a:lnTo>
                  <a:pt x="251" y="114"/>
                </a:lnTo>
                <a:lnTo>
                  <a:pt x="248" y="47"/>
                </a:lnTo>
                <a:lnTo>
                  <a:pt x="184" y="7"/>
                </a:lnTo>
                <a:lnTo>
                  <a:pt x="84" y="0"/>
                </a:lnTo>
                <a:lnTo>
                  <a:pt x="0" y="45"/>
                </a:lnTo>
                <a:lnTo>
                  <a:pt x="6" y="104"/>
                </a:lnTo>
                <a:close/>
              </a:path>
            </a:pathLst>
          </a:custGeom>
          <a:noFill/>
          <a:ln w="19202">
            <a:solidFill>
              <a:srgbClr val="113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0859048" y="4514850"/>
            <a:ext cx="103692" cy="103692"/>
          </a:xfrm>
          <a:prstGeom prst="ellipse">
            <a:avLst/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10830245" y="4647346"/>
            <a:ext cx="161300" cy="195864"/>
          </a:xfrm>
          <a:prstGeom prst="roundRect">
            <a:avLst>
              <a:gd name="adj" fmla="val 22000"/>
            </a:avLst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 flipH="1">
            <a:off x="10859048" y="4820168"/>
            <a:ext cx="17282" cy="126736"/>
          </a:xfrm>
          <a:prstGeom prst="line">
            <a:avLst/>
          </a:prstGeom>
          <a:ln w="28803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945459" y="4820168"/>
            <a:ext cx="17282" cy="126736"/>
          </a:xfrm>
          <a:prstGeom prst="line">
            <a:avLst/>
          </a:prstGeom>
          <a:ln w="28803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1105388" y="4453128"/>
            <a:ext cx="123444" cy="123444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1071098" y="4610862"/>
            <a:ext cx="192024" cy="233172"/>
          </a:xfrm>
          <a:prstGeom prst="roundRect">
            <a:avLst>
              <a:gd name="adj" fmla="val 22000"/>
            </a:avLst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 flipH="1">
            <a:off x="11105388" y="4816602"/>
            <a:ext cx="20574" cy="150876"/>
          </a:xfrm>
          <a:prstGeom prst="line">
            <a:avLst/>
          </a:prstGeom>
          <a:ln w="3429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208258" y="4816602"/>
            <a:ext cx="20574" cy="150876"/>
          </a:xfrm>
          <a:prstGeom prst="line">
            <a:avLst/>
          </a:prstGeom>
          <a:ln w="34290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11351178" y="4535424"/>
            <a:ext cx="101224" cy="101224"/>
          </a:xfrm>
          <a:prstGeom prst="ellipse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11323060" y="4664765"/>
            <a:ext cx="157459" cy="191201"/>
          </a:xfrm>
          <a:prstGeom prst="roundRect">
            <a:avLst>
              <a:gd name="adj" fmla="val 22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" name="Connector 89"/>
          <p:cNvCxnSpPr/>
          <p:nvPr/>
        </p:nvCxnSpPr>
        <p:spPr>
          <a:xfrm flipH="1">
            <a:off x="11351178" y="4833472"/>
            <a:ext cx="16871" cy="123719"/>
          </a:xfrm>
          <a:prstGeom prst="line">
            <a:avLst/>
          </a:prstGeom>
          <a:ln w="28117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435532" y="4833472"/>
            <a:ext cx="16870" cy="123719"/>
          </a:xfrm>
          <a:prstGeom prst="line">
            <a:avLst/>
          </a:prstGeom>
          <a:ln w="28117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356848" y="5230368"/>
            <a:ext cx="0" cy="448056"/>
          </a:xfrm>
          <a:prstGeom prst="line">
            <a:avLst/>
          </a:prstGeom>
          <a:ln w="18288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1301984" y="5632704"/>
            <a:ext cx="109728" cy="109728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56064" y="2944368"/>
            <a:ext cx="326440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113B32"/>
                </a:solidFill>
              </a:rPr>
              <a:t>Restoration initiative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809744" y="7040880"/>
            <a:ext cx="5010912" cy="265176"/>
          </a:xfrm>
          <a:prstGeom prst="roundRect">
            <a:avLst>
              <a:gd name="adj" fmla="val 14000"/>
            </a:avLst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809744" y="7086600"/>
            <a:ext cx="501091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113B32"/>
                </a:solidFill>
              </a:rPr>
              <a:t>BUILD ONCE • ADAPT LOCALLY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DDEFA0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B0C5B6"/>
                </a:solidFill>
                <a:latin typeface="Inter"/>
              </a:rPr>
              <a:t>INNOVATION / TRUST BY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315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spc="45">
                <a:solidFill>
                  <a:srgbClr val="B0C5B6"/>
                </a:solidFill>
                <a:latin typeface="Inter"/>
              </a:rPr>
              <a:t>DESIGN PRINCIPLE • TRACEABLE OUTPUTS, NOT UNQUALIFIED ENVIRONMENTAL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B0C5B6"/>
                </a:solidFill>
                <a:latin typeface="Inter"/>
              </a:rPr>
              <a:t>07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2801600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FFFFFF"/>
                </a:solidFill>
              </a:rPr>
              <a:t>Every result keeps its evidence and limits.</a:t>
            </a:r>
          </a:p>
        </p:txBody>
      </p:sp>
      <p:sp>
        <p:nvSpPr>
          <p:cNvPr id="10" name="Freeform 9"/>
          <p:cNvSpPr/>
          <p:nvPr/>
        </p:nvSpPr>
        <p:spPr>
          <a:xfrm>
            <a:off x="1014984" y="3401568"/>
            <a:ext cx="5111496" cy="3575304"/>
          </a:xfrm>
          <a:custGeom>
            <a:avLst/>
            <a:gdLst/>
            <a:ahLst/>
            <a:cxnLst/>
            <a:rect l="l" t="t" r="r" b="b"/>
            <a:pathLst>
              <a:path w="559" h="391">
                <a:moveTo>
                  <a:pt x="12" y="258"/>
                </a:moveTo>
                <a:lnTo>
                  <a:pt x="105" y="373"/>
                </a:lnTo>
                <a:lnTo>
                  <a:pt x="397" y="391"/>
                </a:lnTo>
                <a:lnTo>
                  <a:pt x="559" y="283"/>
                </a:lnTo>
                <a:lnTo>
                  <a:pt x="553" y="116"/>
                </a:lnTo>
                <a:lnTo>
                  <a:pt x="410" y="17"/>
                </a:lnTo>
                <a:lnTo>
                  <a:pt x="186" y="0"/>
                </a:lnTo>
                <a:lnTo>
                  <a:pt x="0" y="112"/>
                </a:lnTo>
                <a:lnTo>
                  <a:pt x="12" y="258"/>
                </a:lnTo>
                <a:close/>
              </a:path>
            </a:pathLst>
          </a:custGeom>
          <a:solidFill>
            <a:srgbClr val="0B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1014984" y="3346704"/>
            <a:ext cx="5111496" cy="3575304"/>
          </a:xfrm>
          <a:custGeom>
            <a:avLst/>
            <a:gdLst/>
            <a:ahLst/>
            <a:cxnLst/>
            <a:rect l="l" t="t" r="r" b="b"/>
            <a:pathLst>
              <a:path w="559" h="391">
                <a:moveTo>
                  <a:pt x="12" y="258"/>
                </a:moveTo>
                <a:lnTo>
                  <a:pt x="105" y="373"/>
                </a:lnTo>
                <a:lnTo>
                  <a:pt x="397" y="391"/>
                </a:lnTo>
                <a:lnTo>
                  <a:pt x="559" y="283"/>
                </a:lnTo>
                <a:lnTo>
                  <a:pt x="553" y="116"/>
                </a:lnTo>
                <a:lnTo>
                  <a:pt x="410" y="17"/>
                </a:lnTo>
                <a:lnTo>
                  <a:pt x="186" y="0"/>
                </a:lnTo>
                <a:lnTo>
                  <a:pt x="0" y="112"/>
                </a:lnTo>
                <a:lnTo>
                  <a:pt x="12" y="258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1014984" y="3145536"/>
            <a:ext cx="5111496" cy="3575304"/>
          </a:xfrm>
          <a:custGeom>
            <a:avLst/>
            <a:gdLst/>
            <a:ahLst/>
            <a:cxnLst/>
            <a:rect l="l" t="t" r="r" b="b"/>
            <a:pathLst>
              <a:path w="559" h="391">
                <a:moveTo>
                  <a:pt x="12" y="258"/>
                </a:moveTo>
                <a:lnTo>
                  <a:pt x="105" y="373"/>
                </a:lnTo>
                <a:lnTo>
                  <a:pt x="397" y="391"/>
                </a:lnTo>
                <a:lnTo>
                  <a:pt x="559" y="283"/>
                </a:lnTo>
                <a:lnTo>
                  <a:pt x="553" y="116"/>
                </a:lnTo>
                <a:lnTo>
                  <a:pt x="410" y="17"/>
                </a:lnTo>
                <a:lnTo>
                  <a:pt x="186" y="0"/>
                </a:lnTo>
                <a:lnTo>
                  <a:pt x="0" y="112"/>
                </a:lnTo>
                <a:lnTo>
                  <a:pt x="12" y="258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1014984" y="3145536"/>
            <a:ext cx="3639312" cy="2276856"/>
          </a:xfrm>
          <a:custGeom>
            <a:avLst/>
            <a:gdLst/>
            <a:ahLst/>
            <a:cxnLst/>
            <a:rect l="l" t="t" r="r" b="b"/>
            <a:pathLst>
              <a:path w="398" h="249">
                <a:moveTo>
                  <a:pt x="136" y="249"/>
                </a:moveTo>
                <a:lnTo>
                  <a:pt x="267" y="189"/>
                </a:lnTo>
                <a:lnTo>
                  <a:pt x="360" y="107"/>
                </a:lnTo>
                <a:lnTo>
                  <a:pt x="398" y="16"/>
                </a:lnTo>
                <a:lnTo>
                  <a:pt x="186" y="0"/>
                </a:lnTo>
                <a:lnTo>
                  <a:pt x="0" y="112"/>
                </a:lnTo>
                <a:lnTo>
                  <a:pt x="11" y="245"/>
                </a:lnTo>
                <a:lnTo>
                  <a:pt x="136" y="249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1106424" y="5029200"/>
            <a:ext cx="2066544" cy="1591056"/>
          </a:xfrm>
          <a:custGeom>
            <a:avLst/>
            <a:gdLst/>
            <a:ahLst/>
            <a:cxnLst/>
            <a:rect l="l" t="t" r="r" b="b"/>
            <a:pathLst>
              <a:path w="226" h="174">
                <a:moveTo>
                  <a:pt x="226" y="73"/>
                </a:moveTo>
                <a:lnTo>
                  <a:pt x="151" y="0"/>
                </a:lnTo>
                <a:lnTo>
                  <a:pt x="0" y="24"/>
                </a:lnTo>
                <a:lnTo>
                  <a:pt x="2" y="52"/>
                </a:lnTo>
                <a:lnTo>
                  <a:pt x="95" y="167"/>
                </a:lnTo>
                <a:lnTo>
                  <a:pt x="215" y="174"/>
                </a:lnTo>
                <a:lnTo>
                  <a:pt x="226" y="73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4023360" y="4480560"/>
            <a:ext cx="2093976" cy="2157984"/>
          </a:xfrm>
          <a:custGeom>
            <a:avLst/>
            <a:gdLst/>
            <a:ahLst/>
            <a:cxnLst/>
            <a:rect l="l" t="t" r="r" b="b"/>
            <a:pathLst>
              <a:path w="229" h="236">
                <a:moveTo>
                  <a:pt x="224" y="0"/>
                </a:moveTo>
                <a:lnTo>
                  <a:pt x="37" y="43"/>
                </a:lnTo>
                <a:lnTo>
                  <a:pt x="0" y="146"/>
                </a:lnTo>
                <a:lnTo>
                  <a:pt x="62" y="236"/>
                </a:lnTo>
                <a:lnTo>
                  <a:pt x="112" y="216"/>
                </a:lnTo>
                <a:lnTo>
                  <a:pt x="229" y="138"/>
                </a:lnTo>
                <a:lnTo>
                  <a:pt x="224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2688336" y="3209544"/>
            <a:ext cx="2039112" cy="3465576"/>
          </a:xfrm>
          <a:custGeom>
            <a:avLst/>
            <a:gdLst/>
            <a:ahLst/>
            <a:cxnLst/>
            <a:rect l="l" t="t" r="r" b="b"/>
            <a:pathLst>
              <a:path w="223" h="379">
                <a:moveTo>
                  <a:pt x="43" y="91"/>
                </a:moveTo>
                <a:lnTo>
                  <a:pt x="40" y="95"/>
                </a:lnTo>
                <a:lnTo>
                  <a:pt x="39" y="100"/>
                </a:lnTo>
                <a:lnTo>
                  <a:pt x="38" y="105"/>
                </a:lnTo>
                <a:lnTo>
                  <a:pt x="37" y="109"/>
                </a:lnTo>
                <a:lnTo>
                  <a:pt x="38" y="114"/>
                </a:lnTo>
                <a:lnTo>
                  <a:pt x="39" y="119"/>
                </a:lnTo>
                <a:lnTo>
                  <a:pt x="41" y="123"/>
                </a:lnTo>
                <a:lnTo>
                  <a:pt x="62" y="168"/>
                </a:lnTo>
                <a:lnTo>
                  <a:pt x="10" y="227"/>
                </a:lnTo>
                <a:lnTo>
                  <a:pt x="7" y="231"/>
                </a:lnTo>
                <a:lnTo>
                  <a:pt x="4" y="235"/>
                </a:lnTo>
                <a:lnTo>
                  <a:pt x="2" y="239"/>
                </a:lnTo>
                <a:lnTo>
                  <a:pt x="1" y="243"/>
                </a:lnTo>
                <a:lnTo>
                  <a:pt x="0" y="247"/>
                </a:lnTo>
                <a:lnTo>
                  <a:pt x="0" y="251"/>
                </a:lnTo>
                <a:lnTo>
                  <a:pt x="0" y="255"/>
                </a:lnTo>
                <a:lnTo>
                  <a:pt x="1" y="259"/>
                </a:lnTo>
                <a:lnTo>
                  <a:pt x="23" y="335"/>
                </a:lnTo>
                <a:lnTo>
                  <a:pt x="10" y="372"/>
                </a:lnTo>
                <a:lnTo>
                  <a:pt x="142" y="379"/>
                </a:lnTo>
                <a:lnTo>
                  <a:pt x="153" y="347"/>
                </a:lnTo>
                <a:lnTo>
                  <a:pt x="154" y="343"/>
                </a:lnTo>
                <a:lnTo>
                  <a:pt x="155" y="339"/>
                </a:lnTo>
                <a:lnTo>
                  <a:pt x="155" y="335"/>
                </a:lnTo>
                <a:lnTo>
                  <a:pt x="155" y="331"/>
                </a:lnTo>
                <a:lnTo>
                  <a:pt x="154" y="328"/>
                </a:lnTo>
                <a:lnTo>
                  <a:pt x="134" y="259"/>
                </a:lnTo>
                <a:lnTo>
                  <a:pt x="189" y="197"/>
                </a:lnTo>
                <a:lnTo>
                  <a:pt x="192" y="193"/>
                </a:lnTo>
                <a:lnTo>
                  <a:pt x="195" y="189"/>
                </a:lnTo>
                <a:lnTo>
                  <a:pt x="197" y="185"/>
                </a:lnTo>
                <a:lnTo>
                  <a:pt x="198" y="181"/>
                </a:lnTo>
                <a:lnTo>
                  <a:pt x="199" y="176"/>
                </a:lnTo>
                <a:lnTo>
                  <a:pt x="199" y="172"/>
                </a:lnTo>
                <a:lnTo>
                  <a:pt x="198" y="168"/>
                </a:lnTo>
                <a:lnTo>
                  <a:pt x="197" y="163"/>
                </a:lnTo>
                <a:lnTo>
                  <a:pt x="195" y="159"/>
                </a:lnTo>
                <a:lnTo>
                  <a:pt x="172" y="111"/>
                </a:lnTo>
                <a:lnTo>
                  <a:pt x="206" y="58"/>
                </a:lnTo>
                <a:lnTo>
                  <a:pt x="208" y="54"/>
                </a:lnTo>
                <a:lnTo>
                  <a:pt x="210" y="50"/>
                </a:lnTo>
                <a:lnTo>
                  <a:pt x="223" y="10"/>
                </a:lnTo>
                <a:lnTo>
                  <a:pt x="92" y="0"/>
                </a:lnTo>
                <a:lnTo>
                  <a:pt x="84" y="26"/>
                </a:lnTo>
                <a:lnTo>
                  <a:pt x="43" y="91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3145536" y="3246120"/>
            <a:ext cx="1124712" cy="3401568"/>
          </a:xfrm>
          <a:custGeom>
            <a:avLst/>
            <a:gdLst/>
            <a:ahLst/>
            <a:cxnLst/>
            <a:rect l="l" t="t" r="r" b="b"/>
            <a:pathLst>
              <a:path w="123" h="372">
                <a:moveTo>
                  <a:pt x="38" y="101"/>
                </a:moveTo>
                <a:lnTo>
                  <a:pt x="38" y="102"/>
                </a:lnTo>
                <a:lnTo>
                  <a:pt x="37" y="103"/>
                </a:lnTo>
                <a:lnTo>
                  <a:pt x="37" y="104"/>
                </a:lnTo>
                <a:lnTo>
                  <a:pt x="37" y="105"/>
                </a:lnTo>
                <a:lnTo>
                  <a:pt x="37" y="106"/>
                </a:lnTo>
                <a:lnTo>
                  <a:pt x="37" y="107"/>
                </a:lnTo>
                <a:lnTo>
                  <a:pt x="38" y="108"/>
                </a:lnTo>
                <a:lnTo>
                  <a:pt x="67" y="168"/>
                </a:lnTo>
                <a:lnTo>
                  <a:pt x="2" y="241"/>
                </a:lnTo>
                <a:lnTo>
                  <a:pt x="1" y="242"/>
                </a:lnTo>
                <a:lnTo>
                  <a:pt x="1" y="243"/>
                </a:lnTo>
                <a:lnTo>
                  <a:pt x="0" y="244"/>
                </a:lnTo>
                <a:lnTo>
                  <a:pt x="0" y="245"/>
                </a:lnTo>
                <a:lnTo>
                  <a:pt x="0" y="246"/>
                </a:lnTo>
                <a:lnTo>
                  <a:pt x="0" y="247"/>
                </a:lnTo>
                <a:lnTo>
                  <a:pt x="0" y="248"/>
                </a:lnTo>
                <a:lnTo>
                  <a:pt x="0" y="249"/>
                </a:lnTo>
                <a:lnTo>
                  <a:pt x="24" y="332"/>
                </a:lnTo>
                <a:lnTo>
                  <a:pt x="10" y="370"/>
                </a:lnTo>
                <a:lnTo>
                  <a:pt x="42" y="372"/>
                </a:lnTo>
                <a:lnTo>
                  <a:pt x="55" y="335"/>
                </a:lnTo>
                <a:lnTo>
                  <a:pt x="55" y="334"/>
                </a:lnTo>
                <a:lnTo>
                  <a:pt x="56" y="333"/>
                </a:lnTo>
                <a:lnTo>
                  <a:pt x="56" y="332"/>
                </a:lnTo>
                <a:lnTo>
                  <a:pt x="56" y="331"/>
                </a:lnTo>
                <a:lnTo>
                  <a:pt x="55" y="330"/>
                </a:lnTo>
                <a:lnTo>
                  <a:pt x="32" y="249"/>
                </a:lnTo>
                <a:lnTo>
                  <a:pt x="97" y="175"/>
                </a:lnTo>
                <a:lnTo>
                  <a:pt x="98" y="174"/>
                </a:lnTo>
                <a:lnTo>
                  <a:pt x="98" y="173"/>
                </a:lnTo>
                <a:lnTo>
                  <a:pt x="99" y="172"/>
                </a:lnTo>
                <a:lnTo>
                  <a:pt x="99" y="171"/>
                </a:lnTo>
                <a:lnTo>
                  <a:pt x="99" y="170"/>
                </a:lnTo>
                <a:lnTo>
                  <a:pt x="99" y="169"/>
                </a:lnTo>
                <a:lnTo>
                  <a:pt x="99" y="168"/>
                </a:lnTo>
                <a:lnTo>
                  <a:pt x="99" y="167"/>
                </a:lnTo>
                <a:lnTo>
                  <a:pt x="98" y="166"/>
                </a:lnTo>
                <a:lnTo>
                  <a:pt x="69" y="106"/>
                </a:lnTo>
                <a:lnTo>
                  <a:pt x="110" y="41"/>
                </a:lnTo>
                <a:lnTo>
                  <a:pt x="111" y="40"/>
                </a:lnTo>
                <a:lnTo>
                  <a:pt x="111" y="39"/>
                </a:lnTo>
                <a:lnTo>
                  <a:pt x="123" y="2"/>
                </a:lnTo>
                <a:lnTo>
                  <a:pt x="92" y="0"/>
                </a:lnTo>
                <a:lnTo>
                  <a:pt x="81" y="33"/>
                </a:lnTo>
                <a:lnTo>
                  <a:pt x="38" y="101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1060704" y="4562856"/>
            <a:ext cx="5047488" cy="1014984"/>
          </a:xfrm>
          <a:custGeom>
            <a:avLst/>
            <a:gdLst/>
            <a:ahLst/>
            <a:cxnLst/>
            <a:rect l="l" t="t" r="r" b="b"/>
            <a:pathLst>
              <a:path w="552" h="111">
                <a:moveTo>
                  <a:pt x="197" y="42"/>
                </a:moveTo>
                <a:lnTo>
                  <a:pt x="302" y="93"/>
                </a:lnTo>
                <a:lnTo>
                  <a:pt x="303" y="93"/>
                </a:lnTo>
                <a:lnTo>
                  <a:pt x="303" y="93"/>
                </a:lnTo>
                <a:lnTo>
                  <a:pt x="303" y="93"/>
                </a:lnTo>
                <a:lnTo>
                  <a:pt x="304" y="93"/>
                </a:lnTo>
                <a:lnTo>
                  <a:pt x="304" y="93"/>
                </a:lnTo>
                <a:lnTo>
                  <a:pt x="447" y="111"/>
                </a:lnTo>
                <a:lnTo>
                  <a:pt x="448" y="111"/>
                </a:lnTo>
                <a:lnTo>
                  <a:pt x="448" y="111"/>
                </a:lnTo>
                <a:lnTo>
                  <a:pt x="449" y="111"/>
                </a:lnTo>
                <a:lnTo>
                  <a:pt x="450" y="111"/>
                </a:lnTo>
                <a:lnTo>
                  <a:pt x="552" y="91"/>
                </a:lnTo>
                <a:lnTo>
                  <a:pt x="552" y="83"/>
                </a:lnTo>
                <a:lnTo>
                  <a:pt x="448" y="103"/>
                </a:lnTo>
                <a:lnTo>
                  <a:pt x="308" y="86"/>
                </a:lnTo>
                <a:lnTo>
                  <a:pt x="203" y="35"/>
                </a:lnTo>
                <a:lnTo>
                  <a:pt x="203" y="35"/>
                </a:lnTo>
                <a:lnTo>
                  <a:pt x="202" y="35"/>
                </a:lnTo>
                <a:lnTo>
                  <a:pt x="97" y="0"/>
                </a:lnTo>
                <a:lnTo>
                  <a:pt x="96" y="0"/>
                </a:lnTo>
                <a:lnTo>
                  <a:pt x="95" y="0"/>
                </a:lnTo>
                <a:lnTo>
                  <a:pt x="95" y="0"/>
                </a:lnTo>
                <a:lnTo>
                  <a:pt x="94" y="0"/>
                </a:lnTo>
                <a:lnTo>
                  <a:pt x="94" y="0"/>
                </a:lnTo>
                <a:lnTo>
                  <a:pt x="93" y="0"/>
                </a:lnTo>
                <a:lnTo>
                  <a:pt x="0" y="13"/>
                </a:lnTo>
                <a:lnTo>
                  <a:pt x="0" y="21"/>
                </a:lnTo>
                <a:lnTo>
                  <a:pt x="93" y="8"/>
                </a:lnTo>
                <a:lnTo>
                  <a:pt x="197" y="42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1234440" y="5632704"/>
            <a:ext cx="1883664" cy="539496"/>
          </a:xfrm>
          <a:custGeom>
            <a:avLst/>
            <a:gdLst/>
            <a:ahLst/>
            <a:cxnLst/>
            <a:rect l="l" t="t" r="r" b="b"/>
            <a:pathLst>
              <a:path w="206" h="59">
                <a:moveTo>
                  <a:pt x="0" y="0"/>
                </a:moveTo>
                <a:lnTo>
                  <a:pt x="206" y="59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1380744" y="5815584"/>
            <a:ext cx="1728216" cy="484632"/>
          </a:xfrm>
          <a:custGeom>
            <a:avLst/>
            <a:gdLst/>
            <a:ahLst/>
            <a:cxnLst/>
            <a:rect l="l" t="t" r="r" b="b"/>
            <a:pathLst>
              <a:path w="189" h="53">
                <a:moveTo>
                  <a:pt x="0" y="0"/>
                </a:moveTo>
                <a:lnTo>
                  <a:pt x="189" y="53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1517904" y="5989320"/>
            <a:ext cx="1572768" cy="448056"/>
          </a:xfrm>
          <a:custGeom>
            <a:avLst/>
            <a:gdLst/>
            <a:ahLst/>
            <a:cxnLst/>
            <a:rect l="l" t="t" r="r" b="b"/>
            <a:pathLst>
              <a:path w="172" h="49">
                <a:moveTo>
                  <a:pt x="0" y="0"/>
                </a:moveTo>
                <a:lnTo>
                  <a:pt x="172" y="49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1664208" y="6172200"/>
            <a:ext cx="1417320" cy="393192"/>
          </a:xfrm>
          <a:custGeom>
            <a:avLst/>
            <a:gdLst/>
            <a:ahLst/>
            <a:cxnLst/>
            <a:rect l="l" t="t" r="r" b="b"/>
            <a:pathLst>
              <a:path w="155" h="43">
                <a:moveTo>
                  <a:pt x="0" y="0"/>
                </a:moveTo>
                <a:lnTo>
                  <a:pt x="155" y="43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1810512" y="6345936"/>
            <a:ext cx="905256" cy="256032"/>
          </a:xfrm>
          <a:custGeom>
            <a:avLst/>
            <a:gdLst/>
            <a:ahLst/>
            <a:cxnLst/>
            <a:rect l="l" t="t" r="r" b="b"/>
            <a:pathLst>
              <a:path w="99" h="28">
                <a:moveTo>
                  <a:pt x="0" y="0"/>
                </a:moveTo>
                <a:lnTo>
                  <a:pt x="99" y="28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1947672" y="6519672"/>
            <a:ext cx="155448" cy="45720"/>
          </a:xfrm>
          <a:custGeom>
            <a:avLst/>
            <a:gdLst/>
            <a:ahLst/>
            <a:cxnLst/>
            <a:rect l="l" t="t" r="r" b="b"/>
            <a:pathLst>
              <a:path w="17" h="5">
                <a:moveTo>
                  <a:pt x="0" y="0"/>
                </a:moveTo>
                <a:lnTo>
                  <a:pt x="17" y="5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909931" y="3647177"/>
            <a:ext cx="203813" cy="126718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955789" y="3661257"/>
            <a:ext cx="71334" cy="4223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94520" y="5014568"/>
            <a:ext cx="215356" cy="133895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42975" y="5029445"/>
            <a:ext cx="75374" cy="4463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60278" y="4179144"/>
            <a:ext cx="226284" cy="140689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411192" y="4194777"/>
            <a:ext cx="79199" cy="4689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833422" y="3316822"/>
            <a:ext cx="219434" cy="136430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882795" y="3331981"/>
            <a:ext cx="76801" cy="4547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342323" y="5101663"/>
            <a:ext cx="258875" cy="160952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400570" y="5119546"/>
            <a:ext cx="90606" cy="5365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382655" y="3295460"/>
            <a:ext cx="242435" cy="150731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437203" y="3312208"/>
            <a:ext cx="84852" cy="5024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19300" y="3727776"/>
            <a:ext cx="187835" cy="116784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761563" y="3740752"/>
            <a:ext cx="65742" cy="3892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772111" y="3294834"/>
            <a:ext cx="233759" cy="145337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824706" y="3310983"/>
            <a:ext cx="81815" cy="4844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435492" y="5067472"/>
            <a:ext cx="233803" cy="145364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488098" y="5083623"/>
            <a:ext cx="81831" cy="4845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943536" y="3172640"/>
            <a:ext cx="249525" cy="155139"/>
          </a:xfrm>
          <a:prstGeom prst="ellipse">
            <a:avLst/>
          </a:prstGeom>
          <a:solidFill>
            <a:srgbClr val="3E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99679" y="3189878"/>
            <a:ext cx="87333" cy="5171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48812" y="4187379"/>
            <a:ext cx="271322" cy="168691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809860" y="4206122"/>
            <a:ext cx="94962" cy="5623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302602" y="4419317"/>
            <a:ext cx="180675" cy="112332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343254" y="4431799"/>
            <a:ext cx="63236" cy="3744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174566" y="3460469"/>
            <a:ext cx="258254" cy="160566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232673" y="3478310"/>
            <a:ext cx="90389" cy="53522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555861" y="3137648"/>
            <a:ext cx="207337" cy="128909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602511" y="3151972"/>
            <a:ext cx="72568" cy="4296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638087" y="4091393"/>
            <a:ext cx="245068" cy="152368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693227" y="4108323"/>
            <a:ext cx="85774" cy="5078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024478" y="3658542"/>
            <a:ext cx="270241" cy="168019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085282" y="3677211"/>
            <a:ext cx="94584" cy="5600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810523" y="4706192"/>
            <a:ext cx="181276" cy="112706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851310" y="4718715"/>
            <a:ext cx="63446" cy="3756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23443" y="4405034"/>
            <a:ext cx="215748" cy="134139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071986" y="4419939"/>
            <a:ext cx="75511" cy="4471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504471" y="3551710"/>
            <a:ext cx="245874" cy="152869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559793" y="3568695"/>
            <a:ext cx="86056" cy="50956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78836" y="5189398"/>
            <a:ext cx="192945" cy="119961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322249" y="5202727"/>
            <a:ext cx="67531" cy="3998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 flipV="1">
            <a:off x="4420575" y="5138592"/>
            <a:ext cx="0" cy="126706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321414" y="5105539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420575" y="5072485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 flipV="1">
            <a:off x="4886206" y="5138592"/>
            <a:ext cx="0" cy="126706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787045" y="5105539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886206" y="5072485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 flipV="1">
            <a:off x="5351836" y="5138592"/>
            <a:ext cx="0" cy="126706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252676" y="5105539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351836" y="5072485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/>
          <p:nvPr/>
        </p:nvCxnSpPr>
        <p:spPr>
          <a:xfrm flipV="1">
            <a:off x="4420575" y="5507333"/>
            <a:ext cx="0" cy="126706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21414" y="5474280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4420575" y="5441226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Connector 76"/>
          <p:cNvCxnSpPr/>
          <p:nvPr/>
        </p:nvCxnSpPr>
        <p:spPr>
          <a:xfrm flipV="1">
            <a:off x="4886206" y="5507333"/>
            <a:ext cx="0" cy="126706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4787045" y="5474280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886206" y="5441226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0" name="Connector 79"/>
          <p:cNvCxnSpPr/>
          <p:nvPr/>
        </p:nvCxnSpPr>
        <p:spPr>
          <a:xfrm flipV="1">
            <a:off x="5351836" y="5507333"/>
            <a:ext cx="0" cy="126706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5252676" y="5474280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351836" y="5441226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/>
          <p:cNvCxnSpPr/>
          <p:nvPr/>
        </p:nvCxnSpPr>
        <p:spPr>
          <a:xfrm flipV="1">
            <a:off x="4420575" y="5876074"/>
            <a:ext cx="0" cy="126705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321414" y="5843021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420575" y="5809967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 flipV="1">
            <a:off x="4886206" y="5876074"/>
            <a:ext cx="0" cy="126705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787045" y="5843021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4886206" y="5809967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Connector 88"/>
          <p:cNvCxnSpPr/>
          <p:nvPr/>
        </p:nvCxnSpPr>
        <p:spPr>
          <a:xfrm flipV="1">
            <a:off x="5351836" y="5876074"/>
            <a:ext cx="0" cy="126705"/>
          </a:xfrm>
          <a:prstGeom prst="line">
            <a:avLst/>
          </a:prstGeom>
          <a:ln w="11017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5252676" y="5843021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5351836" y="5809967"/>
            <a:ext cx="99160" cy="55089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" name="Connector 91"/>
          <p:cNvCxnSpPr/>
          <p:nvPr/>
        </p:nvCxnSpPr>
        <p:spPr>
          <a:xfrm flipH="1" flipV="1">
            <a:off x="3184426" y="3961877"/>
            <a:ext cx="8736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228106" y="3961877"/>
            <a:ext cx="0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263050" y="3961877"/>
            <a:ext cx="8736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4092973" y="4275699"/>
            <a:ext cx="8737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136654" y="4275699"/>
            <a:ext cx="0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171598" y="4275699"/>
            <a:ext cx="8736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2957289" y="5295620"/>
            <a:ext cx="8736" cy="87361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000969" y="5295620"/>
            <a:ext cx="0" cy="87361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035913" y="5295620"/>
            <a:ext cx="8736" cy="87361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3638700" y="5884037"/>
            <a:ext cx="8736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682380" y="5884037"/>
            <a:ext cx="0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717324" y="5884037"/>
            <a:ext cx="8736" cy="87360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1014984" y="3145536"/>
            <a:ext cx="5111496" cy="3575304"/>
          </a:xfrm>
          <a:custGeom>
            <a:avLst/>
            <a:gdLst/>
            <a:ahLst/>
            <a:cxnLst/>
            <a:rect l="l" t="t" r="r" b="b"/>
            <a:pathLst>
              <a:path w="559" h="391">
                <a:moveTo>
                  <a:pt x="12" y="258"/>
                </a:moveTo>
                <a:lnTo>
                  <a:pt x="105" y="373"/>
                </a:lnTo>
                <a:lnTo>
                  <a:pt x="397" y="391"/>
                </a:lnTo>
                <a:lnTo>
                  <a:pt x="559" y="283"/>
                </a:lnTo>
                <a:lnTo>
                  <a:pt x="553" y="116"/>
                </a:lnTo>
                <a:lnTo>
                  <a:pt x="410" y="17"/>
                </a:lnTo>
                <a:lnTo>
                  <a:pt x="186" y="0"/>
                </a:lnTo>
                <a:lnTo>
                  <a:pt x="0" y="112"/>
                </a:lnTo>
                <a:lnTo>
                  <a:pt x="12" y="258"/>
                </a:lnTo>
                <a:close/>
              </a:path>
            </a:pathLst>
          </a:custGeom>
          <a:noFill/>
          <a:ln w="19202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reeform 104"/>
          <p:cNvSpPr/>
          <p:nvPr/>
        </p:nvSpPr>
        <p:spPr>
          <a:xfrm>
            <a:off x="4023360" y="4480560"/>
            <a:ext cx="2093976" cy="2157984"/>
          </a:xfrm>
          <a:custGeom>
            <a:avLst/>
            <a:gdLst/>
            <a:ahLst/>
            <a:cxnLst/>
            <a:rect l="l" t="t" r="r" b="b"/>
            <a:pathLst>
              <a:path w="229" h="236">
                <a:moveTo>
                  <a:pt x="224" y="0"/>
                </a:moveTo>
                <a:lnTo>
                  <a:pt x="37" y="43"/>
                </a:lnTo>
                <a:lnTo>
                  <a:pt x="0" y="146"/>
                </a:lnTo>
                <a:lnTo>
                  <a:pt x="62" y="236"/>
                </a:lnTo>
                <a:lnTo>
                  <a:pt x="112" y="216"/>
                </a:lnTo>
                <a:lnTo>
                  <a:pt x="229" y="138"/>
                </a:lnTo>
                <a:lnTo>
                  <a:pt x="224" y="0"/>
                </a:lnTo>
                <a:close/>
              </a:path>
            </a:pathLst>
          </a:custGeom>
          <a:noFill/>
          <a:ln w="2743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5458968" y="3867912"/>
            <a:ext cx="2258568" cy="1499616"/>
          </a:xfrm>
          <a:prstGeom prst="line">
            <a:avLst/>
          </a:prstGeom>
          <a:ln w="18288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5385816" y="5294376"/>
            <a:ext cx="146304" cy="146304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44383" y="3794760"/>
            <a:ext cx="146304" cy="146304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Freeform 108"/>
          <p:cNvSpPr/>
          <p:nvPr/>
        </p:nvSpPr>
        <p:spPr>
          <a:xfrm>
            <a:off x="7854696" y="3090672"/>
            <a:ext cx="3392424" cy="3438144"/>
          </a:xfrm>
          <a:custGeom>
            <a:avLst/>
            <a:gdLst/>
            <a:ahLst/>
            <a:cxnLst/>
            <a:rect l="l" t="t" r="r" b="b"/>
            <a:pathLst>
              <a:path w="371" h="376">
                <a:moveTo>
                  <a:pt x="0" y="0"/>
                </a:moveTo>
                <a:lnTo>
                  <a:pt x="371" y="0"/>
                </a:lnTo>
                <a:lnTo>
                  <a:pt x="371" y="359"/>
                </a:lnTo>
                <a:lnTo>
                  <a:pt x="349" y="376"/>
                </a:lnTo>
                <a:lnTo>
                  <a:pt x="326" y="359"/>
                </a:lnTo>
                <a:lnTo>
                  <a:pt x="303" y="376"/>
                </a:lnTo>
                <a:lnTo>
                  <a:pt x="280" y="359"/>
                </a:lnTo>
                <a:lnTo>
                  <a:pt x="257" y="376"/>
                </a:lnTo>
                <a:lnTo>
                  <a:pt x="234" y="359"/>
                </a:lnTo>
                <a:lnTo>
                  <a:pt x="211" y="376"/>
                </a:lnTo>
                <a:lnTo>
                  <a:pt x="188" y="359"/>
                </a:lnTo>
                <a:lnTo>
                  <a:pt x="165" y="376"/>
                </a:lnTo>
                <a:lnTo>
                  <a:pt x="142" y="359"/>
                </a:lnTo>
                <a:lnTo>
                  <a:pt x="119" y="376"/>
                </a:lnTo>
                <a:lnTo>
                  <a:pt x="96" y="359"/>
                </a:lnTo>
                <a:lnTo>
                  <a:pt x="73" y="376"/>
                </a:lnTo>
                <a:lnTo>
                  <a:pt x="50" y="359"/>
                </a:lnTo>
                <a:lnTo>
                  <a:pt x="27" y="376"/>
                </a:lnTo>
                <a:lnTo>
                  <a:pt x="0" y="359"/>
                </a:lnTo>
                <a:close/>
              </a:path>
            </a:pathLst>
          </a:custGeom>
          <a:solidFill>
            <a:srgbClr val="0B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Freeform 109"/>
          <p:cNvSpPr/>
          <p:nvPr/>
        </p:nvSpPr>
        <p:spPr>
          <a:xfrm>
            <a:off x="7781544" y="2971800"/>
            <a:ext cx="3392424" cy="3438144"/>
          </a:xfrm>
          <a:custGeom>
            <a:avLst/>
            <a:gdLst/>
            <a:ahLst/>
            <a:cxnLst/>
            <a:rect l="l" t="t" r="r" b="b"/>
            <a:pathLst>
              <a:path w="371" h="376">
                <a:moveTo>
                  <a:pt x="0" y="0"/>
                </a:moveTo>
                <a:lnTo>
                  <a:pt x="371" y="0"/>
                </a:lnTo>
                <a:lnTo>
                  <a:pt x="371" y="359"/>
                </a:lnTo>
                <a:lnTo>
                  <a:pt x="349" y="376"/>
                </a:lnTo>
                <a:lnTo>
                  <a:pt x="326" y="359"/>
                </a:lnTo>
                <a:lnTo>
                  <a:pt x="303" y="376"/>
                </a:lnTo>
                <a:lnTo>
                  <a:pt x="280" y="359"/>
                </a:lnTo>
                <a:lnTo>
                  <a:pt x="257" y="376"/>
                </a:lnTo>
                <a:lnTo>
                  <a:pt x="234" y="359"/>
                </a:lnTo>
                <a:lnTo>
                  <a:pt x="211" y="376"/>
                </a:lnTo>
                <a:lnTo>
                  <a:pt x="188" y="359"/>
                </a:lnTo>
                <a:lnTo>
                  <a:pt x="165" y="376"/>
                </a:lnTo>
                <a:lnTo>
                  <a:pt x="142" y="359"/>
                </a:lnTo>
                <a:lnTo>
                  <a:pt x="119" y="376"/>
                </a:lnTo>
                <a:lnTo>
                  <a:pt x="96" y="359"/>
                </a:lnTo>
                <a:lnTo>
                  <a:pt x="73" y="376"/>
                </a:lnTo>
                <a:lnTo>
                  <a:pt x="50" y="359"/>
                </a:lnTo>
                <a:lnTo>
                  <a:pt x="27" y="376"/>
                </a:lnTo>
                <a:lnTo>
                  <a:pt x="0" y="359"/>
                </a:lnTo>
                <a:close/>
              </a:path>
            </a:pathLst>
          </a:cu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083296" y="3236976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 spc="100">
                <a:solidFill>
                  <a:srgbClr val="386951"/>
                </a:solidFill>
                <a:latin typeface="Inter"/>
              </a:rPr>
              <a:t>EVIDENCE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2440" y="3895344"/>
            <a:ext cx="11521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13B32"/>
                </a:solidFill>
              </a:rPr>
              <a:t>Source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537192" y="4005072"/>
            <a:ext cx="1197864" cy="64008"/>
          </a:xfrm>
          <a:prstGeom prst="roundRect">
            <a:avLst>
              <a:gd name="adj" fmla="val 20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092440" y="4443984"/>
            <a:ext cx="11521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13B32"/>
                </a:solidFill>
              </a:rPr>
              <a:t>Date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537192" y="4553712"/>
            <a:ext cx="832104" cy="64008"/>
          </a:xfrm>
          <a:prstGeom prst="roundRect">
            <a:avLst>
              <a:gd name="adj" fmla="val 20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092440" y="4992624"/>
            <a:ext cx="11521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13B32"/>
                </a:solidFill>
              </a:rPr>
              <a:t>Method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537192" y="5102352"/>
            <a:ext cx="1417320" cy="64008"/>
          </a:xfrm>
          <a:prstGeom prst="roundRect">
            <a:avLst>
              <a:gd name="adj" fmla="val 20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092440" y="5541264"/>
            <a:ext cx="11521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113B32"/>
                </a:solidFill>
              </a:rPr>
              <a:t>Limits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537192" y="5650992"/>
            <a:ext cx="978408" cy="64008"/>
          </a:xfrm>
          <a:prstGeom prst="roundRect">
            <a:avLst>
              <a:gd name="adj" fmla="val 20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reeform 119"/>
          <p:cNvSpPr/>
          <p:nvPr/>
        </p:nvSpPr>
        <p:spPr>
          <a:xfrm>
            <a:off x="12536722" y="3986784"/>
            <a:ext cx="393192" cy="201168"/>
          </a:xfrm>
          <a:custGeom>
            <a:avLst/>
            <a:gdLst/>
            <a:ahLst/>
            <a:cxnLst/>
            <a:rect l="l" t="t" r="r" b="b"/>
            <a:pathLst>
              <a:path w="43" h="22">
                <a:moveTo>
                  <a:pt x="0" y="22"/>
                </a:moveTo>
                <a:lnTo>
                  <a:pt x="0" y="18"/>
                </a:lnTo>
                <a:lnTo>
                  <a:pt x="1" y="15"/>
                </a:lnTo>
                <a:lnTo>
                  <a:pt x="2" y="12"/>
                </a:lnTo>
                <a:lnTo>
                  <a:pt x="4" y="9"/>
                </a:lnTo>
                <a:lnTo>
                  <a:pt x="6" y="7"/>
                </a:lnTo>
                <a:lnTo>
                  <a:pt x="9" y="4"/>
                </a:lnTo>
                <a:lnTo>
                  <a:pt x="12" y="3"/>
                </a:lnTo>
                <a:lnTo>
                  <a:pt x="15" y="1"/>
                </a:lnTo>
                <a:lnTo>
                  <a:pt x="18" y="0"/>
                </a:lnTo>
                <a:lnTo>
                  <a:pt x="22" y="0"/>
                </a:lnTo>
                <a:lnTo>
                  <a:pt x="25" y="0"/>
                </a:lnTo>
                <a:lnTo>
                  <a:pt x="28" y="1"/>
                </a:lnTo>
                <a:lnTo>
                  <a:pt x="31" y="3"/>
                </a:lnTo>
                <a:lnTo>
                  <a:pt x="34" y="4"/>
                </a:lnTo>
                <a:lnTo>
                  <a:pt x="37" y="7"/>
                </a:lnTo>
                <a:lnTo>
                  <a:pt x="39" y="9"/>
                </a:lnTo>
                <a:lnTo>
                  <a:pt x="41" y="12"/>
                </a:lnTo>
                <a:lnTo>
                  <a:pt x="42" y="15"/>
                </a:lnTo>
                <a:lnTo>
                  <a:pt x="43" y="18"/>
                </a:lnTo>
                <a:lnTo>
                  <a:pt x="43" y="22"/>
                </a:lnTo>
              </a:path>
            </a:pathLst>
          </a:custGeom>
          <a:noFill/>
          <a:ln w="21031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12454426" y="4169663"/>
            <a:ext cx="559612" cy="477316"/>
          </a:xfrm>
          <a:prstGeom prst="roundRect">
            <a:avLst>
              <a:gd name="adj" fmla="val 8000"/>
            </a:avLst>
          </a:prstGeom>
          <a:solidFill>
            <a:srgbClr val="386951"/>
          </a:solidFill>
          <a:ln w="16459">
            <a:solidFill>
              <a:srgbClr val="DDE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2684854" y="4317796"/>
            <a:ext cx="98755" cy="98755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1713464" y="4992624"/>
            <a:ext cx="2258568" cy="1134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088" b="1" dirty="0">
                <a:solidFill>
                  <a:srgbClr val="FFFFFF"/>
                </a:solidFill>
                <a:latin typeface="Inter"/>
              </a:rPr>
              <a:t>Local records stay under local control.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088" b="1" dirty="0">
                <a:solidFill>
                  <a:srgbClr val="FFFFFF"/>
                </a:solidFill>
                <a:latin typeface="Inter"/>
              </a:rPr>
              <a:t>Publish by choice.</a:t>
            </a:r>
            <a:endParaRPr sz="2088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13232" y="7050024"/>
            <a:ext cx="9966960" cy="307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16" b="0" dirty="0">
                <a:solidFill>
                  <a:srgbClr val="B0C5B6"/>
                </a:solidFill>
              </a:rPr>
              <a:t>Make information reusable without losing its evidence.</a:t>
            </a:r>
            <a:endParaRPr sz="2016" b="0" dirty="0">
              <a:solidFill>
                <a:srgbClr val="B0C5B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386951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63756B"/>
                </a:solidFill>
                <a:latin typeface="Inter"/>
              </a:rPr>
              <a:t>SIGNIFICANCE / EXPECTED PUBLIC VALUE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63756B"/>
                </a:solidFill>
              </a:rPr>
              <a:t>INTENDED EFFECTS • TO BE TESTED THROUGH REAL-DATA VALIDATION AND PILOTS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63756B"/>
                </a:solidFill>
                <a:latin typeface="Inter"/>
              </a:rPr>
              <a:t>09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2801600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800" b="1" dirty="0">
                <a:solidFill>
                  <a:srgbClr val="113B32"/>
                </a:solidFill>
              </a:rPr>
              <a:t>One shared capability. Three forms of public value.</a:t>
            </a:r>
            <a:endParaRPr sz="3800" b="1" dirty="0">
              <a:solidFill>
                <a:srgbClr val="113B32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303520" y="2651760"/>
            <a:ext cx="3840480" cy="3840480"/>
          </a:xfrm>
          <a:prstGeom prst="ellipse">
            <a:avLst/>
          </a:prstGeom>
          <a:noFill/>
          <a:ln w="12801">
            <a:solidFill>
              <a:srgbClr val="D6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06440" y="3154680"/>
            <a:ext cx="2834640" cy="2834640"/>
          </a:xfrm>
          <a:prstGeom prst="ellipse">
            <a:avLst/>
          </a:prstGeom>
          <a:noFill/>
          <a:ln w="12801">
            <a:solidFill>
              <a:srgbClr val="D6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60" y="3657600"/>
            <a:ext cx="1828800" cy="1828800"/>
          </a:xfrm>
          <a:prstGeom prst="ellipse">
            <a:avLst/>
          </a:prstGeom>
          <a:noFill/>
          <a:ln w="12801">
            <a:solidFill>
              <a:srgbClr val="D6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65392" y="3913632"/>
            <a:ext cx="1316736" cy="1316736"/>
          </a:xfrm>
          <a:prstGeom prst="ellipse">
            <a:avLst/>
          </a:prstGeom>
          <a:solidFill>
            <a:srgbClr val="D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6720840" y="4270248"/>
            <a:ext cx="987552" cy="694944"/>
          </a:xfrm>
          <a:custGeom>
            <a:avLst/>
            <a:gdLst/>
            <a:ahLst/>
            <a:cxnLst/>
            <a:rect l="l" t="t" r="r" b="b"/>
            <a:pathLst>
              <a:path w="108" h="76">
                <a:moveTo>
                  <a:pt x="2" y="50"/>
                </a:moveTo>
                <a:lnTo>
                  <a:pt x="20" y="73"/>
                </a:lnTo>
                <a:lnTo>
                  <a:pt x="77" y="76"/>
                </a:lnTo>
                <a:lnTo>
                  <a:pt x="108" y="55"/>
                </a:lnTo>
                <a:lnTo>
                  <a:pt x="107" y="23"/>
                </a:lnTo>
                <a:lnTo>
                  <a:pt x="79" y="4"/>
                </a:lnTo>
                <a:lnTo>
                  <a:pt x="36" y="0"/>
                </a:lnTo>
                <a:lnTo>
                  <a:pt x="0" y="22"/>
                </a:lnTo>
                <a:lnTo>
                  <a:pt x="2" y="50"/>
                </a:lnTo>
                <a:close/>
              </a:path>
            </a:pathLst>
          </a:custGeom>
          <a:solidFill>
            <a:srgbClr val="D6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6720840" y="4215384"/>
            <a:ext cx="987552" cy="694944"/>
          </a:xfrm>
          <a:custGeom>
            <a:avLst/>
            <a:gdLst/>
            <a:ahLst/>
            <a:cxnLst/>
            <a:rect l="l" t="t" r="r" b="b"/>
            <a:pathLst>
              <a:path w="108" h="76">
                <a:moveTo>
                  <a:pt x="2" y="50"/>
                </a:moveTo>
                <a:lnTo>
                  <a:pt x="20" y="73"/>
                </a:lnTo>
                <a:lnTo>
                  <a:pt x="77" y="76"/>
                </a:lnTo>
                <a:lnTo>
                  <a:pt x="108" y="55"/>
                </a:lnTo>
                <a:lnTo>
                  <a:pt x="107" y="23"/>
                </a:lnTo>
                <a:lnTo>
                  <a:pt x="79" y="4"/>
                </a:lnTo>
                <a:lnTo>
                  <a:pt x="36" y="0"/>
                </a:lnTo>
                <a:lnTo>
                  <a:pt x="0" y="22"/>
                </a:lnTo>
                <a:lnTo>
                  <a:pt x="2" y="50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6720840" y="4169664"/>
            <a:ext cx="987552" cy="694944"/>
          </a:xfrm>
          <a:custGeom>
            <a:avLst/>
            <a:gdLst/>
            <a:ahLst/>
            <a:cxnLst/>
            <a:rect l="l" t="t" r="r" b="b"/>
            <a:pathLst>
              <a:path w="108" h="76">
                <a:moveTo>
                  <a:pt x="2" y="50"/>
                </a:moveTo>
                <a:lnTo>
                  <a:pt x="20" y="73"/>
                </a:lnTo>
                <a:lnTo>
                  <a:pt x="77" y="76"/>
                </a:lnTo>
                <a:lnTo>
                  <a:pt x="108" y="55"/>
                </a:lnTo>
                <a:lnTo>
                  <a:pt x="107" y="23"/>
                </a:lnTo>
                <a:lnTo>
                  <a:pt x="79" y="4"/>
                </a:lnTo>
                <a:lnTo>
                  <a:pt x="36" y="0"/>
                </a:lnTo>
                <a:lnTo>
                  <a:pt x="0" y="22"/>
                </a:lnTo>
                <a:lnTo>
                  <a:pt x="2" y="50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6720840" y="4169664"/>
            <a:ext cx="704088" cy="438912"/>
          </a:xfrm>
          <a:custGeom>
            <a:avLst/>
            <a:gdLst/>
            <a:ahLst/>
            <a:cxnLst/>
            <a:rect l="l" t="t" r="r" b="b"/>
            <a:pathLst>
              <a:path w="77" h="48">
                <a:moveTo>
                  <a:pt x="26" y="48"/>
                </a:moveTo>
                <a:lnTo>
                  <a:pt x="51" y="37"/>
                </a:lnTo>
                <a:lnTo>
                  <a:pt x="69" y="21"/>
                </a:lnTo>
                <a:lnTo>
                  <a:pt x="77" y="3"/>
                </a:lnTo>
                <a:lnTo>
                  <a:pt x="36" y="0"/>
                </a:lnTo>
                <a:lnTo>
                  <a:pt x="0" y="22"/>
                </a:lnTo>
                <a:lnTo>
                  <a:pt x="2" y="48"/>
                </a:lnTo>
                <a:lnTo>
                  <a:pt x="26" y="48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6739128" y="4535424"/>
            <a:ext cx="393192" cy="310896"/>
          </a:xfrm>
          <a:custGeom>
            <a:avLst/>
            <a:gdLst/>
            <a:ahLst/>
            <a:cxnLst/>
            <a:rect l="l" t="t" r="r" b="b"/>
            <a:pathLst>
              <a:path w="43" h="34">
                <a:moveTo>
                  <a:pt x="43" y="14"/>
                </a:moveTo>
                <a:lnTo>
                  <a:pt x="29" y="0"/>
                </a:lnTo>
                <a:lnTo>
                  <a:pt x="0" y="5"/>
                </a:lnTo>
                <a:lnTo>
                  <a:pt x="0" y="10"/>
                </a:lnTo>
                <a:lnTo>
                  <a:pt x="18" y="33"/>
                </a:lnTo>
                <a:lnTo>
                  <a:pt x="41" y="34"/>
                </a:lnTo>
                <a:lnTo>
                  <a:pt x="43" y="14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7296912" y="443484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5" h="45">
                <a:moveTo>
                  <a:pt x="44" y="0"/>
                </a:moveTo>
                <a:lnTo>
                  <a:pt x="8" y="8"/>
                </a:lnTo>
                <a:lnTo>
                  <a:pt x="0" y="28"/>
                </a:lnTo>
                <a:lnTo>
                  <a:pt x="12" y="45"/>
                </a:lnTo>
                <a:lnTo>
                  <a:pt x="22" y="41"/>
                </a:lnTo>
                <a:lnTo>
                  <a:pt x="45" y="26"/>
                </a:lnTo>
                <a:lnTo>
                  <a:pt x="44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7040880" y="4187952"/>
            <a:ext cx="393192" cy="667512"/>
          </a:xfrm>
          <a:custGeom>
            <a:avLst/>
            <a:gdLst/>
            <a:ahLst/>
            <a:cxnLst/>
            <a:rect l="l" t="t" r="r" b="b"/>
            <a:pathLst>
              <a:path w="43" h="73">
                <a:moveTo>
                  <a:pt x="8" y="17"/>
                </a:moveTo>
                <a:lnTo>
                  <a:pt x="8" y="18"/>
                </a:lnTo>
                <a:lnTo>
                  <a:pt x="8" y="19"/>
                </a:lnTo>
                <a:lnTo>
                  <a:pt x="7" y="20"/>
                </a:lnTo>
                <a:lnTo>
                  <a:pt x="7" y="21"/>
                </a:lnTo>
                <a:lnTo>
                  <a:pt x="7" y="22"/>
                </a:lnTo>
                <a:lnTo>
                  <a:pt x="8" y="23"/>
                </a:lnTo>
                <a:lnTo>
                  <a:pt x="8" y="23"/>
                </a:lnTo>
                <a:lnTo>
                  <a:pt x="12" y="32"/>
                </a:lnTo>
                <a:lnTo>
                  <a:pt x="2" y="44"/>
                </a:lnTo>
                <a:lnTo>
                  <a:pt x="1" y="44"/>
                </a:lnTo>
                <a:lnTo>
                  <a:pt x="1" y="45"/>
                </a:lnTo>
                <a:lnTo>
                  <a:pt x="1" y="46"/>
                </a:lnTo>
                <a:lnTo>
                  <a:pt x="0" y="47"/>
                </a:lnTo>
                <a:lnTo>
                  <a:pt x="0" y="47"/>
                </a:lnTo>
                <a:lnTo>
                  <a:pt x="0" y="48"/>
                </a:lnTo>
                <a:lnTo>
                  <a:pt x="0" y="49"/>
                </a:lnTo>
                <a:lnTo>
                  <a:pt x="0" y="50"/>
                </a:lnTo>
                <a:lnTo>
                  <a:pt x="5" y="65"/>
                </a:lnTo>
                <a:lnTo>
                  <a:pt x="2" y="72"/>
                </a:lnTo>
                <a:lnTo>
                  <a:pt x="28" y="73"/>
                </a:lnTo>
                <a:lnTo>
                  <a:pt x="30" y="67"/>
                </a:lnTo>
                <a:lnTo>
                  <a:pt x="30" y="66"/>
                </a:lnTo>
                <a:lnTo>
                  <a:pt x="30" y="65"/>
                </a:lnTo>
                <a:lnTo>
                  <a:pt x="30" y="65"/>
                </a:lnTo>
                <a:lnTo>
                  <a:pt x="30" y="64"/>
                </a:lnTo>
                <a:lnTo>
                  <a:pt x="30" y="63"/>
                </a:lnTo>
                <a:lnTo>
                  <a:pt x="26" y="50"/>
                </a:lnTo>
                <a:lnTo>
                  <a:pt x="37" y="38"/>
                </a:lnTo>
                <a:lnTo>
                  <a:pt x="37" y="37"/>
                </a:lnTo>
                <a:lnTo>
                  <a:pt x="38" y="36"/>
                </a:lnTo>
                <a:lnTo>
                  <a:pt x="38" y="35"/>
                </a:lnTo>
                <a:lnTo>
                  <a:pt x="38" y="35"/>
                </a:lnTo>
                <a:lnTo>
                  <a:pt x="39" y="34"/>
                </a:lnTo>
                <a:lnTo>
                  <a:pt x="39" y="33"/>
                </a:lnTo>
                <a:lnTo>
                  <a:pt x="38" y="32"/>
                </a:lnTo>
                <a:lnTo>
                  <a:pt x="38" y="31"/>
                </a:lnTo>
                <a:lnTo>
                  <a:pt x="38" y="30"/>
                </a:lnTo>
                <a:lnTo>
                  <a:pt x="33" y="21"/>
                </a:lnTo>
                <a:lnTo>
                  <a:pt x="40" y="11"/>
                </a:lnTo>
                <a:lnTo>
                  <a:pt x="40" y="10"/>
                </a:lnTo>
                <a:lnTo>
                  <a:pt x="41" y="9"/>
                </a:lnTo>
                <a:lnTo>
                  <a:pt x="43" y="2"/>
                </a:lnTo>
                <a:lnTo>
                  <a:pt x="18" y="0"/>
                </a:lnTo>
                <a:lnTo>
                  <a:pt x="16" y="5"/>
                </a:lnTo>
                <a:lnTo>
                  <a:pt x="8" y="17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7132320" y="4187952"/>
            <a:ext cx="219456" cy="658368"/>
          </a:xfrm>
          <a:custGeom>
            <a:avLst/>
            <a:gdLst/>
            <a:ahLst/>
            <a:cxnLst/>
            <a:rect l="l" t="t" r="r" b="b"/>
            <a:pathLst>
              <a:path w="24" h="72">
                <a:moveTo>
                  <a:pt x="7" y="20"/>
                </a:moveTo>
                <a:lnTo>
                  <a:pt x="7" y="20"/>
                </a:lnTo>
                <a:lnTo>
                  <a:pt x="7" y="20"/>
                </a:lnTo>
                <a:lnTo>
                  <a:pt x="7" y="21"/>
                </a:lnTo>
                <a:lnTo>
                  <a:pt x="7" y="21"/>
                </a:lnTo>
                <a:lnTo>
                  <a:pt x="7" y="21"/>
                </a:lnTo>
                <a:lnTo>
                  <a:pt x="7" y="21"/>
                </a:lnTo>
                <a:lnTo>
                  <a:pt x="7" y="21"/>
                </a:lnTo>
                <a:lnTo>
                  <a:pt x="13" y="33"/>
                </a:lnTo>
                <a:lnTo>
                  <a:pt x="0" y="47"/>
                </a:lnTo>
                <a:lnTo>
                  <a:pt x="0" y="47"/>
                </a:lnTo>
                <a:lnTo>
                  <a:pt x="0" y="47"/>
                </a:lnTo>
                <a:lnTo>
                  <a:pt x="0" y="48"/>
                </a:lnTo>
                <a:lnTo>
                  <a:pt x="0" y="48"/>
                </a:lnTo>
                <a:lnTo>
                  <a:pt x="0" y="48"/>
                </a:lnTo>
                <a:lnTo>
                  <a:pt x="0" y="48"/>
                </a:lnTo>
                <a:lnTo>
                  <a:pt x="0" y="48"/>
                </a:lnTo>
                <a:lnTo>
                  <a:pt x="0" y="49"/>
                </a:lnTo>
                <a:lnTo>
                  <a:pt x="5" y="65"/>
                </a:lnTo>
                <a:lnTo>
                  <a:pt x="2" y="72"/>
                </a:lnTo>
                <a:lnTo>
                  <a:pt x="8" y="72"/>
                </a:lnTo>
                <a:lnTo>
                  <a:pt x="11" y="65"/>
                </a:lnTo>
                <a:lnTo>
                  <a:pt x="11" y="65"/>
                </a:lnTo>
                <a:lnTo>
                  <a:pt x="11" y="65"/>
                </a:lnTo>
                <a:lnTo>
                  <a:pt x="11" y="65"/>
                </a:lnTo>
                <a:lnTo>
                  <a:pt x="11" y="64"/>
                </a:lnTo>
                <a:lnTo>
                  <a:pt x="11" y="64"/>
                </a:lnTo>
                <a:lnTo>
                  <a:pt x="6" y="49"/>
                </a:lnTo>
                <a:lnTo>
                  <a:pt x="19" y="34"/>
                </a:lnTo>
                <a:lnTo>
                  <a:pt x="19" y="34"/>
                </a:lnTo>
                <a:lnTo>
                  <a:pt x="19" y="34"/>
                </a:lnTo>
                <a:lnTo>
                  <a:pt x="19" y="34"/>
                </a:lnTo>
                <a:lnTo>
                  <a:pt x="19" y="34"/>
                </a:lnTo>
                <a:lnTo>
                  <a:pt x="19" y="33"/>
                </a:lnTo>
                <a:lnTo>
                  <a:pt x="19" y="33"/>
                </a:lnTo>
                <a:lnTo>
                  <a:pt x="19" y="33"/>
                </a:lnTo>
                <a:lnTo>
                  <a:pt x="19" y="33"/>
                </a:lnTo>
                <a:lnTo>
                  <a:pt x="19" y="33"/>
                </a:lnTo>
                <a:lnTo>
                  <a:pt x="13" y="21"/>
                </a:lnTo>
                <a:lnTo>
                  <a:pt x="21" y="8"/>
                </a:lnTo>
                <a:lnTo>
                  <a:pt x="21" y="8"/>
                </a:lnTo>
                <a:lnTo>
                  <a:pt x="21" y="8"/>
                </a:lnTo>
                <a:lnTo>
                  <a:pt x="24" y="1"/>
                </a:lnTo>
                <a:lnTo>
                  <a:pt x="18" y="0"/>
                </a:lnTo>
                <a:lnTo>
                  <a:pt x="16" y="7"/>
                </a:lnTo>
                <a:lnTo>
                  <a:pt x="7" y="20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6729984" y="4443984"/>
            <a:ext cx="978408" cy="201168"/>
          </a:xfrm>
          <a:custGeom>
            <a:avLst/>
            <a:gdLst/>
            <a:ahLst/>
            <a:cxnLst/>
            <a:rect l="l" t="t" r="r" b="b"/>
            <a:pathLst>
              <a:path w="107" h="22">
                <a:moveTo>
                  <a:pt x="38" y="8"/>
                </a:moveTo>
                <a:lnTo>
                  <a:pt x="58" y="18"/>
                </a:lnTo>
                <a:lnTo>
                  <a:pt x="58" y="18"/>
                </a:lnTo>
                <a:lnTo>
                  <a:pt x="58" y="18"/>
                </a:lnTo>
                <a:lnTo>
                  <a:pt x="58" y="18"/>
                </a:lnTo>
                <a:lnTo>
                  <a:pt x="59" y="18"/>
                </a:lnTo>
                <a:lnTo>
                  <a:pt x="59" y="18"/>
                </a:lnTo>
                <a:lnTo>
                  <a:pt x="86" y="22"/>
                </a:lnTo>
                <a:lnTo>
                  <a:pt x="86" y="22"/>
                </a:lnTo>
                <a:lnTo>
                  <a:pt x="86" y="22"/>
                </a:lnTo>
                <a:lnTo>
                  <a:pt x="87" y="22"/>
                </a:lnTo>
                <a:lnTo>
                  <a:pt x="87" y="22"/>
                </a:lnTo>
                <a:lnTo>
                  <a:pt x="107" y="18"/>
                </a:lnTo>
                <a:lnTo>
                  <a:pt x="106" y="16"/>
                </a:lnTo>
                <a:lnTo>
                  <a:pt x="86" y="20"/>
                </a:lnTo>
                <a:lnTo>
                  <a:pt x="59" y="17"/>
                </a:lnTo>
                <a:lnTo>
                  <a:pt x="39" y="7"/>
                </a:lnTo>
                <a:lnTo>
                  <a:pt x="39" y="7"/>
                </a:lnTo>
                <a:lnTo>
                  <a:pt x="39" y="7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0" y="3"/>
                </a:lnTo>
                <a:lnTo>
                  <a:pt x="0" y="4"/>
                </a:lnTo>
                <a:lnTo>
                  <a:pt x="18" y="2"/>
                </a:lnTo>
                <a:lnTo>
                  <a:pt x="38" y="8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6720840" y="4169664"/>
            <a:ext cx="987552" cy="694944"/>
          </a:xfrm>
          <a:custGeom>
            <a:avLst/>
            <a:gdLst/>
            <a:ahLst/>
            <a:cxnLst/>
            <a:rect l="l" t="t" r="r" b="b"/>
            <a:pathLst>
              <a:path w="108" h="76">
                <a:moveTo>
                  <a:pt x="2" y="50"/>
                </a:moveTo>
                <a:lnTo>
                  <a:pt x="20" y="73"/>
                </a:lnTo>
                <a:lnTo>
                  <a:pt x="77" y="76"/>
                </a:lnTo>
                <a:lnTo>
                  <a:pt x="108" y="55"/>
                </a:lnTo>
                <a:lnTo>
                  <a:pt x="107" y="23"/>
                </a:lnTo>
                <a:lnTo>
                  <a:pt x="79" y="4"/>
                </a:lnTo>
                <a:lnTo>
                  <a:pt x="36" y="0"/>
                </a:lnTo>
                <a:lnTo>
                  <a:pt x="0" y="22"/>
                </a:lnTo>
                <a:lnTo>
                  <a:pt x="2" y="50"/>
                </a:lnTo>
                <a:close/>
              </a:path>
            </a:pathLst>
          </a:custGeom>
          <a:noFill/>
          <a:ln w="19202">
            <a:solidFill>
              <a:srgbClr val="113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3310128" y="3767328"/>
            <a:ext cx="2249424" cy="466344"/>
          </a:xfrm>
          <a:custGeom>
            <a:avLst/>
            <a:gdLst/>
            <a:ahLst/>
            <a:cxnLst/>
            <a:rect l="l" t="t" r="r" b="b"/>
            <a:pathLst>
              <a:path w="246" h="51">
                <a:moveTo>
                  <a:pt x="246" y="7"/>
                </a:moveTo>
                <a:lnTo>
                  <a:pt x="239" y="5"/>
                </a:lnTo>
                <a:lnTo>
                  <a:pt x="233" y="4"/>
                </a:lnTo>
                <a:lnTo>
                  <a:pt x="227" y="3"/>
                </a:lnTo>
                <a:lnTo>
                  <a:pt x="220" y="2"/>
                </a:lnTo>
                <a:lnTo>
                  <a:pt x="214" y="1"/>
                </a:lnTo>
                <a:lnTo>
                  <a:pt x="208" y="0"/>
                </a:lnTo>
                <a:lnTo>
                  <a:pt x="202" y="0"/>
                </a:lnTo>
                <a:lnTo>
                  <a:pt x="196" y="0"/>
                </a:lnTo>
                <a:lnTo>
                  <a:pt x="190" y="0"/>
                </a:lnTo>
                <a:lnTo>
                  <a:pt x="184" y="0"/>
                </a:lnTo>
                <a:lnTo>
                  <a:pt x="178" y="0"/>
                </a:lnTo>
                <a:lnTo>
                  <a:pt x="172" y="1"/>
                </a:lnTo>
                <a:lnTo>
                  <a:pt x="167" y="2"/>
                </a:lnTo>
                <a:lnTo>
                  <a:pt x="161" y="3"/>
                </a:lnTo>
                <a:lnTo>
                  <a:pt x="155" y="4"/>
                </a:lnTo>
                <a:lnTo>
                  <a:pt x="149" y="5"/>
                </a:lnTo>
                <a:lnTo>
                  <a:pt x="144" y="6"/>
                </a:lnTo>
                <a:lnTo>
                  <a:pt x="138" y="7"/>
                </a:lnTo>
                <a:lnTo>
                  <a:pt x="132" y="9"/>
                </a:lnTo>
                <a:lnTo>
                  <a:pt x="126" y="11"/>
                </a:lnTo>
                <a:lnTo>
                  <a:pt x="121" y="12"/>
                </a:lnTo>
                <a:lnTo>
                  <a:pt x="115" y="14"/>
                </a:lnTo>
                <a:lnTo>
                  <a:pt x="109" y="16"/>
                </a:lnTo>
                <a:lnTo>
                  <a:pt x="103" y="18"/>
                </a:lnTo>
                <a:lnTo>
                  <a:pt x="97" y="20"/>
                </a:lnTo>
                <a:lnTo>
                  <a:pt x="91" y="22"/>
                </a:lnTo>
                <a:lnTo>
                  <a:pt x="85" y="24"/>
                </a:lnTo>
                <a:lnTo>
                  <a:pt x="79" y="26"/>
                </a:lnTo>
                <a:lnTo>
                  <a:pt x="73" y="28"/>
                </a:lnTo>
                <a:lnTo>
                  <a:pt x="67" y="30"/>
                </a:lnTo>
                <a:lnTo>
                  <a:pt x="61" y="33"/>
                </a:lnTo>
                <a:lnTo>
                  <a:pt x="54" y="35"/>
                </a:lnTo>
                <a:lnTo>
                  <a:pt x="48" y="37"/>
                </a:lnTo>
                <a:lnTo>
                  <a:pt x="41" y="39"/>
                </a:lnTo>
                <a:lnTo>
                  <a:pt x="35" y="41"/>
                </a:lnTo>
                <a:lnTo>
                  <a:pt x="28" y="43"/>
                </a:lnTo>
                <a:lnTo>
                  <a:pt x="21" y="45"/>
                </a:lnTo>
                <a:lnTo>
                  <a:pt x="14" y="47"/>
                </a:lnTo>
                <a:lnTo>
                  <a:pt x="7" y="49"/>
                </a:lnTo>
                <a:lnTo>
                  <a:pt x="0" y="51"/>
                </a:lnTo>
              </a:path>
            </a:pathLst>
          </a:custGeom>
          <a:noFill/>
          <a:ln w="16459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8897112" y="3758184"/>
            <a:ext cx="2121408" cy="475488"/>
          </a:xfrm>
          <a:custGeom>
            <a:avLst/>
            <a:gdLst/>
            <a:ahLst/>
            <a:cxnLst/>
            <a:rect l="l" t="t" r="r" b="b"/>
            <a:pathLst>
              <a:path w="232" h="52">
                <a:moveTo>
                  <a:pt x="0" y="8"/>
                </a:moveTo>
                <a:lnTo>
                  <a:pt x="6" y="6"/>
                </a:lnTo>
                <a:lnTo>
                  <a:pt x="12" y="5"/>
                </a:lnTo>
                <a:lnTo>
                  <a:pt x="18" y="3"/>
                </a:lnTo>
                <a:lnTo>
                  <a:pt x="25" y="2"/>
                </a:lnTo>
                <a:lnTo>
                  <a:pt x="31" y="1"/>
                </a:lnTo>
                <a:lnTo>
                  <a:pt x="37" y="1"/>
                </a:lnTo>
                <a:lnTo>
                  <a:pt x="43" y="0"/>
                </a:lnTo>
                <a:lnTo>
                  <a:pt x="49" y="0"/>
                </a:lnTo>
                <a:lnTo>
                  <a:pt x="56" y="0"/>
                </a:lnTo>
                <a:lnTo>
                  <a:pt x="62" y="1"/>
                </a:lnTo>
                <a:lnTo>
                  <a:pt x="68" y="1"/>
                </a:lnTo>
                <a:lnTo>
                  <a:pt x="74" y="2"/>
                </a:lnTo>
                <a:lnTo>
                  <a:pt x="81" y="2"/>
                </a:lnTo>
                <a:lnTo>
                  <a:pt x="87" y="3"/>
                </a:lnTo>
                <a:lnTo>
                  <a:pt x="93" y="4"/>
                </a:lnTo>
                <a:lnTo>
                  <a:pt x="99" y="5"/>
                </a:lnTo>
                <a:lnTo>
                  <a:pt x="106" y="7"/>
                </a:lnTo>
                <a:lnTo>
                  <a:pt x="112" y="8"/>
                </a:lnTo>
                <a:lnTo>
                  <a:pt x="118" y="10"/>
                </a:lnTo>
                <a:lnTo>
                  <a:pt x="124" y="11"/>
                </a:lnTo>
                <a:lnTo>
                  <a:pt x="130" y="13"/>
                </a:lnTo>
                <a:lnTo>
                  <a:pt x="136" y="15"/>
                </a:lnTo>
                <a:lnTo>
                  <a:pt x="142" y="17"/>
                </a:lnTo>
                <a:lnTo>
                  <a:pt x="148" y="19"/>
                </a:lnTo>
                <a:lnTo>
                  <a:pt x="154" y="21"/>
                </a:lnTo>
                <a:lnTo>
                  <a:pt x="159" y="23"/>
                </a:lnTo>
                <a:lnTo>
                  <a:pt x="165" y="25"/>
                </a:lnTo>
                <a:lnTo>
                  <a:pt x="171" y="27"/>
                </a:lnTo>
                <a:lnTo>
                  <a:pt x="176" y="29"/>
                </a:lnTo>
                <a:lnTo>
                  <a:pt x="182" y="31"/>
                </a:lnTo>
                <a:lnTo>
                  <a:pt x="187" y="34"/>
                </a:lnTo>
                <a:lnTo>
                  <a:pt x="193" y="36"/>
                </a:lnTo>
                <a:lnTo>
                  <a:pt x="198" y="38"/>
                </a:lnTo>
                <a:lnTo>
                  <a:pt x="203" y="40"/>
                </a:lnTo>
                <a:lnTo>
                  <a:pt x="208" y="42"/>
                </a:lnTo>
                <a:lnTo>
                  <a:pt x="213" y="44"/>
                </a:lnTo>
                <a:lnTo>
                  <a:pt x="218" y="46"/>
                </a:lnTo>
                <a:lnTo>
                  <a:pt x="223" y="48"/>
                </a:lnTo>
                <a:lnTo>
                  <a:pt x="227" y="50"/>
                </a:lnTo>
                <a:lnTo>
                  <a:pt x="232" y="52"/>
                </a:lnTo>
              </a:path>
            </a:pathLst>
          </a:custGeom>
          <a:noFill/>
          <a:ln w="16459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7223760" y="5815584"/>
            <a:ext cx="0" cy="274320"/>
          </a:xfrm>
          <a:prstGeom prst="line">
            <a:avLst/>
          </a:prstGeom>
          <a:ln w="16459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05456" y="3803904"/>
            <a:ext cx="886968" cy="886968"/>
          </a:xfrm>
          <a:prstGeom prst="ellipse">
            <a:avLst/>
          </a:prstGeom>
          <a:solidFill>
            <a:srgbClr val="D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99835" y="4027749"/>
            <a:ext cx="99545" cy="99545"/>
          </a:xfrm>
          <a:prstGeom prst="ellipse">
            <a:avLst/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672184" y="4154945"/>
            <a:ext cx="154848" cy="188029"/>
          </a:xfrm>
          <a:prstGeom prst="roundRect">
            <a:avLst>
              <a:gd name="adj" fmla="val 22000"/>
            </a:avLst>
          </a:prstGeom>
          <a:solidFill>
            <a:srgbClr val="5C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 flipH="1">
            <a:off x="2699835" y="4320854"/>
            <a:ext cx="16591" cy="121666"/>
          </a:xfrm>
          <a:prstGeom prst="line">
            <a:avLst/>
          </a:prstGeom>
          <a:ln w="27651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82789" y="4320854"/>
            <a:ext cx="16591" cy="121666"/>
          </a:xfrm>
          <a:prstGeom prst="line">
            <a:avLst/>
          </a:prstGeom>
          <a:ln w="27651">
            <a:solidFill>
              <a:srgbClr val="5C8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936321" y="3968496"/>
            <a:ext cx="118506" cy="118506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903402" y="4119920"/>
            <a:ext cx="184343" cy="223845"/>
          </a:xfrm>
          <a:prstGeom prst="roundRect">
            <a:avLst>
              <a:gd name="adj" fmla="val 22000"/>
            </a:avLst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 flipH="1">
            <a:off x="2936321" y="4317431"/>
            <a:ext cx="19751" cy="144841"/>
          </a:xfrm>
          <a:prstGeom prst="line">
            <a:avLst/>
          </a:prstGeom>
          <a:ln w="32918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035076" y="4317431"/>
            <a:ext cx="19751" cy="144841"/>
          </a:xfrm>
          <a:prstGeom prst="line">
            <a:avLst/>
          </a:prstGeom>
          <a:ln w="32918">
            <a:solidFill>
              <a:srgbClr val="113B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172280" y="4047500"/>
            <a:ext cx="97175" cy="97175"/>
          </a:xfrm>
          <a:prstGeom prst="ellipse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145287" y="4171668"/>
            <a:ext cx="151161" cy="183552"/>
          </a:xfrm>
          <a:prstGeom prst="roundRect">
            <a:avLst>
              <a:gd name="adj" fmla="val 22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H="1">
            <a:off x="3172280" y="4333626"/>
            <a:ext cx="16196" cy="118770"/>
          </a:xfrm>
          <a:prstGeom prst="line">
            <a:avLst/>
          </a:prstGeom>
          <a:ln w="26993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53259" y="4333626"/>
            <a:ext cx="16196" cy="118770"/>
          </a:xfrm>
          <a:prstGeom prst="line">
            <a:avLst/>
          </a:prstGeom>
          <a:ln w="26993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4901184"/>
            <a:ext cx="3977639" cy="362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2376" b="1" dirty="0">
                <a:solidFill>
                  <a:srgbClr val="113B32"/>
                </a:solidFill>
                <a:latin typeface="Inter"/>
              </a:rPr>
              <a:t>Local </a:t>
            </a:r>
            <a:r>
              <a:rPr lang="de-DE" sz="2376" b="1" dirty="0" err="1">
                <a:solidFill>
                  <a:srgbClr val="113B32"/>
                </a:solidFill>
                <a:latin typeface="Inter"/>
              </a:rPr>
              <a:t>organisations</a:t>
            </a:r>
            <a:endParaRPr sz="2376" b="1" dirty="0">
              <a:solidFill>
                <a:srgbClr val="113B32"/>
              </a:solidFill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" y="5376672"/>
            <a:ext cx="39776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63756B"/>
                </a:solidFill>
              </a:rPr>
              <a:t>Use &amp; maintain</a:t>
            </a:r>
          </a:p>
        </p:txBody>
      </p:sp>
      <p:sp>
        <p:nvSpPr>
          <p:cNvPr id="42" name="Oval 41"/>
          <p:cNvSpPr/>
          <p:nvPr/>
        </p:nvSpPr>
        <p:spPr>
          <a:xfrm>
            <a:off x="11018520" y="3803904"/>
            <a:ext cx="914400" cy="914400"/>
          </a:xfrm>
          <a:prstGeom prst="ellipse">
            <a:avLst/>
          </a:prstGeom>
          <a:solidFill>
            <a:srgbClr val="D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11173968" y="4123944"/>
            <a:ext cx="576072" cy="155448"/>
          </a:xfrm>
          <a:custGeom>
            <a:avLst/>
            <a:gdLst/>
            <a:ahLst/>
            <a:cxnLst/>
            <a:rect l="l" t="t" r="r" b="b"/>
            <a:pathLst>
              <a:path w="63" h="17">
                <a:moveTo>
                  <a:pt x="0" y="17"/>
                </a:moveTo>
                <a:lnTo>
                  <a:pt x="1" y="15"/>
                </a:lnTo>
                <a:lnTo>
                  <a:pt x="3" y="13"/>
                </a:lnTo>
                <a:lnTo>
                  <a:pt x="4" y="12"/>
                </a:lnTo>
                <a:lnTo>
                  <a:pt x="5" y="10"/>
                </a:lnTo>
                <a:lnTo>
                  <a:pt x="7" y="9"/>
                </a:lnTo>
                <a:lnTo>
                  <a:pt x="8" y="8"/>
                </a:lnTo>
                <a:lnTo>
                  <a:pt x="10" y="7"/>
                </a:lnTo>
                <a:lnTo>
                  <a:pt x="11" y="6"/>
                </a:lnTo>
                <a:lnTo>
                  <a:pt x="13" y="5"/>
                </a:lnTo>
                <a:lnTo>
                  <a:pt x="14" y="4"/>
                </a:lnTo>
                <a:lnTo>
                  <a:pt x="16" y="3"/>
                </a:lnTo>
                <a:lnTo>
                  <a:pt x="17" y="2"/>
                </a:lnTo>
                <a:lnTo>
                  <a:pt x="19" y="2"/>
                </a:lnTo>
                <a:lnTo>
                  <a:pt x="20" y="1"/>
                </a:lnTo>
                <a:lnTo>
                  <a:pt x="22" y="1"/>
                </a:lnTo>
                <a:lnTo>
                  <a:pt x="24" y="0"/>
                </a:lnTo>
                <a:lnTo>
                  <a:pt x="25" y="0"/>
                </a:lnTo>
                <a:lnTo>
                  <a:pt x="27" y="0"/>
                </a:lnTo>
                <a:lnTo>
                  <a:pt x="29" y="0"/>
                </a:lnTo>
                <a:lnTo>
                  <a:pt x="30" y="0"/>
                </a:lnTo>
                <a:lnTo>
                  <a:pt x="32" y="0"/>
                </a:lnTo>
                <a:lnTo>
                  <a:pt x="34" y="0"/>
                </a:lnTo>
                <a:lnTo>
                  <a:pt x="35" y="0"/>
                </a:lnTo>
                <a:lnTo>
                  <a:pt x="37" y="0"/>
                </a:lnTo>
                <a:lnTo>
                  <a:pt x="39" y="1"/>
                </a:lnTo>
                <a:lnTo>
                  <a:pt x="40" y="1"/>
                </a:lnTo>
                <a:lnTo>
                  <a:pt x="42" y="2"/>
                </a:lnTo>
                <a:lnTo>
                  <a:pt x="44" y="2"/>
                </a:lnTo>
                <a:lnTo>
                  <a:pt x="45" y="3"/>
                </a:lnTo>
                <a:lnTo>
                  <a:pt x="47" y="4"/>
                </a:lnTo>
                <a:lnTo>
                  <a:pt x="49" y="5"/>
                </a:lnTo>
                <a:lnTo>
                  <a:pt x="50" y="6"/>
                </a:lnTo>
                <a:lnTo>
                  <a:pt x="52" y="7"/>
                </a:lnTo>
                <a:lnTo>
                  <a:pt x="53" y="8"/>
                </a:lnTo>
                <a:lnTo>
                  <a:pt x="55" y="9"/>
                </a:lnTo>
                <a:lnTo>
                  <a:pt x="57" y="10"/>
                </a:lnTo>
                <a:lnTo>
                  <a:pt x="58" y="12"/>
                </a:lnTo>
                <a:lnTo>
                  <a:pt x="60" y="13"/>
                </a:lnTo>
                <a:lnTo>
                  <a:pt x="61" y="15"/>
                </a:lnTo>
                <a:lnTo>
                  <a:pt x="63" y="17"/>
                </a:lnTo>
              </a:path>
            </a:pathLst>
          </a:custGeom>
          <a:noFill/>
          <a:ln w="16459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11173968" y="4279392"/>
            <a:ext cx="576072" cy="146304"/>
          </a:xfrm>
          <a:custGeom>
            <a:avLst/>
            <a:gdLst/>
            <a:ahLst/>
            <a:cxnLst/>
            <a:rect l="l" t="t" r="r" b="b"/>
            <a:pathLst>
              <a:path w="63" h="16">
                <a:moveTo>
                  <a:pt x="0" y="0"/>
                </a:moveTo>
                <a:lnTo>
                  <a:pt x="1" y="1"/>
                </a:lnTo>
                <a:lnTo>
                  <a:pt x="3" y="3"/>
                </a:lnTo>
                <a:lnTo>
                  <a:pt x="4" y="4"/>
                </a:lnTo>
                <a:lnTo>
                  <a:pt x="5" y="6"/>
                </a:lnTo>
                <a:lnTo>
                  <a:pt x="7" y="7"/>
                </a:lnTo>
                <a:lnTo>
                  <a:pt x="8" y="8"/>
                </a:lnTo>
                <a:lnTo>
                  <a:pt x="10" y="9"/>
                </a:lnTo>
                <a:lnTo>
                  <a:pt x="11" y="10"/>
                </a:lnTo>
                <a:lnTo>
                  <a:pt x="13" y="11"/>
                </a:lnTo>
                <a:lnTo>
                  <a:pt x="14" y="12"/>
                </a:lnTo>
                <a:lnTo>
                  <a:pt x="16" y="13"/>
                </a:lnTo>
                <a:lnTo>
                  <a:pt x="17" y="14"/>
                </a:lnTo>
                <a:lnTo>
                  <a:pt x="19" y="14"/>
                </a:lnTo>
                <a:lnTo>
                  <a:pt x="20" y="15"/>
                </a:lnTo>
                <a:lnTo>
                  <a:pt x="22" y="15"/>
                </a:lnTo>
                <a:lnTo>
                  <a:pt x="24" y="16"/>
                </a:lnTo>
                <a:lnTo>
                  <a:pt x="25" y="16"/>
                </a:lnTo>
                <a:lnTo>
                  <a:pt x="27" y="16"/>
                </a:lnTo>
                <a:lnTo>
                  <a:pt x="29" y="16"/>
                </a:lnTo>
                <a:lnTo>
                  <a:pt x="30" y="16"/>
                </a:lnTo>
                <a:lnTo>
                  <a:pt x="32" y="16"/>
                </a:lnTo>
                <a:lnTo>
                  <a:pt x="34" y="16"/>
                </a:lnTo>
                <a:lnTo>
                  <a:pt x="35" y="16"/>
                </a:lnTo>
                <a:lnTo>
                  <a:pt x="37" y="16"/>
                </a:lnTo>
                <a:lnTo>
                  <a:pt x="39" y="15"/>
                </a:lnTo>
                <a:lnTo>
                  <a:pt x="40" y="15"/>
                </a:lnTo>
                <a:lnTo>
                  <a:pt x="42" y="14"/>
                </a:lnTo>
                <a:lnTo>
                  <a:pt x="44" y="14"/>
                </a:lnTo>
                <a:lnTo>
                  <a:pt x="45" y="13"/>
                </a:lnTo>
                <a:lnTo>
                  <a:pt x="47" y="12"/>
                </a:lnTo>
                <a:lnTo>
                  <a:pt x="49" y="11"/>
                </a:lnTo>
                <a:lnTo>
                  <a:pt x="50" y="10"/>
                </a:lnTo>
                <a:lnTo>
                  <a:pt x="52" y="9"/>
                </a:lnTo>
                <a:lnTo>
                  <a:pt x="53" y="8"/>
                </a:lnTo>
                <a:lnTo>
                  <a:pt x="55" y="7"/>
                </a:lnTo>
                <a:lnTo>
                  <a:pt x="57" y="6"/>
                </a:lnTo>
                <a:lnTo>
                  <a:pt x="58" y="4"/>
                </a:lnTo>
                <a:lnTo>
                  <a:pt x="60" y="3"/>
                </a:lnTo>
                <a:lnTo>
                  <a:pt x="61" y="1"/>
                </a:lnTo>
                <a:lnTo>
                  <a:pt x="63" y="0"/>
                </a:lnTo>
              </a:path>
            </a:pathLst>
          </a:custGeom>
          <a:noFill/>
          <a:ln w="16459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371112" y="4185940"/>
            <a:ext cx="179222" cy="179222"/>
          </a:xfrm>
          <a:prstGeom prst="ellipse">
            <a:avLst/>
          </a:prstGeom>
          <a:noFill/>
          <a:ln w="16459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433840" y="4248668"/>
            <a:ext cx="53766" cy="53766"/>
          </a:xfrm>
          <a:prstGeom prst="ellipse">
            <a:avLst/>
          </a:pr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39528" y="4901184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376" b="1">
                <a:solidFill>
                  <a:srgbClr val="113B32"/>
                </a:solidFill>
                <a:latin typeface="Inter"/>
              </a:rPr>
              <a:t>The public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9528" y="5385816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63756B"/>
                </a:solidFill>
              </a:rPr>
              <a:t>Understand &amp; inspect</a:t>
            </a:r>
          </a:p>
        </p:txBody>
      </p:sp>
      <p:sp>
        <p:nvSpPr>
          <p:cNvPr id="49" name="Oval 48"/>
          <p:cNvSpPr/>
          <p:nvPr/>
        </p:nvSpPr>
        <p:spPr>
          <a:xfrm>
            <a:off x="6812280" y="5980176"/>
            <a:ext cx="850392" cy="850392"/>
          </a:xfrm>
          <a:prstGeom prst="ellipse">
            <a:avLst/>
          </a:prstGeom>
          <a:solidFill>
            <a:srgbClr val="D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 flipV="1">
            <a:off x="6967728" y="6144768"/>
            <a:ext cx="269290" cy="208483"/>
          </a:xfrm>
          <a:prstGeom prst="line">
            <a:avLst/>
          </a:prstGeom>
          <a:ln w="14630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237018" y="6144768"/>
            <a:ext cx="225857" cy="269290"/>
          </a:xfrm>
          <a:prstGeom prst="line">
            <a:avLst/>
          </a:prstGeom>
          <a:ln w="14630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202271" y="6414058"/>
            <a:ext cx="260604" cy="225857"/>
          </a:xfrm>
          <a:prstGeom prst="line">
            <a:avLst/>
          </a:prstGeom>
          <a:ln w="14630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6967728" y="6353251"/>
            <a:ext cx="234543" cy="286664"/>
          </a:xfrm>
          <a:prstGeom prst="line">
            <a:avLst/>
          </a:prstGeom>
          <a:ln w="14630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67728" y="6353251"/>
            <a:ext cx="495147" cy="60807"/>
          </a:xfrm>
          <a:prstGeom prst="line">
            <a:avLst/>
          </a:prstGeom>
          <a:ln w="14630">
            <a:solidFill>
              <a:srgbClr val="386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924294" y="6309817"/>
            <a:ext cx="86868" cy="86868"/>
          </a:xfrm>
          <a:prstGeom prst="ellipse">
            <a:avLst/>
          </a:prstGeom>
          <a:solidFill>
            <a:srgbClr val="F5F3EC"/>
          </a:solidFill>
          <a:ln w="15544">
            <a:solidFill>
              <a:srgbClr val="386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193584" y="6101334"/>
            <a:ext cx="86868" cy="86868"/>
          </a:xfrm>
          <a:prstGeom prst="ellipse">
            <a:avLst/>
          </a:prstGeom>
          <a:solidFill>
            <a:srgbClr val="F5F3EC"/>
          </a:solidFill>
          <a:ln w="15544">
            <a:solidFill>
              <a:srgbClr val="386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419441" y="6370624"/>
            <a:ext cx="86868" cy="86868"/>
          </a:xfrm>
          <a:prstGeom prst="ellipse">
            <a:avLst/>
          </a:prstGeom>
          <a:solidFill>
            <a:srgbClr val="F5F3EC"/>
          </a:solidFill>
          <a:ln w="15544">
            <a:solidFill>
              <a:srgbClr val="386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158837" y="6596481"/>
            <a:ext cx="86868" cy="86868"/>
          </a:xfrm>
          <a:prstGeom prst="ellipse">
            <a:avLst/>
          </a:prstGeom>
          <a:solidFill>
            <a:srgbClr val="F5F3EC"/>
          </a:solidFill>
          <a:ln w="15544">
            <a:solidFill>
              <a:srgbClr val="386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60520" y="6839712"/>
            <a:ext cx="6153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113B32"/>
                </a:solidFill>
                <a:latin typeface="Inter"/>
              </a:rPr>
              <a:t>Open-source community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74920" y="7223760"/>
            <a:ext cx="434340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3756B"/>
                </a:solidFill>
                <a:latin typeface="Inter"/>
              </a:rPr>
              <a:t>Reuse &amp; extend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386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386951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63756B"/>
                </a:solidFill>
                <a:latin typeface="Inter"/>
              </a:rPr>
              <a:t>CREDIBILITY / FROM CONCEPT TO PROOF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131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64" b="0" dirty="0">
                <a:solidFill>
                  <a:srgbClr val="63756B"/>
                </a:solidFill>
              </a:rPr>
              <a:t>CURRENT GUI DEMONSTRATES THE INTERFACE AND WORKFLOW • REAL-DATA INTEGRATION COMES NEXT</a:t>
            </a:r>
            <a:endParaRPr sz="864" b="0" dirty="0">
              <a:solidFill>
                <a:srgbClr val="63756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63756B"/>
                </a:solidFill>
                <a:latin typeface="Inter"/>
              </a:rPr>
              <a:t>10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33271"/>
            <a:ext cx="12801600" cy="580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800" b="1" dirty="0">
                <a:solidFill>
                  <a:srgbClr val="113B32"/>
                </a:solidFill>
              </a:rPr>
              <a:t>A concept today. Real-data integration comes next.</a:t>
            </a:r>
            <a:endParaRPr sz="3800" b="1" dirty="0">
              <a:solidFill>
                <a:srgbClr val="113B3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6656" y="3392424"/>
            <a:ext cx="5888736" cy="4032504"/>
          </a:xfrm>
          <a:prstGeom prst="roundRect">
            <a:avLst>
              <a:gd name="adj" fmla="val 5000"/>
            </a:avLst>
          </a:prstGeom>
          <a:solidFill>
            <a:srgbClr val="D6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3310128"/>
            <a:ext cx="5888736" cy="4032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144">
            <a:solidFill>
              <a:srgbClr val="D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ototyp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10712"/>
            <a:ext cx="5678424" cy="3886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68680" y="6976872"/>
            <a:ext cx="3694176" cy="265176"/>
          </a:xfrm>
          <a:prstGeom prst="roundRect">
            <a:avLst>
              <a:gd name="adj" fmla="val 14000"/>
            </a:avLst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7022592"/>
            <a:ext cx="3694176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>
                <a:solidFill>
                  <a:srgbClr val="113B32"/>
                </a:solidFill>
              </a:rPr>
              <a:t>EXISTING CONCEPT PROTOTYPE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73568" y="3941063"/>
            <a:ext cx="0" cy="2468881"/>
          </a:xfrm>
          <a:prstGeom prst="line">
            <a:avLst/>
          </a:prstGeom>
          <a:ln w="27432">
            <a:solidFill>
              <a:srgbClr val="D6DD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81544" y="3895344"/>
            <a:ext cx="384048" cy="384048"/>
          </a:xfrm>
          <a:prstGeom prst="ellipse">
            <a:avLst/>
          </a:prstGeom>
          <a:solidFill>
            <a:srgbClr val="113B32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68496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877056"/>
            <a:ext cx="5916168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113B32"/>
                </a:solidFill>
              </a:rPr>
              <a:t>Concept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4343400"/>
            <a:ext cx="5943600" cy="25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0" dirty="0">
                <a:solidFill>
                  <a:srgbClr val="63756B"/>
                </a:solidFill>
                <a:latin typeface="Inter"/>
              </a:rPr>
              <a:t>Make the concept visible and testable.</a:t>
            </a:r>
            <a:endParaRPr sz="1655" b="0" dirty="0">
              <a:solidFill>
                <a:srgbClr val="63756B"/>
              </a:solidFill>
              <a:latin typeface="Inter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81544" y="5111496"/>
            <a:ext cx="384048" cy="384048"/>
          </a:xfrm>
          <a:prstGeom prst="ellipse">
            <a:avLst/>
          </a:prstGeom>
          <a:solidFill>
            <a:srgbClr val="F5F3EC"/>
          </a:solidFill>
          <a:ln w="13716">
            <a:solidFill>
              <a:srgbClr val="D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81544" y="5184648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63756B"/>
                </a:solidFill>
                <a:latin typeface="Int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093208"/>
            <a:ext cx="5916168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113B32"/>
                </a:solidFill>
              </a:rPr>
              <a:t>Real-data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5559552"/>
            <a:ext cx="5943600" cy="25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0" dirty="0">
                <a:solidFill>
                  <a:srgbClr val="63756B"/>
                </a:solidFill>
              </a:rPr>
              <a:t>One dataset. One real area. Verified outputs.</a:t>
            </a:r>
            <a:endParaRPr sz="1655" b="0" dirty="0">
              <a:solidFill>
                <a:srgbClr val="63756B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7781544" y="6336792"/>
            <a:ext cx="384048" cy="384048"/>
          </a:xfrm>
          <a:prstGeom prst="ellipse">
            <a:avLst/>
          </a:prstGeom>
          <a:solidFill>
            <a:srgbClr val="F5F3EC"/>
          </a:solidFill>
          <a:ln w="13716">
            <a:solidFill>
              <a:srgbClr val="D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81544" y="6409944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63756B"/>
                </a:solidFill>
                <a:latin typeface="Inte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318504"/>
            <a:ext cx="5916168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113B32"/>
                </a:solidFill>
              </a:rPr>
              <a:t>Integration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678484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63756B"/>
                </a:solidFill>
              </a:rPr>
              <a:t>Test reuse in an existing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21792" y="384048"/>
            <a:ext cx="246888" cy="256032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  <a:lnTo>
                  <a:pt x="27" y="28"/>
                </a:lnTo>
                <a:lnTo>
                  <a:pt x="13" y="19"/>
                </a:lnTo>
                <a:lnTo>
                  <a:pt x="0" y="28"/>
                </a:lnTo>
                <a:close/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621792" y="475488"/>
            <a:ext cx="246888" cy="82296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9"/>
                </a:moveTo>
                <a:lnTo>
                  <a:pt x="13" y="0"/>
                </a:lnTo>
                <a:lnTo>
                  <a:pt x="27" y="9"/>
                </a:lnTo>
              </a:path>
            </a:pathLst>
          </a:custGeom>
          <a:noFill/>
          <a:ln w="13716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6" y="3840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spc="80">
                <a:solidFill>
                  <a:srgbClr val="DDEFA0"/>
                </a:solidFill>
                <a:latin typeface="Inter"/>
              </a:rPr>
              <a:t>CARBON PLACES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931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spc="40">
                <a:solidFill>
                  <a:srgbClr val="B0C5B6"/>
                </a:solidFill>
                <a:latin typeface="Inter"/>
              </a:rPr>
              <a:t>CARBON PLACES KIT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7644383"/>
            <a:ext cx="13350240" cy="0"/>
          </a:xfrm>
          <a:prstGeom prst="line">
            <a:avLst/>
          </a:prstGeom>
          <a:ln w="9144">
            <a:solidFill>
              <a:srgbClr val="315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790688"/>
            <a:ext cx="1216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B0C5B6"/>
                </a:solidFill>
              </a:rPr>
              <a:t>AREA FIRST. SOURCES ATTACHED. LOCAL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7781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>
                <a:solidFill>
                  <a:srgbClr val="B0C5B6"/>
                </a:solidFill>
                <a:latin typeface="Inter"/>
              </a:rPr>
              <a:t>11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207008"/>
            <a:ext cx="13075920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328" b="1">
                <a:solidFill>
                  <a:srgbClr val="FFFFFF"/>
                </a:solidFill>
              </a:rPr>
              <a:t>Make carbon-relevant open data</a:t>
            </a:r>
          </a:p>
          <a:p>
            <a:r>
              <a:rPr sz="5328" b="1">
                <a:solidFill>
                  <a:srgbClr val="FFFFFF"/>
                </a:solidFill>
              </a:rPr>
              <a:t>useful where it matters.</a:t>
            </a:r>
          </a:p>
        </p:txBody>
      </p:sp>
      <p:sp>
        <p:nvSpPr>
          <p:cNvPr id="10" name="Freeform 9"/>
          <p:cNvSpPr/>
          <p:nvPr/>
        </p:nvSpPr>
        <p:spPr>
          <a:xfrm>
            <a:off x="7525512" y="4050792"/>
            <a:ext cx="4901184" cy="2926080"/>
          </a:xfrm>
          <a:custGeom>
            <a:avLst/>
            <a:gdLst/>
            <a:ahLst/>
            <a:cxnLst/>
            <a:rect l="l" t="t" r="r" b="b"/>
            <a:pathLst>
              <a:path w="536" h="320">
                <a:moveTo>
                  <a:pt x="12" y="211"/>
                </a:moveTo>
                <a:lnTo>
                  <a:pt x="101" y="306"/>
                </a:lnTo>
                <a:lnTo>
                  <a:pt x="381" y="320"/>
                </a:lnTo>
                <a:lnTo>
                  <a:pt x="536" y="232"/>
                </a:lnTo>
                <a:lnTo>
                  <a:pt x="530" y="95"/>
                </a:lnTo>
                <a:lnTo>
                  <a:pt x="393" y="14"/>
                </a:lnTo>
                <a:lnTo>
                  <a:pt x="179" y="0"/>
                </a:lnTo>
                <a:lnTo>
                  <a:pt x="0" y="92"/>
                </a:lnTo>
                <a:lnTo>
                  <a:pt x="12" y="211"/>
                </a:lnTo>
                <a:close/>
              </a:path>
            </a:pathLst>
          </a:custGeom>
          <a:solidFill>
            <a:srgbClr val="0B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7525512" y="3995928"/>
            <a:ext cx="4901184" cy="2926080"/>
          </a:xfrm>
          <a:custGeom>
            <a:avLst/>
            <a:gdLst/>
            <a:ahLst/>
            <a:cxnLst/>
            <a:rect l="l" t="t" r="r" b="b"/>
            <a:pathLst>
              <a:path w="536" h="320">
                <a:moveTo>
                  <a:pt x="12" y="211"/>
                </a:moveTo>
                <a:lnTo>
                  <a:pt x="101" y="306"/>
                </a:lnTo>
                <a:lnTo>
                  <a:pt x="381" y="320"/>
                </a:lnTo>
                <a:lnTo>
                  <a:pt x="536" y="232"/>
                </a:lnTo>
                <a:lnTo>
                  <a:pt x="530" y="95"/>
                </a:lnTo>
                <a:lnTo>
                  <a:pt x="393" y="14"/>
                </a:lnTo>
                <a:lnTo>
                  <a:pt x="179" y="0"/>
                </a:lnTo>
                <a:lnTo>
                  <a:pt x="0" y="92"/>
                </a:lnTo>
                <a:lnTo>
                  <a:pt x="12" y="211"/>
                </a:lnTo>
                <a:close/>
              </a:path>
            </a:pathLst>
          </a:custGeom>
          <a:solidFill>
            <a:srgbClr val="38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525512" y="3794760"/>
            <a:ext cx="4901184" cy="2926080"/>
          </a:xfrm>
          <a:custGeom>
            <a:avLst/>
            <a:gdLst/>
            <a:ahLst/>
            <a:cxnLst/>
            <a:rect l="l" t="t" r="r" b="b"/>
            <a:pathLst>
              <a:path w="536" h="320">
                <a:moveTo>
                  <a:pt x="12" y="211"/>
                </a:moveTo>
                <a:lnTo>
                  <a:pt x="101" y="306"/>
                </a:lnTo>
                <a:lnTo>
                  <a:pt x="381" y="320"/>
                </a:lnTo>
                <a:lnTo>
                  <a:pt x="536" y="232"/>
                </a:lnTo>
                <a:lnTo>
                  <a:pt x="530" y="95"/>
                </a:lnTo>
                <a:lnTo>
                  <a:pt x="393" y="14"/>
                </a:lnTo>
                <a:lnTo>
                  <a:pt x="179" y="0"/>
                </a:lnTo>
                <a:lnTo>
                  <a:pt x="0" y="92"/>
                </a:lnTo>
                <a:lnTo>
                  <a:pt x="12" y="211"/>
                </a:lnTo>
                <a:close/>
              </a:path>
            </a:pathLst>
          </a:custGeom>
          <a:solidFill>
            <a:srgbClr val="B6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7525512" y="3794760"/>
            <a:ext cx="3493008" cy="1865376"/>
          </a:xfrm>
          <a:custGeom>
            <a:avLst/>
            <a:gdLst/>
            <a:ahLst/>
            <a:cxnLst/>
            <a:rect l="l" t="t" r="r" b="b"/>
            <a:pathLst>
              <a:path w="382" h="204">
                <a:moveTo>
                  <a:pt x="131" y="204"/>
                </a:moveTo>
                <a:lnTo>
                  <a:pt x="256" y="155"/>
                </a:lnTo>
                <a:lnTo>
                  <a:pt x="346" y="88"/>
                </a:lnTo>
                <a:lnTo>
                  <a:pt x="382" y="13"/>
                </a:lnTo>
                <a:lnTo>
                  <a:pt x="179" y="0"/>
                </a:lnTo>
                <a:lnTo>
                  <a:pt x="0" y="92"/>
                </a:lnTo>
                <a:lnTo>
                  <a:pt x="11" y="201"/>
                </a:lnTo>
                <a:lnTo>
                  <a:pt x="131" y="204"/>
                </a:lnTo>
                <a:close/>
              </a:path>
            </a:pathLst>
          </a:custGeom>
          <a:solidFill>
            <a:srgbClr val="46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7607808" y="5340096"/>
            <a:ext cx="1984248" cy="1307592"/>
          </a:xfrm>
          <a:custGeom>
            <a:avLst/>
            <a:gdLst/>
            <a:ahLst/>
            <a:cxnLst/>
            <a:rect l="l" t="t" r="r" b="b"/>
            <a:pathLst>
              <a:path w="217" h="143">
                <a:moveTo>
                  <a:pt x="217" y="60"/>
                </a:moveTo>
                <a:lnTo>
                  <a:pt x="146" y="0"/>
                </a:lnTo>
                <a:lnTo>
                  <a:pt x="0" y="19"/>
                </a:lnTo>
                <a:lnTo>
                  <a:pt x="3" y="42"/>
                </a:lnTo>
                <a:lnTo>
                  <a:pt x="92" y="137"/>
                </a:lnTo>
                <a:lnTo>
                  <a:pt x="207" y="143"/>
                </a:lnTo>
                <a:lnTo>
                  <a:pt x="217" y="60"/>
                </a:lnTo>
                <a:close/>
              </a:path>
            </a:pathLst>
          </a:custGeom>
          <a:solidFill>
            <a:srgbClr val="D5C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10415016" y="4892040"/>
            <a:ext cx="2002536" cy="1764792"/>
          </a:xfrm>
          <a:custGeom>
            <a:avLst/>
            <a:gdLst/>
            <a:ahLst/>
            <a:cxnLst/>
            <a:rect l="l" t="t" r="r" b="b"/>
            <a:pathLst>
              <a:path w="219" h="193">
                <a:moveTo>
                  <a:pt x="214" y="0"/>
                </a:moveTo>
                <a:lnTo>
                  <a:pt x="35" y="35"/>
                </a:lnTo>
                <a:lnTo>
                  <a:pt x="0" y="119"/>
                </a:lnTo>
                <a:lnTo>
                  <a:pt x="59" y="193"/>
                </a:lnTo>
                <a:lnTo>
                  <a:pt x="107" y="177"/>
                </a:lnTo>
                <a:lnTo>
                  <a:pt x="219" y="113"/>
                </a:lnTo>
                <a:lnTo>
                  <a:pt x="214" y="0"/>
                </a:lnTo>
                <a:close/>
              </a:path>
            </a:pathLst>
          </a:custGeom>
          <a:solidFill>
            <a:srgbClr val="D1D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9134856" y="3849624"/>
            <a:ext cx="1956816" cy="2843784"/>
          </a:xfrm>
          <a:custGeom>
            <a:avLst/>
            <a:gdLst/>
            <a:ahLst/>
            <a:cxnLst/>
            <a:rect l="l" t="t" r="r" b="b"/>
            <a:pathLst>
              <a:path w="214" h="311">
                <a:moveTo>
                  <a:pt x="41" y="74"/>
                </a:moveTo>
                <a:lnTo>
                  <a:pt x="38" y="78"/>
                </a:lnTo>
                <a:lnTo>
                  <a:pt x="37" y="82"/>
                </a:lnTo>
                <a:lnTo>
                  <a:pt x="36" y="86"/>
                </a:lnTo>
                <a:lnTo>
                  <a:pt x="35" y="89"/>
                </a:lnTo>
                <a:lnTo>
                  <a:pt x="36" y="93"/>
                </a:lnTo>
                <a:lnTo>
                  <a:pt x="37" y="97"/>
                </a:lnTo>
                <a:lnTo>
                  <a:pt x="39" y="101"/>
                </a:lnTo>
                <a:lnTo>
                  <a:pt x="59" y="137"/>
                </a:lnTo>
                <a:lnTo>
                  <a:pt x="9" y="186"/>
                </a:lnTo>
                <a:lnTo>
                  <a:pt x="6" y="189"/>
                </a:lnTo>
                <a:lnTo>
                  <a:pt x="4" y="192"/>
                </a:lnTo>
                <a:lnTo>
                  <a:pt x="2" y="195"/>
                </a:lnTo>
                <a:lnTo>
                  <a:pt x="1" y="199"/>
                </a:lnTo>
                <a:lnTo>
                  <a:pt x="0" y="202"/>
                </a:lnTo>
                <a:lnTo>
                  <a:pt x="0" y="206"/>
                </a:lnTo>
                <a:lnTo>
                  <a:pt x="0" y="209"/>
                </a:lnTo>
                <a:lnTo>
                  <a:pt x="1" y="213"/>
                </a:lnTo>
                <a:lnTo>
                  <a:pt x="22" y="275"/>
                </a:lnTo>
                <a:lnTo>
                  <a:pt x="9" y="305"/>
                </a:lnTo>
                <a:lnTo>
                  <a:pt x="136" y="311"/>
                </a:lnTo>
                <a:lnTo>
                  <a:pt x="147" y="285"/>
                </a:lnTo>
                <a:lnTo>
                  <a:pt x="148" y="281"/>
                </a:lnTo>
                <a:lnTo>
                  <a:pt x="149" y="278"/>
                </a:lnTo>
                <a:lnTo>
                  <a:pt x="149" y="275"/>
                </a:lnTo>
                <a:lnTo>
                  <a:pt x="148" y="272"/>
                </a:lnTo>
                <a:lnTo>
                  <a:pt x="147" y="268"/>
                </a:lnTo>
                <a:lnTo>
                  <a:pt x="128" y="212"/>
                </a:lnTo>
                <a:lnTo>
                  <a:pt x="181" y="161"/>
                </a:lnTo>
                <a:lnTo>
                  <a:pt x="184" y="158"/>
                </a:lnTo>
                <a:lnTo>
                  <a:pt x="186" y="155"/>
                </a:lnTo>
                <a:lnTo>
                  <a:pt x="188" y="151"/>
                </a:lnTo>
                <a:lnTo>
                  <a:pt x="190" y="148"/>
                </a:lnTo>
                <a:lnTo>
                  <a:pt x="190" y="144"/>
                </a:lnTo>
                <a:lnTo>
                  <a:pt x="190" y="141"/>
                </a:lnTo>
                <a:lnTo>
                  <a:pt x="190" y="137"/>
                </a:lnTo>
                <a:lnTo>
                  <a:pt x="189" y="134"/>
                </a:lnTo>
                <a:lnTo>
                  <a:pt x="187" y="130"/>
                </a:lnTo>
                <a:lnTo>
                  <a:pt x="165" y="91"/>
                </a:lnTo>
                <a:lnTo>
                  <a:pt x="197" y="48"/>
                </a:lnTo>
                <a:lnTo>
                  <a:pt x="199" y="44"/>
                </a:lnTo>
                <a:lnTo>
                  <a:pt x="201" y="41"/>
                </a:lnTo>
                <a:lnTo>
                  <a:pt x="214" y="8"/>
                </a:lnTo>
                <a:lnTo>
                  <a:pt x="88" y="0"/>
                </a:lnTo>
                <a:lnTo>
                  <a:pt x="80" y="21"/>
                </a:lnTo>
                <a:lnTo>
                  <a:pt x="41" y="74"/>
                </a:lnTo>
                <a:close/>
              </a:path>
            </a:pathLst>
          </a:custGeom>
          <a:solidFill>
            <a:srgbClr val="AAC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9564624" y="3877056"/>
            <a:ext cx="1088136" cy="2788920"/>
          </a:xfrm>
          <a:custGeom>
            <a:avLst/>
            <a:gdLst/>
            <a:ahLst/>
            <a:cxnLst/>
            <a:rect l="l" t="t" r="r" b="b"/>
            <a:pathLst>
              <a:path w="119" h="305">
                <a:moveTo>
                  <a:pt x="37" y="83"/>
                </a:moveTo>
                <a:lnTo>
                  <a:pt x="37" y="83"/>
                </a:lnTo>
                <a:lnTo>
                  <a:pt x="36" y="84"/>
                </a:lnTo>
                <a:lnTo>
                  <a:pt x="36" y="85"/>
                </a:lnTo>
                <a:lnTo>
                  <a:pt x="36" y="86"/>
                </a:lnTo>
                <a:lnTo>
                  <a:pt x="36" y="87"/>
                </a:lnTo>
                <a:lnTo>
                  <a:pt x="36" y="88"/>
                </a:lnTo>
                <a:lnTo>
                  <a:pt x="37" y="89"/>
                </a:lnTo>
                <a:lnTo>
                  <a:pt x="64" y="138"/>
                </a:lnTo>
                <a:lnTo>
                  <a:pt x="3" y="198"/>
                </a:lnTo>
                <a:lnTo>
                  <a:pt x="2" y="198"/>
                </a:lnTo>
                <a:lnTo>
                  <a:pt x="1" y="199"/>
                </a:lnTo>
                <a:lnTo>
                  <a:pt x="1" y="200"/>
                </a:lnTo>
                <a:lnTo>
                  <a:pt x="1" y="201"/>
                </a:lnTo>
                <a:lnTo>
                  <a:pt x="0" y="202"/>
                </a:lnTo>
                <a:lnTo>
                  <a:pt x="0" y="202"/>
                </a:lnTo>
                <a:lnTo>
                  <a:pt x="0" y="203"/>
                </a:lnTo>
                <a:lnTo>
                  <a:pt x="1" y="204"/>
                </a:lnTo>
                <a:lnTo>
                  <a:pt x="24" y="272"/>
                </a:lnTo>
                <a:lnTo>
                  <a:pt x="10" y="304"/>
                </a:lnTo>
                <a:lnTo>
                  <a:pt x="41" y="305"/>
                </a:lnTo>
                <a:lnTo>
                  <a:pt x="54" y="275"/>
                </a:lnTo>
                <a:lnTo>
                  <a:pt x="54" y="274"/>
                </a:lnTo>
                <a:lnTo>
                  <a:pt x="54" y="273"/>
                </a:lnTo>
                <a:lnTo>
                  <a:pt x="54" y="273"/>
                </a:lnTo>
                <a:lnTo>
                  <a:pt x="54" y="272"/>
                </a:lnTo>
                <a:lnTo>
                  <a:pt x="54" y="271"/>
                </a:lnTo>
                <a:lnTo>
                  <a:pt x="31" y="204"/>
                </a:lnTo>
                <a:lnTo>
                  <a:pt x="94" y="144"/>
                </a:lnTo>
                <a:lnTo>
                  <a:pt x="94" y="143"/>
                </a:lnTo>
                <a:lnTo>
                  <a:pt x="95" y="142"/>
                </a:lnTo>
                <a:lnTo>
                  <a:pt x="95" y="141"/>
                </a:lnTo>
                <a:lnTo>
                  <a:pt x="96" y="140"/>
                </a:lnTo>
                <a:lnTo>
                  <a:pt x="96" y="139"/>
                </a:lnTo>
                <a:lnTo>
                  <a:pt x="96" y="139"/>
                </a:lnTo>
                <a:lnTo>
                  <a:pt x="96" y="138"/>
                </a:lnTo>
                <a:lnTo>
                  <a:pt x="95" y="137"/>
                </a:lnTo>
                <a:lnTo>
                  <a:pt x="95" y="136"/>
                </a:lnTo>
                <a:lnTo>
                  <a:pt x="67" y="87"/>
                </a:lnTo>
                <a:lnTo>
                  <a:pt x="106" y="33"/>
                </a:lnTo>
                <a:lnTo>
                  <a:pt x="107" y="33"/>
                </a:lnTo>
                <a:lnTo>
                  <a:pt x="107" y="32"/>
                </a:lnTo>
                <a:lnTo>
                  <a:pt x="119" y="2"/>
                </a:lnTo>
                <a:lnTo>
                  <a:pt x="89" y="0"/>
                </a:lnTo>
                <a:lnTo>
                  <a:pt x="79" y="27"/>
                </a:lnTo>
                <a:lnTo>
                  <a:pt x="37" y="83"/>
                </a:lnTo>
                <a:close/>
              </a:path>
            </a:pathLst>
          </a:custGeom>
          <a:solidFill>
            <a:srgbClr val="6E9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7562088" y="4956048"/>
            <a:ext cx="4855464" cy="832104"/>
          </a:xfrm>
          <a:custGeom>
            <a:avLst/>
            <a:gdLst/>
            <a:ahLst/>
            <a:cxnLst/>
            <a:rect l="l" t="t" r="r" b="b"/>
            <a:pathLst>
              <a:path w="531" h="91">
                <a:moveTo>
                  <a:pt x="190" y="34"/>
                </a:moveTo>
                <a:lnTo>
                  <a:pt x="291" y="76"/>
                </a:lnTo>
                <a:lnTo>
                  <a:pt x="291" y="76"/>
                </a:lnTo>
                <a:lnTo>
                  <a:pt x="292" y="77"/>
                </a:lnTo>
                <a:lnTo>
                  <a:pt x="292" y="77"/>
                </a:lnTo>
                <a:lnTo>
                  <a:pt x="292" y="77"/>
                </a:lnTo>
                <a:lnTo>
                  <a:pt x="293" y="77"/>
                </a:lnTo>
                <a:lnTo>
                  <a:pt x="430" y="91"/>
                </a:lnTo>
                <a:lnTo>
                  <a:pt x="431" y="91"/>
                </a:lnTo>
                <a:lnTo>
                  <a:pt x="431" y="91"/>
                </a:lnTo>
                <a:lnTo>
                  <a:pt x="432" y="91"/>
                </a:lnTo>
                <a:lnTo>
                  <a:pt x="432" y="91"/>
                </a:lnTo>
                <a:lnTo>
                  <a:pt x="531" y="75"/>
                </a:lnTo>
                <a:lnTo>
                  <a:pt x="531" y="68"/>
                </a:lnTo>
                <a:lnTo>
                  <a:pt x="431" y="85"/>
                </a:lnTo>
                <a:lnTo>
                  <a:pt x="296" y="71"/>
                </a:lnTo>
                <a:lnTo>
                  <a:pt x="196" y="29"/>
                </a:lnTo>
                <a:lnTo>
                  <a:pt x="195" y="29"/>
                </a:lnTo>
                <a:lnTo>
                  <a:pt x="195" y="29"/>
                </a:lnTo>
                <a:lnTo>
                  <a:pt x="93" y="0"/>
                </a:lnTo>
                <a:lnTo>
                  <a:pt x="93" y="0"/>
                </a:lnTo>
                <a:lnTo>
                  <a:pt x="92" y="0"/>
                </a:lnTo>
                <a:lnTo>
                  <a:pt x="92" y="0"/>
                </a:lnTo>
                <a:lnTo>
                  <a:pt x="91" y="0"/>
                </a:lnTo>
                <a:lnTo>
                  <a:pt x="91" y="0"/>
                </a:lnTo>
                <a:lnTo>
                  <a:pt x="90" y="0"/>
                </a:lnTo>
                <a:lnTo>
                  <a:pt x="0" y="11"/>
                </a:lnTo>
                <a:lnTo>
                  <a:pt x="1" y="17"/>
                </a:lnTo>
                <a:lnTo>
                  <a:pt x="91" y="7"/>
                </a:lnTo>
                <a:lnTo>
                  <a:pt x="190" y="34"/>
                </a:lnTo>
                <a:close/>
              </a:path>
            </a:pathLst>
          </a:custGeom>
          <a:solidFill>
            <a:srgbClr val="EB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7735824" y="5833872"/>
            <a:ext cx="1810512" cy="438912"/>
          </a:xfrm>
          <a:custGeom>
            <a:avLst/>
            <a:gdLst/>
            <a:ahLst/>
            <a:cxnLst/>
            <a:rect l="l" t="t" r="r" b="b"/>
            <a:pathLst>
              <a:path w="198" h="48">
                <a:moveTo>
                  <a:pt x="0" y="0"/>
                </a:moveTo>
                <a:lnTo>
                  <a:pt x="198" y="48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7872984" y="5980176"/>
            <a:ext cx="1664208" cy="402336"/>
          </a:xfrm>
          <a:custGeom>
            <a:avLst/>
            <a:gdLst/>
            <a:ahLst/>
            <a:cxnLst/>
            <a:rect l="l" t="t" r="r" b="b"/>
            <a:pathLst>
              <a:path w="182" h="44">
                <a:moveTo>
                  <a:pt x="0" y="0"/>
                </a:moveTo>
                <a:lnTo>
                  <a:pt x="182" y="44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8010144" y="6126480"/>
            <a:ext cx="1508760" cy="365760"/>
          </a:xfrm>
          <a:custGeom>
            <a:avLst/>
            <a:gdLst/>
            <a:ahLst/>
            <a:cxnLst/>
            <a:rect l="l" t="t" r="r" b="b"/>
            <a:pathLst>
              <a:path w="165" h="40">
                <a:moveTo>
                  <a:pt x="0" y="0"/>
                </a:moveTo>
                <a:lnTo>
                  <a:pt x="165" y="40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8147304" y="6272784"/>
            <a:ext cx="1362456" cy="329184"/>
          </a:xfrm>
          <a:custGeom>
            <a:avLst/>
            <a:gdLst/>
            <a:ahLst/>
            <a:cxnLst/>
            <a:rect l="l" t="t" r="r" b="b"/>
            <a:pathLst>
              <a:path w="149" h="36">
                <a:moveTo>
                  <a:pt x="0" y="0"/>
                </a:moveTo>
                <a:lnTo>
                  <a:pt x="149" y="36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8284464" y="6419088"/>
            <a:ext cx="868680" cy="210312"/>
          </a:xfrm>
          <a:custGeom>
            <a:avLst/>
            <a:gdLst/>
            <a:ahLst/>
            <a:cxnLst/>
            <a:rect l="l" t="t" r="r" b="b"/>
            <a:pathLst>
              <a:path w="95" h="23">
                <a:moveTo>
                  <a:pt x="0" y="0"/>
                </a:moveTo>
                <a:lnTo>
                  <a:pt x="95" y="23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8421624" y="6565392"/>
            <a:ext cx="146304" cy="36576"/>
          </a:xfrm>
          <a:custGeom>
            <a:avLst/>
            <a:gdLst/>
            <a:ahLst/>
            <a:cxnLst/>
            <a:rect l="l" t="t" r="r" b="b"/>
            <a:pathLst>
              <a:path w="16" h="4">
                <a:moveTo>
                  <a:pt x="0" y="0"/>
                </a:moveTo>
                <a:lnTo>
                  <a:pt x="16" y="4"/>
                </a:lnTo>
              </a:path>
            </a:pathLst>
          </a:custGeom>
          <a:noFill/>
          <a:ln w="10972">
            <a:solidFill>
              <a:srgbClr val="BDB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84372" y="4205894"/>
            <a:ext cx="195608" cy="103974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28384" y="4217447"/>
            <a:ext cx="68462" cy="34658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41400" y="5327855"/>
            <a:ext cx="206686" cy="10986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087905" y="5340062"/>
            <a:ext cx="72340" cy="3662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56847" y="4642380"/>
            <a:ext cx="217174" cy="115437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905711" y="4655206"/>
            <a:ext cx="76011" cy="38479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70685" y="3934833"/>
            <a:ext cx="210600" cy="111943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18070" y="3947272"/>
            <a:ext cx="73710" cy="3731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799356" y="5399318"/>
            <a:ext cx="248453" cy="132063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855258" y="5413992"/>
            <a:ext cx="86958" cy="4402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838065" y="3917305"/>
            <a:ext cx="232675" cy="123677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90417" y="3931047"/>
            <a:ext cx="81436" cy="4122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61158" y="4272026"/>
            <a:ext cx="180273" cy="95823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201719" y="4282673"/>
            <a:ext cx="63095" cy="3194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211842" y="3916792"/>
            <a:ext cx="224348" cy="119250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262320" y="3930042"/>
            <a:ext cx="78521" cy="3975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929033" y="5371264"/>
            <a:ext cx="224391" cy="11927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979521" y="5384516"/>
            <a:ext cx="78536" cy="3975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376366" y="3816530"/>
            <a:ext cx="239480" cy="127294"/>
          </a:xfrm>
          <a:prstGeom prst="ellipse">
            <a:avLst/>
          </a:prstGeom>
          <a:solidFill>
            <a:srgbClr val="3E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430249" y="3830674"/>
            <a:ext cx="83818" cy="42431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189482" y="4649136"/>
            <a:ext cx="260399" cy="138413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248072" y="4664516"/>
            <a:ext cx="91139" cy="4613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01492" y="4839445"/>
            <a:ext cx="173401" cy="92170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840507" y="4849686"/>
            <a:ext cx="60690" cy="3072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638353" y="4052698"/>
            <a:ext cx="247857" cy="131747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694121" y="4067336"/>
            <a:ext cx="86750" cy="4391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004298" y="3787819"/>
            <a:ext cx="198990" cy="105772"/>
          </a:xfrm>
          <a:prstGeom prst="ellipse">
            <a:avLst/>
          </a:prstGeom>
          <a:solidFill>
            <a:srgbClr val="5B8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049070" y="3799571"/>
            <a:ext cx="69646" cy="3525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083213" y="4570379"/>
            <a:ext cx="235202" cy="125020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136134" y="4584270"/>
            <a:ext cx="82321" cy="41673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494307" y="4215219"/>
            <a:ext cx="259362" cy="137862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552664" y="4230537"/>
            <a:ext cx="90776" cy="45954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248708" y="5074830"/>
            <a:ext cx="173978" cy="92477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87853" y="5085105"/>
            <a:ext cx="60892" cy="30825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493314" y="4827725"/>
            <a:ext cx="207062" cy="110062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539903" y="4839955"/>
            <a:ext cx="72472" cy="36687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954977" y="4127562"/>
            <a:ext cx="235976" cy="125431"/>
          </a:xfrm>
          <a:prstGeom prst="ellipse">
            <a:avLst/>
          </a:prstGeom>
          <a:solidFill>
            <a:srgbClr val="31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008072" y="4141499"/>
            <a:ext cx="82591" cy="4181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738425" y="5471306"/>
            <a:ext cx="185178" cy="98430"/>
          </a:xfrm>
          <a:prstGeom prst="ellipse">
            <a:avLst/>
          </a:prstGeom>
          <a:solidFill>
            <a:srgbClr val="6E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780090" y="5482243"/>
            <a:ext cx="64812" cy="32810"/>
          </a:xfrm>
          <a:prstGeom prst="ellipse">
            <a:avLst/>
          </a:prstGeom>
          <a:solidFill>
            <a:srgbClr val="70956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 flipV="1">
            <a:off x="10793943" y="5411978"/>
            <a:ext cx="0" cy="121605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698774" y="5380255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793943" y="5348533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 flipV="1">
            <a:off x="11240828" y="5411978"/>
            <a:ext cx="0" cy="121605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145660" y="5380255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240828" y="5348533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 flipV="1">
            <a:off x="11687714" y="5411978"/>
            <a:ext cx="0" cy="121605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1592545" y="5380255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687714" y="5348533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/>
          <p:nvPr/>
        </p:nvCxnSpPr>
        <p:spPr>
          <a:xfrm flipV="1">
            <a:off x="10793943" y="5714535"/>
            <a:ext cx="0" cy="121604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0698774" y="5682812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0793943" y="5651089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Connector 76"/>
          <p:cNvCxnSpPr/>
          <p:nvPr/>
        </p:nvCxnSpPr>
        <p:spPr>
          <a:xfrm flipV="1">
            <a:off x="11240828" y="5714535"/>
            <a:ext cx="0" cy="121604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1145660" y="5682812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240828" y="5651089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0" name="Connector 79"/>
          <p:cNvCxnSpPr/>
          <p:nvPr/>
        </p:nvCxnSpPr>
        <p:spPr>
          <a:xfrm flipV="1">
            <a:off x="11687714" y="5714535"/>
            <a:ext cx="0" cy="121604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11592545" y="5682812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1687714" y="5651089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/>
          <p:cNvCxnSpPr/>
          <p:nvPr/>
        </p:nvCxnSpPr>
        <p:spPr>
          <a:xfrm flipV="1">
            <a:off x="10793943" y="6017092"/>
            <a:ext cx="0" cy="121604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698774" y="5985369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793943" y="5953646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 flipV="1">
            <a:off x="11240828" y="6017092"/>
            <a:ext cx="0" cy="121604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1145660" y="5985369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240828" y="5953646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Connector 88"/>
          <p:cNvCxnSpPr/>
          <p:nvPr/>
        </p:nvCxnSpPr>
        <p:spPr>
          <a:xfrm flipV="1">
            <a:off x="11687714" y="6017092"/>
            <a:ext cx="0" cy="121604"/>
          </a:xfrm>
          <a:prstGeom prst="line">
            <a:avLst/>
          </a:prstGeom>
          <a:ln w="10574">
            <a:solidFill>
              <a:srgbClr val="749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11592545" y="5985369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1687714" y="5953646"/>
            <a:ext cx="95168" cy="52871"/>
          </a:xfrm>
          <a:prstGeom prst="ellipse">
            <a:avLst/>
          </a:prstGeom>
          <a:solidFill>
            <a:srgbClr val="749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" name="Connector 91"/>
          <p:cNvCxnSpPr/>
          <p:nvPr/>
        </p:nvCxnSpPr>
        <p:spPr>
          <a:xfrm flipH="1" flipV="1">
            <a:off x="9607558" y="4451946"/>
            <a:ext cx="8384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649480" y="4451946"/>
            <a:ext cx="0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683017" y="4451946"/>
            <a:ext cx="8385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10479530" y="4709441"/>
            <a:ext cx="8384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521452" y="4709441"/>
            <a:ext cx="0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554989" y="4709441"/>
            <a:ext cx="8384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9389565" y="5546300"/>
            <a:ext cx="8384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431487" y="5546300"/>
            <a:ext cx="0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465024" y="5546300"/>
            <a:ext cx="8385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043544" y="6029103"/>
            <a:ext cx="8384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085466" y="6029103"/>
            <a:ext cx="0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119003" y="6029103"/>
            <a:ext cx="8384" cy="83843"/>
          </a:xfrm>
          <a:prstGeom prst="line">
            <a:avLst/>
          </a:prstGeom>
          <a:ln w="10972">
            <a:solidFill>
              <a:srgbClr val="5689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7525512" y="3794760"/>
            <a:ext cx="4901184" cy="2926080"/>
          </a:xfrm>
          <a:custGeom>
            <a:avLst/>
            <a:gdLst/>
            <a:ahLst/>
            <a:cxnLst/>
            <a:rect l="l" t="t" r="r" b="b"/>
            <a:pathLst>
              <a:path w="536" h="320">
                <a:moveTo>
                  <a:pt x="12" y="211"/>
                </a:moveTo>
                <a:lnTo>
                  <a:pt x="101" y="306"/>
                </a:lnTo>
                <a:lnTo>
                  <a:pt x="381" y="320"/>
                </a:lnTo>
                <a:lnTo>
                  <a:pt x="536" y="232"/>
                </a:lnTo>
                <a:lnTo>
                  <a:pt x="530" y="95"/>
                </a:lnTo>
                <a:lnTo>
                  <a:pt x="393" y="14"/>
                </a:lnTo>
                <a:lnTo>
                  <a:pt x="179" y="0"/>
                </a:lnTo>
                <a:lnTo>
                  <a:pt x="0" y="92"/>
                </a:lnTo>
                <a:lnTo>
                  <a:pt x="12" y="211"/>
                </a:lnTo>
                <a:close/>
              </a:path>
            </a:pathLst>
          </a:custGeom>
          <a:noFill/>
          <a:ln w="19202">
            <a:solidFill>
              <a:srgbClr val="DDE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reeform 104"/>
          <p:cNvSpPr/>
          <p:nvPr/>
        </p:nvSpPr>
        <p:spPr>
          <a:xfrm>
            <a:off x="8787384" y="4681728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0"/>
                </a:moveTo>
                <a:lnTo>
                  <a:pt x="5" y="9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8758224" y="4566581"/>
            <a:ext cx="147564" cy="147564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8809201" y="4617557"/>
            <a:ext cx="45610" cy="45610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reeform 107"/>
          <p:cNvSpPr/>
          <p:nvPr/>
        </p:nvSpPr>
        <p:spPr>
          <a:xfrm>
            <a:off x="11183112" y="5779008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5" y="8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156147" y="5660935"/>
            <a:ext cx="147564" cy="147564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207123" y="5711911"/>
            <a:ext cx="45610" cy="45610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Freeform 110"/>
          <p:cNvSpPr/>
          <p:nvPr/>
        </p:nvSpPr>
        <p:spPr>
          <a:xfrm>
            <a:off x="9436608" y="5907024"/>
            <a:ext cx="100584" cy="73152"/>
          </a:xfrm>
          <a:custGeom>
            <a:avLst/>
            <a:gdLst/>
            <a:ahLst/>
            <a:cxnLst/>
            <a:rect l="l" t="t" r="r" b="b"/>
            <a:pathLst>
              <a:path w="11" h="8">
                <a:moveTo>
                  <a:pt x="0" y="0"/>
                </a:moveTo>
                <a:lnTo>
                  <a:pt x="5" y="8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9412203" y="5789682"/>
            <a:ext cx="147564" cy="147564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1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9463180" y="5840659"/>
            <a:ext cx="45610" cy="45610"/>
          </a:xfrm>
          <a:prstGeom prst="ellipse">
            <a:avLst/>
          </a:prstGeom>
          <a:solidFill>
            <a:srgbClr val="11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1623048" y="6049670"/>
            <a:ext cx="193560" cy="193560"/>
          </a:xfrm>
          <a:prstGeom prst="ellipse">
            <a:avLst/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1569281" y="6296997"/>
            <a:ext cx="301093" cy="365613"/>
          </a:xfrm>
          <a:prstGeom prst="roundRect">
            <a:avLst>
              <a:gd name="adj" fmla="val 22000"/>
            </a:avLst>
          </a:prstGeom>
          <a:solidFill>
            <a:srgbClr val="BA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6" name="Connector 115"/>
          <p:cNvCxnSpPr/>
          <p:nvPr/>
        </p:nvCxnSpPr>
        <p:spPr>
          <a:xfrm flipH="1">
            <a:off x="11623048" y="6619597"/>
            <a:ext cx="32260" cy="236574"/>
          </a:xfrm>
          <a:prstGeom prst="line">
            <a:avLst/>
          </a:prstGeom>
          <a:ln w="53766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1784348" y="6619597"/>
            <a:ext cx="32260" cy="236574"/>
          </a:xfrm>
          <a:prstGeom prst="line">
            <a:avLst/>
          </a:prstGeom>
          <a:ln w="53766">
            <a:solidFill>
              <a:srgbClr val="BACC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12082881" y="5934456"/>
            <a:ext cx="230428" cy="230428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12018873" y="6228892"/>
            <a:ext cx="358444" cy="435254"/>
          </a:xfrm>
          <a:prstGeom prst="roundRect">
            <a:avLst>
              <a:gd name="adj" fmla="val 22000"/>
            </a:avLst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0" name="Connector 119"/>
          <p:cNvCxnSpPr/>
          <p:nvPr/>
        </p:nvCxnSpPr>
        <p:spPr>
          <a:xfrm flipH="1">
            <a:off x="12082881" y="6612940"/>
            <a:ext cx="38405" cy="281636"/>
          </a:xfrm>
          <a:prstGeom prst="line">
            <a:avLst/>
          </a:prstGeom>
          <a:ln w="64008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2274905" y="6612940"/>
            <a:ext cx="38405" cy="281636"/>
          </a:xfrm>
          <a:prstGeom prst="line">
            <a:avLst/>
          </a:prstGeom>
          <a:ln w="64008">
            <a:solidFill>
              <a:srgbClr val="DDE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12541690" y="6088075"/>
            <a:ext cx="188951" cy="188951"/>
          </a:xfrm>
          <a:prstGeom prst="ellipse">
            <a:avLst/>
          </a:prstGeom>
          <a:solidFill>
            <a:srgbClr val="B0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12489204" y="6329513"/>
            <a:ext cx="293924" cy="356908"/>
          </a:xfrm>
          <a:prstGeom prst="roundRect">
            <a:avLst>
              <a:gd name="adj" fmla="val 22000"/>
            </a:avLst>
          </a:prstGeom>
          <a:solidFill>
            <a:srgbClr val="B0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4" name="Connector 123"/>
          <p:cNvCxnSpPr/>
          <p:nvPr/>
        </p:nvCxnSpPr>
        <p:spPr>
          <a:xfrm flipH="1">
            <a:off x="12541690" y="6644432"/>
            <a:ext cx="31492" cy="230941"/>
          </a:xfrm>
          <a:prstGeom prst="line">
            <a:avLst/>
          </a:prstGeom>
          <a:ln w="52486">
            <a:solidFill>
              <a:srgbClr val="B0C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2699150" y="6644432"/>
            <a:ext cx="31492" cy="230941"/>
          </a:xfrm>
          <a:prstGeom prst="line">
            <a:avLst/>
          </a:prstGeom>
          <a:ln w="52486">
            <a:solidFill>
              <a:srgbClr val="B0C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Freeform 125"/>
          <p:cNvSpPr/>
          <p:nvPr/>
        </p:nvSpPr>
        <p:spPr>
          <a:xfrm>
            <a:off x="3438144" y="4517136"/>
            <a:ext cx="4517136" cy="1298448"/>
          </a:xfrm>
          <a:custGeom>
            <a:avLst/>
            <a:gdLst/>
            <a:ahLst/>
            <a:cxnLst/>
            <a:rect l="l" t="t" r="r" b="b"/>
            <a:pathLst>
              <a:path w="494" h="142">
                <a:moveTo>
                  <a:pt x="0" y="8"/>
                </a:moveTo>
                <a:lnTo>
                  <a:pt x="20" y="5"/>
                </a:lnTo>
                <a:lnTo>
                  <a:pt x="40" y="2"/>
                </a:lnTo>
                <a:lnTo>
                  <a:pt x="58" y="1"/>
                </a:lnTo>
                <a:lnTo>
                  <a:pt x="76" y="0"/>
                </a:lnTo>
                <a:lnTo>
                  <a:pt x="92" y="0"/>
                </a:lnTo>
                <a:lnTo>
                  <a:pt x="108" y="0"/>
                </a:lnTo>
                <a:lnTo>
                  <a:pt x="123" y="1"/>
                </a:lnTo>
                <a:lnTo>
                  <a:pt x="138" y="3"/>
                </a:lnTo>
                <a:lnTo>
                  <a:pt x="152" y="5"/>
                </a:lnTo>
                <a:lnTo>
                  <a:pt x="165" y="8"/>
                </a:lnTo>
                <a:lnTo>
                  <a:pt x="177" y="12"/>
                </a:lnTo>
                <a:lnTo>
                  <a:pt x="190" y="15"/>
                </a:lnTo>
                <a:lnTo>
                  <a:pt x="201" y="19"/>
                </a:lnTo>
                <a:lnTo>
                  <a:pt x="212" y="24"/>
                </a:lnTo>
                <a:lnTo>
                  <a:pt x="223" y="29"/>
                </a:lnTo>
                <a:lnTo>
                  <a:pt x="234" y="34"/>
                </a:lnTo>
                <a:lnTo>
                  <a:pt x="244" y="39"/>
                </a:lnTo>
                <a:lnTo>
                  <a:pt x="254" y="44"/>
                </a:lnTo>
                <a:lnTo>
                  <a:pt x="263" y="50"/>
                </a:lnTo>
                <a:lnTo>
                  <a:pt x="273" y="56"/>
                </a:lnTo>
                <a:lnTo>
                  <a:pt x="282" y="62"/>
                </a:lnTo>
                <a:lnTo>
                  <a:pt x="292" y="68"/>
                </a:lnTo>
                <a:lnTo>
                  <a:pt x="301" y="74"/>
                </a:lnTo>
                <a:lnTo>
                  <a:pt x="310" y="80"/>
                </a:lnTo>
                <a:lnTo>
                  <a:pt x="319" y="86"/>
                </a:lnTo>
                <a:lnTo>
                  <a:pt x="329" y="91"/>
                </a:lnTo>
                <a:lnTo>
                  <a:pt x="338" y="97"/>
                </a:lnTo>
                <a:lnTo>
                  <a:pt x="348" y="103"/>
                </a:lnTo>
                <a:lnTo>
                  <a:pt x="358" y="108"/>
                </a:lnTo>
                <a:lnTo>
                  <a:pt x="368" y="113"/>
                </a:lnTo>
                <a:lnTo>
                  <a:pt x="379" y="118"/>
                </a:lnTo>
                <a:lnTo>
                  <a:pt x="389" y="122"/>
                </a:lnTo>
                <a:lnTo>
                  <a:pt x="401" y="126"/>
                </a:lnTo>
                <a:lnTo>
                  <a:pt x="412" y="130"/>
                </a:lnTo>
                <a:lnTo>
                  <a:pt x="424" y="133"/>
                </a:lnTo>
                <a:lnTo>
                  <a:pt x="437" y="136"/>
                </a:lnTo>
                <a:lnTo>
                  <a:pt x="450" y="139"/>
                </a:lnTo>
                <a:lnTo>
                  <a:pt x="464" y="140"/>
                </a:lnTo>
                <a:lnTo>
                  <a:pt x="479" y="141"/>
                </a:lnTo>
                <a:lnTo>
                  <a:pt x="494" y="142"/>
                </a:lnTo>
              </a:path>
            </a:pathLst>
          </a:custGeom>
          <a:noFill/>
          <a:ln w="13716">
            <a:solidFill>
              <a:srgbClr val="BAC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7918704" y="5779008"/>
            <a:ext cx="73152" cy="73152"/>
          </a:xfrm>
          <a:prstGeom prst="ellipse">
            <a:avLst/>
          </a:prstGeom>
          <a:solidFill>
            <a:srgbClr val="DDE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31520" y="4471416"/>
            <a:ext cx="5989320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>
                <a:solidFill>
                  <a:srgbClr val="DDEFA0"/>
                </a:solidFill>
              </a:rPr>
              <a:t>Carbon-relevant ecosystems.</a:t>
            </a:r>
          </a:p>
          <a:p>
            <a:r>
              <a:rPr sz="2664" b="1">
                <a:solidFill>
                  <a:srgbClr val="DDEFA0"/>
                </a:solidFill>
              </a:rPr>
              <a:t>Real places.</a:t>
            </a:r>
          </a:p>
          <a:p>
            <a:r>
              <a:rPr sz="2664" b="1">
                <a:solidFill>
                  <a:srgbClr val="DDEFA0"/>
                </a:solidFill>
              </a:rPr>
              <a:t>Shared capability.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" y="6830568"/>
            <a:ext cx="522122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>
                <a:solidFill>
                  <a:srgbClr val="B0C5B6"/>
                </a:solidFill>
                <a:latin typeface="Inter"/>
              </a:rPr>
              <a:t>Carbon Places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648</Words>
  <Application>Microsoft Office PowerPoint</Application>
  <PresentationFormat>自定义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Inter</vt:lpstr>
      <vt:lpstr>Inter Display</vt:lpstr>
      <vt:lpstr>Plus Jakarta Sans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Places Kit | Open data. Local capability.</dc:title>
  <dc:subject>Concept, motivation, innovation and intended public value</dc:subject>
  <dc:creator>Carbon Places Kit</dc:creator>
  <cp:keywords>open source, local environmental organisations, concept, area-first, environmental information</cp:keywords>
  <dc:description>Concept pitch. Illustrative landscapes are not real environmental data. Needs and outcomes remain hypotheses to validate.</dc:description>
  <cp:lastModifiedBy>Ying Yuan</cp:lastModifiedBy>
  <cp:revision>1</cp:revision>
  <dcterms:created xsi:type="dcterms:W3CDTF">2013-01-27T09:14:16Z</dcterms:created>
  <dcterms:modified xsi:type="dcterms:W3CDTF">2026-10-05T22:02:32Z</dcterms:modified>
  <cp:category/>
</cp:coreProperties>
</file>